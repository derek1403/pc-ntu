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57B3A-DEBF-4E96-A0F0-A8C3F5EFB180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8216C-67C7-4750-807C-5DE76C95CB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316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r>
              <a:rPr lang="zh-TW" altLang="en-US" dirty="0"/>
              <a:t>天平均應該就要不能夠看出該趨勢</a:t>
            </a:r>
            <a:r>
              <a:rPr lang="en-US" altLang="zh-TW" dirty="0"/>
              <a:t>&gt;</a:t>
            </a:r>
            <a:r>
              <a:rPr lang="zh-TW" altLang="en-US" dirty="0"/>
              <a:t>測量</a:t>
            </a:r>
            <a:r>
              <a:rPr lang="en-US" altLang="zh-TW" dirty="0"/>
              <a:t>AI</a:t>
            </a:r>
            <a:r>
              <a:rPr lang="zh-TW" altLang="en-US" dirty="0"/>
              <a:t>全球模式的手段之一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8216C-67C7-4750-807C-5DE76C95CB0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009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BBCBA4-4C69-41E4-B19F-9799525F8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71F3373-3BA2-4769-98B7-4D520CAA5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FE0B59-A459-4154-8174-5C2DE050C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C06-246B-4C4D-B6BC-73F2F9B2D99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05DF05-52EA-4519-8705-03B2D2F70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38418E-766A-42D6-A3CE-EBD963F9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4C78-A35B-4D8E-81E4-1FBB36585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917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FDBCE0-77BF-4F9E-A2B3-1E39D1068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7603A7-97ED-4399-9201-8A1508D0A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AAEFA3-8788-4181-BBA9-B58DB262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C06-246B-4C4D-B6BC-73F2F9B2D99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60DCEB-C1AC-4796-9BB8-C3D9E4B1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84A701-3CE3-435D-962C-D6FC1A49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4C78-A35B-4D8E-81E4-1FBB36585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75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D7FB47-B037-4022-8FDC-31F4433E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7CEB22-98DA-4C6F-B8DD-558B60C6C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78D109-F324-4CF6-AE81-90C94E38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C06-246B-4C4D-B6BC-73F2F9B2D99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3DAE9B-0317-46CD-9B64-657D9B74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75734D-6FAF-4AA2-A2E1-5F1BC703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4C78-A35B-4D8E-81E4-1FBB36585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356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7847EF-41CA-46BD-A102-F6DFB799A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E488AD-F450-4D3E-B59B-70A21A50E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463EB50-B0A8-47C5-B7C1-C9CEA33F8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B284AE-D30D-4EE6-A253-6D9D1A5BD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C06-246B-4C4D-B6BC-73F2F9B2D99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F3C700-D4E3-4549-8DC7-D8D85D45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9BDB53-5110-4B3A-8E6C-1849CEEDF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4C78-A35B-4D8E-81E4-1FBB36585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871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FCC72E-369C-4F06-B069-4245AF8D9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26FA48-CDDB-4EC4-9BE6-0C7E5F72E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42274CB-8EE2-4AFA-9957-28B5975E9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DF630BD-7605-41CF-AB4D-7C91D2FEA3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093C086-1F8C-4581-9995-CCA2BE6D1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C987DC0-61D9-40D4-9234-0CF1E22D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C06-246B-4C4D-B6BC-73F2F9B2D99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7CBFE3D-3741-4ED0-8068-43D6D7631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D66D114-80E7-4860-82A6-E298B5B67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4C78-A35B-4D8E-81E4-1FBB36585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433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7DBC85-8F32-41AF-A242-DE0D016AB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5B05302-1430-4DC8-A3E8-7E06ACE3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C06-246B-4C4D-B6BC-73F2F9B2D99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B9DAF4B-6A7A-46F3-A7FD-81646094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860CDE8-7DA0-44EF-8C18-6BF301B7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4C78-A35B-4D8E-81E4-1FBB36585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51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134C49C-26D8-435F-9CAC-A47CF2FE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C06-246B-4C4D-B6BC-73F2F9B2D99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DA614FE-0B22-4BA2-8DC9-2A1BCAB7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08F795-B982-4944-BCC6-91168AC3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4C78-A35B-4D8E-81E4-1FBB36585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232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C7280-00F8-4D27-8DDF-B72F2B7DB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AD6267-36F9-42CF-A8DE-A96F61465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568CED8-07AF-4B79-8A76-5BDCAF0D1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E042CE-883D-4612-B71E-DA769DB5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C06-246B-4C4D-B6BC-73F2F9B2D99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1CC873-8C8A-4D2A-B70A-C1B01378C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4487F4-E5D9-434D-A8B3-838074105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4C78-A35B-4D8E-81E4-1FBB36585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34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BECEA7-9E80-4433-BF50-356DAF94F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6628592-68F1-4CDC-985F-05AA4A8A6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EFDDE59-8EED-487A-9120-692191CCB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D91CA7B-26F9-4BB6-81FC-503A02EEB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C06-246B-4C4D-B6BC-73F2F9B2D99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14BC21-9745-4C97-B4D7-A6C5BD47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B9CC03-2532-4EEC-AA14-802F348DD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4C78-A35B-4D8E-81E4-1FBB36585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2269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B1F434-06CD-4D75-893D-3F8945F1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101D22C-934E-41A4-953D-312A01791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6DE787-BB1B-43D0-953C-E30ADBB83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C06-246B-4C4D-B6BC-73F2F9B2D99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7982AA-108B-4E96-BE2F-30EC10A2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DCF32C-D60D-4E95-9D62-FC45F884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4C78-A35B-4D8E-81E4-1FBB36585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766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9F38392-F82E-4370-9A5E-A277175C6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416BE1-D05C-4CD3-98B0-E125D480B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58B3E1-9B9A-44E5-A3C8-03F4A68EA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C06-246B-4C4D-B6BC-73F2F9B2D99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CF035F-7E8F-4542-920D-81A54A432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DB0728-6BAC-4D5C-98F6-9340FA82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84C78-A35B-4D8E-81E4-1FBB36585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699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24DFF8B-AAF4-4D34-A7D1-48C17C07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8702DA-0A1F-4106-ACE8-F146A247D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CD8299-058C-40B5-A005-3D07101ED5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67C06-246B-4C4D-B6BC-73F2F9B2D99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311AC9-8589-470F-955E-5E7DF6CB9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276CE1-7DC3-486D-A877-01397B0AF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84C78-A35B-4D8E-81E4-1FBB36585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180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0027FE-2421-4868-A249-F7FBE3B4CC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33C213-5C40-4E7A-A7F9-AD1801303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04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90EB6F-6F0E-48FB-9B29-35A585E2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BC703B-05F1-4AB6-A2D1-6FE5C87BF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B7FF01C-5922-4355-9B9F-37507C863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6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69F01988-9F15-4BAF-8BCF-535477053698}"/>
              </a:ext>
            </a:extLst>
          </p:cNvPr>
          <p:cNvGrpSpPr/>
          <p:nvPr/>
        </p:nvGrpSpPr>
        <p:grpSpPr>
          <a:xfrm>
            <a:off x="0" y="1"/>
            <a:ext cx="4136994" cy="5850384"/>
            <a:chOff x="0" y="29053"/>
            <a:chExt cx="4136994" cy="585038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0AC6CDFF-B569-4E67-87BF-F9751610A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6068" b="13964"/>
            <a:stretch/>
          </p:blipFill>
          <p:spPr>
            <a:xfrm>
              <a:off x="0" y="29053"/>
              <a:ext cx="4136994" cy="5850384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2D9D27F3-85A0-482B-826D-69EE1D14A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912" y="4718990"/>
              <a:ext cx="3961937" cy="1095375"/>
            </a:xfrm>
            <a:prstGeom prst="rect">
              <a:avLst/>
            </a:prstGeom>
          </p:spPr>
        </p:pic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2D8A8F61-7704-4119-99CD-756DDD0268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21" r="32914" b="57661"/>
          <a:stretch/>
        </p:blipFill>
        <p:spPr>
          <a:xfrm>
            <a:off x="4136994" y="0"/>
            <a:ext cx="4104423" cy="287900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3E4826F-9771-422B-81A0-927129DCA9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926" t="48959" r="6409" b="8702"/>
          <a:stretch/>
        </p:blipFill>
        <p:spPr>
          <a:xfrm>
            <a:off x="4187761" y="2998357"/>
            <a:ext cx="4104423" cy="2879002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B753CC-F683-4A55-87E7-7AE600F31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9128" y="1122086"/>
            <a:ext cx="1697600" cy="73767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TW" altLang="en-US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質量變多</a:t>
            </a:r>
            <a:endParaRPr lang="en-US" altLang="zh-TW" b="1" dirty="0">
              <a:ln w="0">
                <a:solidFill>
                  <a:schemeClr val="tx1"/>
                </a:solidFill>
              </a:ln>
              <a:effectLst>
                <a:glow rad="228600">
                  <a:schemeClr val="bg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zh-TW" altLang="en-US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altLang="zh-TW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zh-TW" altLang="en-US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凸起 </a:t>
            </a:r>
            <a:r>
              <a:rPr lang="en-US" altLang="zh-TW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zh-TW" altLang="en-US" b="1" dirty="0">
              <a:ln w="0">
                <a:solidFill>
                  <a:schemeClr val="tx1"/>
                </a:solidFill>
              </a:ln>
              <a:effectLst>
                <a:glow rad="228600">
                  <a:schemeClr val="bg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806E01DF-7635-4057-AB3B-2BEC9570A49A}"/>
              </a:ext>
            </a:extLst>
          </p:cNvPr>
          <p:cNvSpPr txBox="1">
            <a:spLocks/>
          </p:cNvSpPr>
          <p:nvPr/>
        </p:nvSpPr>
        <p:spPr>
          <a:xfrm>
            <a:off x="112912" y="148015"/>
            <a:ext cx="1748215" cy="568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側視圖 </a:t>
            </a:r>
            <a:r>
              <a:rPr lang="en-US" altLang="zh-TW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(1)</a:t>
            </a:r>
            <a:endParaRPr lang="zh-TW" altLang="en-US" b="1" dirty="0">
              <a:ln w="0">
                <a:solidFill>
                  <a:schemeClr val="tx1"/>
                </a:solidFill>
              </a:ln>
              <a:effectLst>
                <a:glow rad="228600">
                  <a:schemeClr val="bg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595F4482-3642-458A-9CC6-ED74D3D73093}"/>
              </a:ext>
            </a:extLst>
          </p:cNvPr>
          <p:cNvSpPr txBox="1">
            <a:spLocks/>
          </p:cNvSpPr>
          <p:nvPr/>
        </p:nvSpPr>
        <p:spPr>
          <a:xfrm>
            <a:off x="4217334" y="148015"/>
            <a:ext cx="1746325" cy="568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側視圖 </a:t>
            </a:r>
            <a:r>
              <a:rPr lang="en-US" altLang="zh-TW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(2)</a:t>
            </a:r>
            <a:endParaRPr lang="zh-TW" altLang="en-US" b="1" dirty="0">
              <a:ln w="0">
                <a:solidFill>
                  <a:schemeClr val="tx1"/>
                </a:solidFill>
              </a:ln>
              <a:effectLst>
                <a:glow rad="228600">
                  <a:schemeClr val="bg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4D56501B-FC73-4243-B321-3D95FE2E291D}"/>
              </a:ext>
            </a:extLst>
          </p:cNvPr>
          <p:cNvSpPr txBox="1">
            <a:spLocks/>
          </p:cNvSpPr>
          <p:nvPr/>
        </p:nvSpPr>
        <p:spPr>
          <a:xfrm>
            <a:off x="85203" y="1122086"/>
            <a:ext cx="1429561" cy="568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000" b="1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對流層頂</a:t>
            </a:r>
          </a:p>
        </p:txBody>
      </p:sp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1C8FA828-19E9-41B0-AAA5-F4FED72B2466}"/>
              </a:ext>
            </a:extLst>
          </p:cNvPr>
          <p:cNvSpPr txBox="1">
            <a:spLocks/>
          </p:cNvSpPr>
          <p:nvPr/>
        </p:nvSpPr>
        <p:spPr>
          <a:xfrm>
            <a:off x="1124294" y="4437858"/>
            <a:ext cx="1748215" cy="56860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長久的對流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6D8BAE4C-7BD7-427A-B90D-48FB29F821B7}"/>
              </a:ext>
            </a:extLst>
          </p:cNvPr>
          <p:cNvSpPr/>
          <p:nvPr/>
        </p:nvSpPr>
        <p:spPr>
          <a:xfrm>
            <a:off x="4960735" y="3141608"/>
            <a:ext cx="2558473" cy="2558473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03A27D85-C09D-42FB-86BE-B1E5EFC65072}"/>
              </a:ext>
            </a:extLst>
          </p:cNvPr>
          <p:cNvSpPr txBox="1">
            <a:spLocks/>
          </p:cNvSpPr>
          <p:nvPr/>
        </p:nvSpPr>
        <p:spPr>
          <a:xfrm>
            <a:off x="4217334" y="5331246"/>
            <a:ext cx="2364508" cy="737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000" b="1" dirty="0">
                <a:ln w="0"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羅士比變形半徑</a:t>
            </a:r>
            <a:endParaRPr lang="en-US" altLang="zh-TW" sz="1050" b="1" dirty="0">
              <a:ln w="0">
                <a:solidFill>
                  <a:srgbClr val="FF0000"/>
                </a:solidFill>
              </a:ln>
              <a:solidFill>
                <a:srgbClr val="FF0000"/>
              </a:solidFill>
              <a:effectLst>
                <a:glow rad="228600">
                  <a:schemeClr val="bg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D6C8F2B4-6C07-425D-B73E-BF5BF45ADE0B}"/>
              </a:ext>
            </a:extLst>
          </p:cNvPr>
          <p:cNvSpPr txBox="1">
            <a:spLocks/>
          </p:cNvSpPr>
          <p:nvPr/>
        </p:nvSpPr>
        <p:spPr>
          <a:xfrm>
            <a:off x="5687966" y="4069890"/>
            <a:ext cx="1519923" cy="82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000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大高壓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37C9D1B-219E-4528-8DC3-716C26BBC7D9}"/>
              </a:ext>
            </a:extLst>
          </p:cNvPr>
          <p:cNvSpPr txBox="1"/>
          <p:nvPr/>
        </p:nvSpPr>
        <p:spPr>
          <a:xfrm>
            <a:off x="93205" y="58131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i="0" dirty="0">
                <a:effectLst/>
                <a:latin typeface="Google Sans Flex"/>
              </a:rPr>
              <a:t>強大的年平均對流就像一個巨型水泵</a:t>
            </a:r>
            <a:endParaRPr lang="en-US" altLang="zh-TW" b="1" i="0" dirty="0">
              <a:effectLst/>
              <a:latin typeface="Google Sans Flex"/>
            </a:endParaRPr>
          </a:p>
          <a:p>
            <a:r>
              <a:rPr lang="zh-TW" altLang="en-US" b="1" i="0" dirty="0">
                <a:effectLst/>
                <a:latin typeface="Google Sans Flex"/>
              </a:rPr>
              <a:t>不斷將暖濕空氣從低層運送到高層</a:t>
            </a:r>
            <a:endParaRPr lang="zh-TW" altLang="en-US" b="1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2D37BCF-9851-406D-AC65-DDFA5F7B16D5}"/>
              </a:ext>
            </a:extLst>
          </p:cNvPr>
          <p:cNvSpPr txBox="1"/>
          <p:nvPr/>
        </p:nvSpPr>
        <p:spPr>
          <a:xfrm>
            <a:off x="8239526" y="247514"/>
            <a:ext cx="24377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i="0" dirty="0">
                <a:effectLst/>
                <a:latin typeface="Google Sans Flex"/>
              </a:rPr>
              <a:t>質量累積。空氣在對流層頂</a:t>
            </a:r>
            <a:r>
              <a:rPr lang="en-US" altLang="zh-TW" b="1" i="0" dirty="0">
                <a:effectLst/>
                <a:latin typeface="Google Sans Flex"/>
              </a:rPr>
              <a:t>『</a:t>
            </a:r>
            <a:r>
              <a:rPr lang="zh-TW" altLang="en-US" b="1" i="0" dirty="0">
                <a:effectLst/>
                <a:latin typeface="Google Sans Flex"/>
              </a:rPr>
              <a:t>頂住</a:t>
            </a:r>
            <a:r>
              <a:rPr lang="en-US" altLang="zh-TW" b="1" i="0" dirty="0">
                <a:effectLst/>
                <a:latin typeface="Google Sans Flex"/>
              </a:rPr>
              <a:t>』</a:t>
            </a:r>
            <a:r>
              <a:rPr lang="zh-TW" altLang="en-US" b="1" i="0" dirty="0">
                <a:effectLst/>
                <a:latin typeface="Google Sans Flex"/>
              </a:rPr>
              <a:t>了，質量在那裡迅速累積，形成一個明顯的凸起。</a:t>
            </a:r>
            <a:endParaRPr lang="zh-TW" altLang="en-US" b="1" dirty="0"/>
          </a:p>
        </p:txBody>
      </p: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CC184006-CFE5-45A4-9CEC-32D55E184825}"/>
              </a:ext>
            </a:extLst>
          </p:cNvPr>
          <p:cNvSpPr txBox="1">
            <a:spLocks/>
          </p:cNvSpPr>
          <p:nvPr/>
        </p:nvSpPr>
        <p:spPr>
          <a:xfrm>
            <a:off x="6667344" y="4930978"/>
            <a:ext cx="825568" cy="3596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200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重力波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FCA9E33-7A13-49F4-9777-836275EEBD0D}"/>
                  </a:ext>
                </a:extLst>
              </p:cNvPr>
              <p:cNvSpPr txBox="1"/>
              <p:nvPr/>
            </p:nvSpPr>
            <p:spPr>
              <a:xfrm>
                <a:off x="8261123" y="2971384"/>
                <a:ext cx="2364508" cy="2879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b="1" i="0" dirty="0">
                    <a:effectLst/>
                    <a:latin typeface="Google Sans Flex"/>
                  </a:rPr>
                  <a:t>向四周輻射出重力波，開始重新分配質量。在羅氏比變形半徑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altLang="zh-TW" b="1" i="0" dirty="0">
                    <a:effectLst/>
                    <a:latin typeface="Google Sans Flex"/>
                  </a:rPr>
                  <a:t> </a:t>
                </a:r>
                <a:r>
                  <a:rPr lang="zh-TW" altLang="en-US" b="1" i="0" dirty="0">
                    <a:effectLst/>
                    <a:latin typeface="Google Sans Flex"/>
                  </a:rPr>
                  <a:t>範圍內，擴散的質量最終在地球自轉的魔術下，被</a:t>
                </a:r>
                <a:r>
                  <a:rPr lang="en-US" altLang="zh-TW" b="1" i="0" dirty="0">
                    <a:effectLst/>
                    <a:latin typeface="Google Sans Flex"/>
                  </a:rPr>
                  <a:t>『</a:t>
                </a:r>
                <a:r>
                  <a:rPr lang="zh-TW" altLang="en-US" b="1" i="0" dirty="0">
                    <a:effectLst/>
                    <a:latin typeface="Google Sans Flex"/>
                  </a:rPr>
                  <a:t>有序地組織</a:t>
                </a:r>
                <a:r>
                  <a:rPr lang="en-US" altLang="zh-TW" b="1" i="0" dirty="0">
                    <a:effectLst/>
                    <a:latin typeface="Google Sans Flex"/>
                  </a:rPr>
                  <a:t>』</a:t>
                </a:r>
                <a:r>
                  <a:rPr lang="zh-TW" altLang="en-US" b="1" i="0" dirty="0">
                    <a:effectLst/>
                    <a:latin typeface="Google Sans Flex"/>
                  </a:rPr>
                  <a:t>成一個大型的成熟高壓系統。這就是羅氏比波能量</a:t>
                </a:r>
                <a:r>
                  <a:rPr lang="zh-TW" altLang="en-US" b="1" dirty="0">
                    <a:latin typeface="Google Sans Flex"/>
                  </a:rPr>
                  <a:t>頻</a:t>
                </a:r>
                <a:r>
                  <a:rPr lang="zh-TW" altLang="en-US" b="1" i="0" dirty="0">
                    <a:effectLst/>
                    <a:latin typeface="Google Sans Flex"/>
                  </a:rPr>
                  <a:t>散的最終產物。</a:t>
                </a:r>
                <a:endParaRPr lang="zh-TW" altLang="en-US" b="1" dirty="0"/>
              </a:p>
            </p:txBody>
          </p:sp>
        </mc:Choice>
        <mc:Fallback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FCA9E33-7A13-49F4-9777-836275EEB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123" y="2971384"/>
                <a:ext cx="2364508" cy="2879001"/>
              </a:xfrm>
              <a:prstGeom prst="rect">
                <a:avLst/>
              </a:prstGeom>
              <a:blipFill>
                <a:blip r:embed="rId4"/>
                <a:stretch>
                  <a:fillRect l="-2062" t="-846" r="-6701" b="-16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0521BBD3-55E3-4BCE-8E54-67C2E63585EB}"/>
              </a:ext>
            </a:extLst>
          </p:cNvPr>
          <p:cNvSpPr txBox="1">
            <a:spLocks/>
          </p:cNvSpPr>
          <p:nvPr/>
        </p:nvSpPr>
        <p:spPr>
          <a:xfrm>
            <a:off x="4153280" y="3164001"/>
            <a:ext cx="1662995" cy="568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俯視圖 </a:t>
            </a:r>
            <a:r>
              <a:rPr lang="en-US" altLang="zh-TW" b="1" dirty="0">
                <a:ln w="0">
                  <a:solidFill>
                    <a:schemeClr val="tx1"/>
                  </a:solidFill>
                </a:ln>
                <a:effectLst>
                  <a:glow rad="2286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(3)</a:t>
            </a:r>
            <a:endParaRPr lang="zh-TW" altLang="en-US" b="1" dirty="0">
              <a:ln w="0">
                <a:solidFill>
                  <a:schemeClr val="tx1"/>
                </a:solidFill>
              </a:ln>
              <a:effectLst>
                <a:glow rad="228600">
                  <a:schemeClr val="bg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6558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55A091-CB38-4E76-BDD8-2F20369C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796297-F122-4C57-A394-00CE71563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AC8791F-E7E0-441F-BCEB-A35F52BD1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2" y="0"/>
            <a:ext cx="12126516" cy="68580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F6F27E26-0E7E-4368-AA83-8FFA68072CE8}"/>
              </a:ext>
            </a:extLst>
          </p:cNvPr>
          <p:cNvSpPr txBox="1"/>
          <p:nvPr/>
        </p:nvSpPr>
        <p:spPr>
          <a:xfrm>
            <a:off x="8808767" y="1158340"/>
            <a:ext cx="381923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Google Sans Flex"/>
              </a:rPr>
              <a:t>變異度 </a:t>
            </a:r>
            <a:r>
              <a:rPr lang="en-US" altLang="zh-TW" sz="3200" b="1" dirty="0">
                <a:latin typeface="Google Sans Flex"/>
              </a:rPr>
              <a:t>7~8</a:t>
            </a:r>
            <a:r>
              <a:rPr lang="zh-TW" altLang="en-US" sz="3200" b="1" dirty="0">
                <a:latin typeface="Google Sans Flex"/>
              </a:rPr>
              <a:t>天</a:t>
            </a:r>
            <a:endParaRPr lang="en-US" altLang="zh-TW" sz="3200" b="1" dirty="0">
              <a:latin typeface="Google Sans Flex"/>
            </a:endParaRPr>
          </a:p>
          <a:p>
            <a:r>
              <a:rPr lang="zh-TW" altLang="en-US" sz="3200" b="1" dirty="0">
                <a:latin typeface="Google Sans Flex"/>
              </a:rPr>
              <a:t>受</a:t>
            </a:r>
            <a:r>
              <a:rPr lang="zh-TW" altLang="en-US" sz="3600" b="1" dirty="0">
                <a:latin typeface="Google Sans Flex"/>
              </a:rPr>
              <a:t>季內震盪</a:t>
            </a:r>
            <a:r>
              <a:rPr lang="zh-TW" altLang="en-US" sz="3200" b="1" dirty="0">
                <a:latin typeface="Google Sans Flex"/>
              </a:rPr>
              <a:t>影響</a:t>
            </a:r>
            <a:endParaRPr lang="zh-TW" altLang="en-US" sz="3200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01F0182-5914-4289-8EF4-7A47379EF041}"/>
              </a:ext>
            </a:extLst>
          </p:cNvPr>
          <p:cNvCxnSpPr/>
          <p:nvPr/>
        </p:nvCxnSpPr>
        <p:spPr>
          <a:xfrm flipH="1">
            <a:off x="369455" y="3364348"/>
            <a:ext cx="8776025" cy="0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圖片 12">
            <a:extLst>
              <a:ext uri="{FF2B5EF4-FFF2-40B4-BE49-F238E27FC236}">
                <a16:creationId xmlns:a16="http://schemas.microsoft.com/office/drawing/2014/main" id="{9522B1E8-F8CF-4134-9A2C-5099E6138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78" y="5586413"/>
            <a:ext cx="141922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738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CA24C4-3A25-4222-B4BF-00E19ACA0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AAF1F8F-E349-4A43-8A53-64F1726A1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31" y="0"/>
            <a:ext cx="10669011" cy="6858000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BFF57F-3BDF-4426-83A1-16D9F1DC9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2534"/>
            <a:ext cx="4897582" cy="751320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>
                <a:solidFill>
                  <a:srgbClr val="FF0000"/>
                </a:solidFill>
              </a:rPr>
              <a:t>夏天天氣圖變異度最大的區域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6F62398-3DD9-48C9-9B6D-5F625F597301}"/>
              </a:ext>
            </a:extLst>
          </p:cNvPr>
          <p:cNvSpPr/>
          <p:nvPr/>
        </p:nvSpPr>
        <p:spPr>
          <a:xfrm rot="2184041">
            <a:off x="1847272" y="1869954"/>
            <a:ext cx="2530764" cy="895494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CE8E8BC-3AE6-4ABD-994F-622F60131839}"/>
              </a:ext>
            </a:extLst>
          </p:cNvPr>
          <p:cNvSpPr txBox="1">
            <a:spLocks/>
          </p:cNvSpPr>
          <p:nvPr/>
        </p:nvSpPr>
        <p:spPr>
          <a:xfrm>
            <a:off x="4514386" y="1577060"/>
            <a:ext cx="915864" cy="751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b="1" dirty="0">
                <a:solidFill>
                  <a:srgbClr val="FF0000"/>
                </a:solidFill>
              </a:rPr>
              <a:t>H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F6C36A4-5A70-48FA-9B08-AE600554C8A3}"/>
              </a:ext>
            </a:extLst>
          </p:cNvPr>
          <p:cNvSpPr txBox="1">
            <a:spLocks/>
          </p:cNvSpPr>
          <p:nvPr/>
        </p:nvSpPr>
        <p:spPr>
          <a:xfrm>
            <a:off x="1260258" y="2364555"/>
            <a:ext cx="915864" cy="751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b="1" dirty="0">
                <a:solidFill>
                  <a:srgbClr val="0070C0"/>
                </a:solidFill>
              </a:rPr>
              <a:t>L</a:t>
            </a:r>
            <a:endParaRPr lang="zh-TW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49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178</Words>
  <Application>Microsoft Office PowerPoint</Application>
  <PresentationFormat>寬螢幕</PresentationFormat>
  <Paragraphs>21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Google Sans Flex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品辰 葉</dc:creator>
  <cp:lastModifiedBy>品辰 葉</cp:lastModifiedBy>
  <cp:revision>1</cp:revision>
  <dcterms:created xsi:type="dcterms:W3CDTF">2026-03-15T12:38:00Z</dcterms:created>
  <dcterms:modified xsi:type="dcterms:W3CDTF">2026-03-15T14:43:14Z</dcterms:modified>
</cp:coreProperties>
</file>