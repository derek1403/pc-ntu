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67" r:id="rId3"/>
    <p:sldId id="289" r:id="rId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0256" autoAdjust="0"/>
  </p:normalViewPr>
  <p:slideViewPr>
    <p:cSldViewPr snapToGrid="0">
      <p:cViewPr varScale="1">
        <p:scale>
          <a:sx n="99" d="100"/>
          <a:sy n="99" d="100"/>
        </p:scale>
        <p:origin x="99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C10FF2-C27F-4504-960C-2F29202F8641}" type="datetimeFigureOut">
              <a:rPr lang="zh-TW" altLang="en-US" smtClean="0"/>
              <a:t>2026/3/24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BD7AC8-B6CA-400A-8FE7-AD65F6205DB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890707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/>
              <a:t>就是這種不完美的形狀  如何成為颱風爆發性增強的關鍵</a:t>
            </a:r>
            <a:endParaRPr lang="en-US" altLang="zh-TW"/>
          </a:p>
          <a:p>
            <a:pPr>
              <a:buNone/>
            </a:pPr>
            <a:endParaRPr lang="en-US" altLang="zh-TW"/>
          </a:p>
          <a:p>
            <a:pPr>
              <a:buNone/>
            </a:pPr>
            <a:r>
              <a:rPr lang="zh-TW" altLang="en-US"/>
              <a:t>颶風</a:t>
            </a:r>
            <a:r>
              <a:rPr lang="en-US" altLang="zh-TW" sz="1200"/>
              <a:t>Michael</a:t>
            </a:r>
            <a:r>
              <a:rPr lang="zh-TW" altLang="en-US"/>
              <a:t>在增強時  風場的波動跟對流的爆發是同步的  這暗示我們  大氣層上下之間一定有某種溝通機制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8BA24E-ABAB-4D44-97A4-9208AE986486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161026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/>
              <a:t>模擬 為什麼多邊形眼牆邊緣的對流爆發 會導致渦旋整體迅速旋轉加速或</a:t>
            </a:r>
            <a:r>
              <a:rPr lang="en-US" altLang="zh-TW"/>
              <a:t>RI</a:t>
            </a:r>
            <a:r>
              <a:rPr lang="zh-TW" altLang="en-US"/>
              <a:t>  最終導致</a:t>
            </a:r>
            <a:r>
              <a:rPr lang="en-US" altLang="zh-TW"/>
              <a:t>PV</a:t>
            </a:r>
            <a:r>
              <a:rPr lang="zh-TW" altLang="en-US"/>
              <a:t>環變薄與混合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8BA24E-ABAB-4D44-97A4-9208AE986486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775102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423FD0C-8C10-6F55-6E1C-FD01A4A8AB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85D582B7-77E4-AE04-5A0B-879CC311E3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3D2B05B-D8A4-EE5A-0429-D053EDB64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1D84B-4E0D-4DE4-8A67-B5CB3849C8DB}" type="datetimeFigureOut">
              <a:rPr lang="zh-TW" altLang="en-US" smtClean="0"/>
              <a:t>2026/3/24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F8C1421-9E4B-47B5-59D2-F8DA7A61E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7852001-2FCF-4333-6664-D10CE2305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6E837-18CE-402A-B8AD-44F275BE855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772383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8A68F27-2316-69E4-7605-8A61EAA3D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56FC7CE-8592-1B20-D092-72736A67EE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F72FCF7-B114-9CA9-A862-227558519E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1D84B-4E0D-4DE4-8A67-B5CB3849C8DB}" type="datetimeFigureOut">
              <a:rPr lang="zh-TW" altLang="en-US" smtClean="0"/>
              <a:t>2026/3/24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4EFC14C-AA8B-C8C8-7048-D7D50593E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09565A0-940A-1CE8-1F44-6D2A72920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6E837-18CE-402A-B8AD-44F275BE855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11743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1F3F1E2-3B3F-2D5C-6490-F40934C5A6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C717037-4A27-10E1-BF6D-06895786EE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77F447D-5A02-27BE-5CA3-55648CA4F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1D84B-4E0D-4DE4-8A67-B5CB3849C8DB}" type="datetimeFigureOut">
              <a:rPr lang="zh-TW" altLang="en-US" smtClean="0"/>
              <a:t>2026/3/24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0A4B6BB-7360-85A4-6A50-2446AEC652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5A6B8AF-FB25-2068-19C6-2506E5144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6E837-18CE-402A-B8AD-44F275BE855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235099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3222139-5766-BB4B-B4E8-2C2D69174E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CFACB76-EE79-F346-DF4B-44E740CB9F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070D187C-9F84-45FB-0B26-F9167D8D74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A11F1BC-9B1F-33BF-16A8-AC5D5C63B1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1D84B-4E0D-4DE4-8A67-B5CB3849C8DB}" type="datetimeFigureOut">
              <a:rPr lang="zh-TW" altLang="en-US" smtClean="0"/>
              <a:t>2026/3/24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8295340-D854-2EBE-3164-B7141F85A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8D04642-CED9-EAFD-DA3E-AA3400BE5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6E837-18CE-402A-B8AD-44F275BE855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567096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BE57549-04B5-5880-EB82-D80524B15C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12B47AC-437D-9833-009F-B90AFD63BB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5252ECC0-303A-3B15-AE14-FE9A6538EA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1BC81B35-D3E0-39D0-8923-2162D74612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B28FEA3F-695C-7FF2-DB33-02935E3014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D1473552-8E34-4093-CB0D-6EA88AE951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1D84B-4E0D-4DE4-8A67-B5CB3849C8DB}" type="datetimeFigureOut">
              <a:rPr lang="zh-TW" altLang="en-US" smtClean="0"/>
              <a:t>2026/3/24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2CA447CB-4B82-B0F8-33AD-13A957815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D4C996E6-7836-01FC-D88B-45D721C98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6E837-18CE-402A-B8AD-44F275BE855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79278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841125E-2D41-5370-1390-30498D2FD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2D2E34A8-56D2-ACCD-8833-C0C656F7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1D84B-4E0D-4DE4-8A67-B5CB3849C8DB}" type="datetimeFigureOut">
              <a:rPr lang="zh-TW" altLang="en-US" smtClean="0"/>
              <a:t>2026/3/24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E249729C-8CE0-EE88-D568-4F55F9660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37B01DC9-B25F-A9A8-4133-7AA8286EA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6E837-18CE-402A-B8AD-44F275BE855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932290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D5EB1AC7-B584-9D28-7EB7-CDE79B4CF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1D84B-4E0D-4DE4-8A67-B5CB3849C8DB}" type="datetimeFigureOut">
              <a:rPr lang="zh-TW" altLang="en-US" smtClean="0"/>
              <a:t>2026/3/24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B4B86447-E45D-F1B9-DB08-B5E7DF62F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9462D46-A551-DB49-F286-6221F4549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6E837-18CE-402A-B8AD-44F275BE855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749297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50DFBFE-2795-27AE-2FC5-33E7EC1130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696CE9B-AA57-416E-0F16-53CE18BF7A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E646788F-A107-5AF8-19D6-A2FB897744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CA29275-A7BD-1B1C-85A9-51778A290C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1D84B-4E0D-4DE4-8A67-B5CB3849C8DB}" type="datetimeFigureOut">
              <a:rPr lang="zh-TW" altLang="en-US" smtClean="0"/>
              <a:t>2026/3/24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E96CE4B2-F39E-CBB0-8BA5-6538248465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E365B999-3AA6-7EAA-E35B-17FBC8AC8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6E837-18CE-402A-B8AD-44F275BE855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005191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545A42E-1B9F-C652-CDCC-90F4407D52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5DD36A3F-78DB-8F03-6C2B-CBEC5570EF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D9DAAF3F-1EFD-A0F4-B291-A403EC4614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0BA47C41-9643-FD1A-C866-FFC8BD7701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1D84B-4E0D-4DE4-8A67-B5CB3849C8DB}" type="datetimeFigureOut">
              <a:rPr lang="zh-TW" altLang="en-US" smtClean="0"/>
              <a:t>2026/3/24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6A2E2D9-E244-B639-8DEA-A8ED28FF09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FF227FB-094A-AB19-798B-5B63BB00D8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6E837-18CE-402A-B8AD-44F275BE855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130932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16CBB50-E625-D203-7179-84FA2216E5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F3F474CB-40B8-804B-947A-1B63E850E7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F9A2073-795F-A791-9769-5F931DBBBD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1D84B-4E0D-4DE4-8A67-B5CB3849C8DB}" type="datetimeFigureOut">
              <a:rPr lang="zh-TW" altLang="en-US" smtClean="0"/>
              <a:t>2026/3/24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9D0DDA1-7255-FDFE-B95B-C8852A0D48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4485391-49E8-60F2-27D4-A25DD0F69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6E837-18CE-402A-B8AD-44F275BE855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288871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252C367C-57A7-E6C4-E1D6-074B8AD110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97E41661-B168-4C11-241A-B0C57609B4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586A326-CD70-1593-7FCD-60A91D2F9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1D84B-4E0D-4DE4-8A67-B5CB3849C8DB}" type="datetimeFigureOut">
              <a:rPr lang="zh-TW" altLang="en-US" smtClean="0"/>
              <a:t>2026/3/24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398C2CC-102F-0D87-E87C-84A7A2F84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BACCE73-7EB9-3F1B-ECFD-F75761579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6E837-18CE-402A-B8AD-44F275BE855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226847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4E835759-DE74-12DB-A4FC-8AAEC605D2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25804C1-AE0B-5ED8-89CF-0C456BB66D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EF09A28-8FEF-1117-EC33-2A8F68D430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41D84B-4E0D-4DE4-8A67-B5CB3849C8DB}" type="datetimeFigureOut">
              <a:rPr lang="zh-TW" altLang="en-US" smtClean="0"/>
              <a:t>2026/3/24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8061F8F-E366-4848-185B-8BBF49601F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807739A-010D-49D2-B266-037B826A8B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6E837-18CE-402A-B8AD-44F275BE855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700990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58493F-DDAA-6576-3A58-921EFEC290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b="1"/>
              <a:t>PV Mixing and Intensification</a:t>
            </a:r>
            <a:endParaRPr lang="zh-TW" altLang="en-US" b="1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0C197E44-6956-27DE-EF92-445809B19C4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TW" altLang="en-US"/>
              <a:t>葉品辰 </a:t>
            </a:r>
            <a:endParaRPr lang="en-US" altLang="zh-TW"/>
          </a:p>
          <a:p>
            <a:r>
              <a:rPr lang="en-US" altLang="zh-TW"/>
              <a:t>2026.03.25</a:t>
            </a:r>
            <a:endParaRPr lang="zh-TW" altLang="en-US"/>
          </a:p>
        </p:txBody>
      </p:sp>
      <p:sp>
        <p:nvSpPr>
          <p:cNvPr id="4" name="副標題 2">
            <a:extLst>
              <a:ext uri="{FF2B5EF4-FFF2-40B4-BE49-F238E27FC236}">
                <a16:creationId xmlns:a16="http://schemas.microsoft.com/office/drawing/2014/main" id="{28516FDB-3546-6D27-FF00-5AA4A1C34001}"/>
              </a:ext>
            </a:extLst>
          </p:cNvPr>
          <p:cNvSpPr txBox="1">
            <a:spLocks/>
          </p:cNvSpPr>
          <p:nvPr/>
        </p:nvSpPr>
        <p:spPr>
          <a:xfrm>
            <a:off x="10549288" y="6458552"/>
            <a:ext cx="1642712" cy="8377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/>
              <a:t>2026.06.03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693441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9D6E1F-1279-46D9-6E08-1B89618687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0BA3DD5A-BDFD-D13C-2553-8DE3CDDAA660}"/>
              </a:ext>
            </a:extLst>
          </p:cNvPr>
          <p:cNvSpPr txBox="1"/>
          <p:nvPr/>
        </p:nvSpPr>
        <p:spPr>
          <a:xfrm>
            <a:off x="0" y="0"/>
            <a:ext cx="228299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i="0">
                <a:solidFill>
                  <a:srgbClr val="040C28"/>
                </a:solidFill>
                <a:effectLst/>
                <a:latin typeface="Arial" panose="020B0604020202020204" pitchFamily="34" charset="0"/>
              </a:rPr>
              <a:t>Observation</a:t>
            </a:r>
            <a:endParaRPr lang="zh-TW" altLang="en-US" sz="2800" b="1" dirty="0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027215D1-E557-B15F-AEFB-D6B046FF0C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622" y="747943"/>
            <a:ext cx="6426503" cy="5362113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A55FE532-A6D5-AE57-4C81-F38ADC4CD404}"/>
              </a:ext>
            </a:extLst>
          </p:cNvPr>
          <p:cNvSpPr txBox="1"/>
          <p:nvPr/>
        </p:nvSpPr>
        <p:spPr>
          <a:xfrm>
            <a:off x="7293788" y="2213281"/>
            <a:ext cx="4708822" cy="3077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TW" altLang="en-US" sz="2200">
                <a:latin typeface="標楷體" panose="03000509000000000000" pitchFamily="65" charset="-120"/>
                <a:ea typeface="標楷體" panose="03000509000000000000" pitchFamily="65" charset="-120"/>
              </a:rPr>
              <a:t>多邊形眼牆與</a:t>
            </a:r>
            <a:r>
              <a:rPr lang="en-US" altLang="zh-TW" sz="2200">
                <a:latin typeface="標楷體" panose="03000509000000000000" pitchFamily="65" charset="-120"/>
                <a:ea typeface="標楷體" panose="03000509000000000000" pitchFamily="65" charset="-120"/>
              </a:rPr>
              <a:t>VRWs</a:t>
            </a:r>
            <a:r>
              <a:rPr lang="zh-TW" altLang="en-US" sz="2200">
                <a:latin typeface="標楷體" panose="03000509000000000000" pitchFamily="65" charset="-120"/>
                <a:ea typeface="標楷體" panose="03000509000000000000" pitchFamily="65" charset="-120"/>
              </a:rPr>
              <a:t>和</a:t>
            </a:r>
            <a:r>
              <a:rPr lang="en-US" altLang="zh-TW" sz="2200">
                <a:latin typeface="標楷體" panose="03000509000000000000" pitchFamily="65" charset="-120"/>
                <a:ea typeface="標楷體" panose="03000509000000000000" pitchFamily="65" charset="-120"/>
              </a:rPr>
              <a:t>PV</a:t>
            </a:r>
            <a:r>
              <a:rPr lang="zh-TW" altLang="en-US" sz="2200">
                <a:latin typeface="標楷體" panose="03000509000000000000" pitchFamily="65" charset="-120"/>
                <a:ea typeface="標楷體" panose="03000509000000000000" pitchFamily="65" charset="-120"/>
              </a:rPr>
              <a:t>環的崩潰有關</a:t>
            </a:r>
            <a:endParaRPr lang="en-US" altLang="zh-TW" sz="220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TW" sz="2200"/>
              <a:t>Michael</a:t>
            </a:r>
            <a:r>
              <a:rPr lang="zh-TW" altLang="en-US" sz="2200">
                <a:latin typeface="標楷體" panose="03000509000000000000" pitchFamily="65" charset="-120"/>
                <a:ea typeface="標楷體" panose="03000509000000000000" pitchFamily="65" charset="-120"/>
              </a:rPr>
              <a:t>颶風經歷低到高到低波數然後軸對稱的眼牆結構</a:t>
            </a:r>
            <a:endParaRPr lang="en-US" altLang="zh-TW" sz="220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US" altLang="zh-TW" sz="2200"/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US" altLang="zh-TW" sz="2200" dirty="0"/>
          </a:p>
          <a:p>
            <a:pPr>
              <a:spcAft>
                <a:spcPts val="1200"/>
              </a:spcAft>
            </a:pPr>
            <a:endParaRPr lang="en-US" altLang="zh-TW" sz="2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33EEF93F-ABCF-E910-EC2F-882DBEA0B0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7877" y="1261254"/>
            <a:ext cx="2621396" cy="4452655"/>
          </a:xfrm>
          <a:prstGeom prst="rect">
            <a:avLst/>
          </a:prstGeom>
          <a:solidFill>
            <a:schemeClr val="tx1">
              <a:alpha val="98000"/>
            </a:schemeClr>
          </a:solidFill>
          <a:effectLst>
            <a:outerShdw blurRad="50800" dist="50800" dir="5400000" algn="ctr" rotWithShape="0">
              <a:srgbClr val="000000"/>
            </a:outerShdw>
          </a:effectLst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E81B2B66-9C67-896D-AF12-5E51F9EADBED}"/>
              </a:ext>
            </a:extLst>
          </p:cNvPr>
          <p:cNvSpPr txBox="1"/>
          <p:nvPr/>
        </p:nvSpPr>
        <p:spPr>
          <a:xfrm>
            <a:off x="0" y="6211669"/>
            <a:ext cx="1219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spcBef>
                <a:spcPts val="75"/>
              </a:spcBef>
              <a:spcAft>
                <a:spcPts val="1200"/>
              </a:spcAft>
            </a:pPr>
            <a:r>
              <a:rPr lang="en-US" altLang="zh-TW">
                <a:effectLst/>
                <a:latin typeface="Arial" panose="020B0604020202020204" pitchFamily="34" charset="0"/>
              </a:rPr>
              <a:t>Cha, T. Y., Bell, M. M., Lee, W. C., &amp; DesRosiers, A. J. (2020). Polygonal eyewall asymmetries</a:t>
            </a:r>
            <a:r>
              <a:rPr lang="zh-TW" altLang="en-US">
                <a:effectLst/>
                <a:latin typeface="Arial" panose="020B0604020202020204" pitchFamily="34" charset="0"/>
              </a:rPr>
              <a:t> </a:t>
            </a:r>
            <a:r>
              <a:rPr lang="en-US" altLang="zh-TW">
                <a:effectLst/>
                <a:latin typeface="Arial" panose="020B0604020202020204" pitchFamily="34" charset="0"/>
              </a:rPr>
              <a:t>during the rapid intensification of Hurricane Michael (2018). Geophysical Research</a:t>
            </a:r>
            <a:r>
              <a:rPr lang="zh-TW" altLang="en-US">
                <a:effectLst/>
                <a:latin typeface="Arial" panose="020B0604020202020204" pitchFamily="34" charset="0"/>
              </a:rPr>
              <a:t> </a:t>
            </a:r>
            <a:r>
              <a:rPr lang="en-US" altLang="zh-TW">
                <a:effectLst/>
                <a:latin typeface="Arial" panose="020B0604020202020204" pitchFamily="34" charset="0"/>
              </a:rPr>
              <a:t>Letters, 47(15), e2020GL087919.</a:t>
            </a:r>
            <a:endParaRPr lang="en-US" altLang="zh-TW" dirty="0"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96373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BC9C9631-8F1A-A5EE-3D73-A57FEE6D50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03" y="1557261"/>
            <a:ext cx="9201150" cy="3914775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743D6729-FC67-8DE1-F24B-D56286B65CF8}"/>
              </a:ext>
            </a:extLst>
          </p:cNvPr>
          <p:cNvSpPr txBox="1"/>
          <p:nvPr/>
        </p:nvSpPr>
        <p:spPr>
          <a:xfrm>
            <a:off x="8745928" y="2998113"/>
            <a:ext cx="344607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200" dirty="0"/>
              <a:t>Shallow water model (SWM)</a:t>
            </a:r>
            <a:endParaRPr lang="zh-TW" altLang="en-US" sz="2200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59662931-F190-228C-CDD3-C24D02268B38}"/>
              </a:ext>
            </a:extLst>
          </p:cNvPr>
          <p:cNvSpPr txBox="1"/>
          <p:nvPr/>
        </p:nvSpPr>
        <p:spPr>
          <a:xfrm>
            <a:off x="9077279" y="4438965"/>
            <a:ext cx="334910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200" dirty="0"/>
              <a:t>slab-boundary layer (SBL)</a:t>
            </a:r>
            <a:endParaRPr lang="zh-TW" altLang="en-US" sz="2200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FE1F6D68-EEFD-C3CF-3077-D850961EB9D4}"/>
              </a:ext>
            </a:extLst>
          </p:cNvPr>
          <p:cNvSpPr txBox="1"/>
          <p:nvPr/>
        </p:nvSpPr>
        <p:spPr>
          <a:xfrm>
            <a:off x="0" y="0"/>
            <a:ext cx="30796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i="0">
                <a:solidFill>
                  <a:srgbClr val="040C28"/>
                </a:solidFill>
                <a:effectLst/>
                <a:latin typeface="Arial" panose="020B0604020202020204" pitchFamily="34" charset="0"/>
              </a:rPr>
              <a:t>Numerical model</a:t>
            </a:r>
            <a:endParaRPr lang="zh-TW" altLang="en-US" sz="2800" b="1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8537D678-0E8D-E597-1A71-C08254303E20}"/>
              </a:ext>
            </a:extLst>
          </p:cNvPr>
          <p:cNvSpPr txBox="1"/>
          <p:nvPr/>
        </p:nvSpPr>
        <p:spPr>
          <a:xfrm>
            <a:off x="0" y="6182911"/>
            <a:ext cx="1219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spcBef>
                <a:spcPts val="75"/>
              </a:spcBef>
              <a:spcAft>
                <a:spcPts val="1200"/>
              </a:spcAft>
            </a:pPr>
            <a:r>
              <a:rPr lang="en-US" altLang="zh-TW">
                <a:effectLst/>
                <a:latin typeface="Arial" panose="020B0604020202020204" pitchFamily="34" charset="0"/>
              </a:rPr>
              <a:t>Cha, T. Y., &amp; Bell, M. M. (2024). Tropical cyclone asymmetric eyewall evolution and intensification</a:t>
            </a:r>
            <a:r>
              <a:rPr lang="zh-TW" altLang="en-US">
                <a:effectLst/>
                <a:latin typeface="Arial" panose="020B0604020202020204" pitchFamily="34" charset="0"/>
              </a:rPr>
              <a:t> </a:t>
            </a:r>
            <a:r>
              <a:rPr lang="en-US" altLang="zh-TW">
                <a:effectLst/>
                <a:latin typeface="Arial" panose="020B0604020202020204" pitchFamily="34" charset="0"/>
              </a:rPr>
              <a:t>in a two-layer model. Weather and Climate Dynamics, 5(3), 1013-1029.</a:t>
            </a:r>
            <a:endParaRPr lang="en-US" altLang="zh-TW" dirty="0"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95248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209</Words>
  <Application>Microsoft Office PowerPoint</Application>
  <PresentationFormat>寬螢幕</PresentationFormat>
  <Paragraphs>19</Paragraphs>
  <Slides>3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8" baseType="lpstr">
      <vt:lpstr>標楷體</vt:lpstr>
      <vt:lpstr>Arial</vt:lpstr>
      <vt:lpstr>Calibri</vt:lpstr>
      <vt:lpstr>Calibri Light</vt:lpstr>
      <vt:lpstr>Office 佈景主題</vt:lpstr>
      <vt:lpstr>PV Mixing and Intensification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Da-Kai Peng</dc:creator>
  <cp:lastModifiedBy>Da-Kai Peng</cp:lastModifiedBy>
  <cp:revision>2</cp:revision>
  <dcterms:created xsi:type="dcterms:W3CDTF">2026-03-24T11:19:53Z</dcterms:created>
  <dcterms:modified xsi:type="dcterms:W3CDTF">2026-03-24T11:44:58Z</dcterms:modified>
</cp:coreProperties>
</file>