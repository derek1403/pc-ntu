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816" r:id="rId2"/>
  </p:sldMasterIdLst>
  <p:notesMasterIdLst>
    <p:notesMasterId r:id="rId59"/>
  </p:notesMasterIdLst>
  <p:handoutMasterIdLst>
    <p:handoutMasterId r:id="rId60"/>
  </p:handoutMasterIdLst>
  <p:sldIdLst>
    <p:sldId id="269" r:id="rId3"/>
    <p:sldId id="265" r:id="rId4"/>
    <p:sldId id="292" r:id="rId5"/>
    <p:sldId id="266" r:id="rId6"/>
    <p:sldId id="270" r:id="rId7"/>
    <p:sldId id="267" r:id="rId8"/>
    <p:sldId id="264" r:id="rId9"/>
    <p:sldId id="288" r:id="rId10"/>
    <p:sldId id="286" r:id="rId11"/>
    <p:sldId id="272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302" r:id="rId20"/>
    <p:sldId id="303" r:id="rId21"/>
    <p:sldId id="304" r:id="rId22"/>
    <p:sldId id="329" r:id="rId23"/>
    <p:sldId id="283" r:id="rId24"/>
    <p:sldId id="290" r:id="rId25"/>
    <p:sldId id="296" r:id="rId26"/>
    <p:sldId id="297" r:id="rId27"/>
    <p:sldId id="308" r:id="rId28"/>
    <p:sldId id="305" r:id="rId29"/>
    <p:sldId id="311" r:id="rId30"/>
    <p:sldId id="312" r:id="rId31"/>
    <p:sldId id="314" r:id="rId32"/>
    <p:sldId id="317" r:id="rId33"/>
    <p:sldId id="315" r:id="rId34"/>
    <p:sldId id="318" r:id="rId35"/>
    <p:sldId id="320" r:id="rId36"/>
    <p:sldId id="321" r:id="rId37"/>
    <p:sldId id="322" r:id="rId38"/>
    <p:sldId id="323" r:id="rId39"/>
    <p:sldId id="324" r:id="rId40"/>
    <p:sldId id="325" r:id="rId41"/>
    <p:sldId id="326" r:id="rId42"/>
    <p:sldId id="327" r:id="rId43"/>
    <p:sldId id="328" r:id="rId44"/>
    <p:sldId id="330" r:id="rId45"/>
    <p:sldId id="331" r:id="rId46"/>
    <p:sldId id="332" r:id="rId47"/>
    <p:sldId id="333" r:id="rId48"/>
    <p:sldId id="334" r:id="rId49"/>
    <p:sldId id="341" r:id="rId50"/>
    <p:sldId id="335" r:id="rId51"/>
    <p:sldId id="336" r:id="rId52"/>
    <p:sldId id="337" r:id="rId53"/>
    <p:sldId id="338" r:id="rId54"/>
    <p:sldId id="339" r:id="rId55"/>
    <p:sldId id="340" r:id="rId56"/>
    <p:sldId id="346" r:id="rId57"/>
    <p:sldId id="345" r:id="rId58"/>
  </p:sldIdLst>
  <p:sldSz cx="9144000" cy="6858000" type="screen4x3"/>
  <p:notesSz cx="6797675" cy="99282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0099CC"/>
    <a:srgbClr val="0066CC"/>
    <a:srgbClr val="663300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3" autoAdjust="0"/>
    <p:restoredTop sz="94660"/>
  </p:normalViewPr>
  <p:slideViewPr>
    <p:cSldViewPr>
      <p:cViewPr varScale="1">
        <p:scale>
          <a:sx n="73" d="100"/>
          <a:sy n="73" d="100"/>
        </p:scale>
        <p:origin x="78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862" cy="49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5" tIns="46048" rIns="92095" bIns="46048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294" y="0"/>
            <a:ext cx="2945862" cy="49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5" tIns="46048" rIns="92095" bIns="46048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01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273"/>
            <a:ext cx="2945862" cy="497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5" tIns="46048" rIns="92095" bIns="46048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01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294" y="9429273"/>
            <a:ext cx="2945862" cy="497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5" tIns="46048" rIns="92095" bIns="46048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3A3E0F6F-555E-44F8-9AA6-74D9F906B8B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095197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862" cy="49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5" tIns="46048" rIns="92095" bIns="46048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294" y="0"/>
            <a:ext cx="2945862" cy="49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5" tIns="46048" rIns="92095" bIns="46048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5700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64" y="4713866"/>
            <a:ext cx="5438748" cy="447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5" tIns="46048" rIns="92095" bIns="4604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273"/>
            <a:ext cx="2945862" cy="497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5" tIns="46048" rIns="92095" bIns="46048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9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294" y="9429273"/>
            <a:ext cx="2945862" cy="497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5" tIns="46048" rIns="92095" bIns="46048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79D9A0C7-6DE6-478E-9F06-27C97800E2A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924543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3" descr="BinaryPI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grpSp>
        <p:nvGrpSpPr>
          <p:cNvPr id="6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7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8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9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1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2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3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4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5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6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9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0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1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3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4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6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7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8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9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1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3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38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pic>
        <p:nvPicPr>
          <p:cNvPr id="39" name="Picture 42" descr="emblem_200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1341438"/>
            <a:ext cx="1223963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zh-TW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zh-TW"/>
              <a:t>Click to edit Master subtitle style</a:t>
            </a:r>
          </a:p>
        </p:txBody>
      </p:sp>
      <p:sp>
        <p:nvSpPr>
          <p:cNvPr id="40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Mar 2011</a:t>
            </a:r>
          </a:p>
        </p:txBody>
      </p:sp>
      <p:sp>
        <p:nvSpPr>
          <p:cNvPr id="41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Cryptography</a:t>
            </a:r>
          </a:p>
        </p:txBody>
      </p:sp>
      <p:sp>
        <p:nvSpPr>
          <p:cNvPr id="42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73E32-A9E5-4467-BFA5-10CE8A63076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66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Mar 2011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Cryptography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FC9E44-116F-4054-A547-C372D0A7E02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98524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Mar 2011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Cryptography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FCA85-9418-4ABC-BAE3-EB22D52AAC8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09566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Mar 2011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Cryptography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F75D34-456F-4D95-A6CE-8813A04E562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6164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Mar 2011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Cryptography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0BF5A-7A35-438B-BFC8-BC2828C1B29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66584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Mar 2011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Cryptography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F6E1EA-E8CC-45D9-B2B5-44B43036F19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80942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Mar 2011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Cryptography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5C1D85-97E1-4A07-BA31-AE0B83DB1C9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21356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Mar 2011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Cryptography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528C8-2320-4BE9-BAFA-9BF306EDC45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13375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Mar 2011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Cryptography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116F9E-4540-411F-9A0A-58FEAF3A1A1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285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Mar 2011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Cryptography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C8D7AC-00C9-4CB6-B0B3-3BC90ED26E1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28824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Mar 2011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Cryptography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39D917-9BFB-47F0-87AA-0B293A05E6A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40112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Mar 2011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Cryptography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6CFEAB-8AD9-45C6-A690-EE5117FFE78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0668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Mar 2011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Cryptography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F68334-C02A-47F1-AB74-E8DB39852A0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78214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3" descr="BinaryPI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</a:endParaRPr>
          </a:p>
        </p:txBody>
      </p:sp>
      <p:grpSp>
        <p:nvGrpSpPr>
          <p:cNvPr id="6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7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8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9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1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2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3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4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5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6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7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8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9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20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21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22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23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24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25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26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27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28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29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30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31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32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33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34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35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36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37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38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</a:endParaRPr>
          </a:p>
        </p:txBody>
      </p:sp>
      <p:pic>
        <p:nvPicPr>
          <p:cNvPr id="39" name="Picture 42" descr="emblem_200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1341438"/>
            <a:ext cx="1223963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zh-TW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zh-TW"/>
              <a:t>Click to edit Master subtitle style</a:t>
            </a:r>
          </a:p>
        </p:txBody>
      </p:sp>
      <p:sp>
        <p:nvSpPr>
          <p:cNvPr id="40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May 2011</a:t>
            </a:r>
          </a:p>
        </p:txBody>
      </p:sp>
      <p:sp>
        <p:nvSpPr>
          <p:cNvPr id="41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Cryptography</a:t>
            </a:r>
          </a:p>
        </p:txBody>
      </p:sp>
      <p:sp>
        <p:nvSpPr>
          <p:cNvPr id="42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26F91F-10A4-4198-9CBC-94085FBC239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0448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May 2011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Cryptography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5DB2A1-5CE9-4F51-9258-368C0A7536BF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669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May 2011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Cryptography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215698-2E95-4401-A629-59E0D3188AE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026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May 2011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Cryptography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2C8DFE-83C8-4740-94EA-E42BDF68A06D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1265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May 2011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Cryptography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46B036-1EA5-41FC-9DF8-2A8B4168C3C6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6081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May 2011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Cryptography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38351B-EA09-421D-A2CF-F51463844730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8852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May 2011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Cryptography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87B31-F6FE-4116-94EF-155D14BDF580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4426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May 2011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Cryptography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88F587-479E-4864-BEB9-2AA5DFB0277D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560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May 2011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Cryptography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3BD9EC-4960-4F5A-A067-3C321882BBC8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7467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May 2011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Cryptography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25F16A-AA80-45F3-B6BB-86C3CECF2944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4159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May 2011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Cryptography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D5A7CC-51DB-4780-B8EF-FAF81684639F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5572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May 2011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Cryptography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9BCC0B-A4C4-4B85-8048-05F2C4DE9A74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193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2" descr="BinaryPI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00"/>
            </a:lvl1pPr>
          </a:lstStyle>
          <a:p>
            <a:pPr>
              <a:defRPr/>
            </a:pPr>
            <a:r>
              <a:rPr lang="en-US" altLang="zh-TW"/>
              <a:t>Mar 2011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00"/>
            </a:lvl1pPr>
          </a:lstStyle>
          <a:p>
            <a:pPr>
              <a:defRPr/>
            </a:pPr>
            <a:r>
              <a:rPr lang="en-US" altLang="zh-TW"/>
              <a:t>Cryptography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000"/>
            </a:lvl1pPr>
          </a:lstStyle>
          <a:p>
            <a:pPr>
              <a:defRPr/>
            </a:pPr>
            <a:fld id="{6295779B-1FCC-40D5-BF9A-3BDAF855FBA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grpSp>
        <p:nvGrpSpPr>
          <p:cNvPr id="1033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4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35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36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37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38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39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40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4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41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42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43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44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4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45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46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47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48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49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50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51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52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53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54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55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56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57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58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4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59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60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61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62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4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63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64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4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kumimoji="1" sz="2600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kumimoji="1" sz="2300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2" descr="BinaryPI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May 2011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Cryptography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0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A1933DFE-CFE1-4D8E-A44F-737CBAE877A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grpSp>
        <p:nvGrpSpPr>
          <p:cNvPr id="1033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4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35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36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37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38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39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40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4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41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42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43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44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4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45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46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47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48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49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50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51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52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53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54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55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56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57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58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4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59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60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61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62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4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63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64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4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093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kumimoji="1" sz="2600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kumimoji="1" sz="2300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8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0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4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919912" cy="2133600"/>
          </a:xfrm>
        </p:spPr>
        <p:txBody>
          <a:bodyPr/>
          <a:lstStyle/>
          <a:p>
            <a:pPr algn="ctr" eaLnBrk="1" hangingPunct="1"/>
            <a:r>
              <a:rPr lang="en-US" altLang="zh-TW" sz="6000" dirty="0"/>
              <a:t>Arithmetic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 eaLnBrk="1" hangingPunct="1"/>
            <a:endParaRPr lang="en-US" altLang="zh-TW" dirty="0"/>
          </a:p>
          <a:p>
            <a:pPr algn="ctr" eaLnBrk="1" hangingPunct="1"/>
            <a:endParaRPr lang="en-US" altLang="zh-TW" dirty="0"/>
          </a:p>
          <a:p>
            <a:pPr algn="ctr" eaLnBrk="1" hangingPunct="1"/>
            <a:r>
              <a:rPr lang="en-US" altLang="zh-TW" dirty="0"/>
              <a:t>Introduction to Cryptography</a:t>
            </a:r>
          </a:p>
          <a:p>
            <a:pPr algn="ctr" eaLnBrk="1" hangingPunct="1"/>
            <a:endParaRPr lang="en-US" altLang="zh-TW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70A65650-DB55-4244-92C2-2C9A83BDFDD6}" type="slidenum">
              <a:rPr kumimoji="0" lang="en-US" altLang="zh-TW" smtClean="0"/>
              <a:pPr eaLnBrk="1" hangingPunct="1"/>
              <a:t>2</a:t>
            </a:fld>
            <a:endParaRPr kumimoji="0" lang="en-US" altLang="zh-TW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Arithmetic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b="1" dirty="0"/>
              <a:t>Modular Function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GCD and Euclidean Algorithm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Extended GCD Algorithm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Fundamental Theorem of Arithmetic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Modular Arithmetic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Chinese Remainder Theorem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Theorems of Fermat and Euler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8A3FA520-2772-4625-AA4B-64FBDE3F560F}" type="slidenum">
              <a:rPr kumimoji="0" lang="en-US" altLang="zh-TW" smtClean="0"/>
              <a:pPr eaLnBrk="1" hangingPunct="1"/>
              <a:t>3</a:t>
            </a:fld>
            <a:endParaRPr kumimoji="0" lang="en-US" altLang="zh-TW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Floor and Ceiling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435975" cy="4411662"/>
          </a:xfrm>
        </p:spPr>
        <p:txBody>
          <a:bodyPr/>
          <a:lstStyle/>
          <a:p>
            <a:pPr eaLnBrk="1" hangingPunct="1"/>
            <a:r>
              <a:rPr lang="en-US" altLang="zh-TW" b="1" dirty="0"/>
              <a:t>Definition</a:t>
            </a:r>
          </a:p>
          <a:p>
            <a:pPr lvl="1" eaLnBrk="1" hangingPunct="1">
              <a:buSzTx/>
              <a:buFont typeface="Wingdings" pitchFamily="2" charset="2"/>
              <a:buAutoNum type="arabicParenR"/>
            </a:pPr>
            <a:r>
              <a:rPr lang="en-US" altLang="zh-TW" dirty="0"/>
              <a:t> The </a:t>
            </a:r>
            <a:r>
              <a:rPr lang="en-US" altLang="zh-TW" b="1" dirty="0">
                <a:solidFill>
                  <a:srgbClr val="9900CC"/>
                </a:solidFill>
              </a:rPr>
              <a:t>floor</a:t>
            </a:r>
            <a:r>
              <a:rPr lang="en-US" altLang="zh-TW" baseline="-25000" dirty="0"/>
              <a:t>  </a:t>
            </a:r>
            <a:r>
              <a:rPr lang="en-US" altLang="zh-TW" dirty="0">
                <a:sym typeface="Symbol" pitchFamily="18" charset="2"/>
              </a:rPr>
              <a:t></a:t>
            </a:r>
            <a:r>
              <a:rPr lang="en-US" altLang="zh-TW" i="1" dirty="0">
                <a:sym typeface="Symbol" pitchFamily="18" charset="2"/>
              </a:rPr>
              <a:t>x</a:t>
            </a:r>
            <a:r>
              <a:rPr lang="en-US" altLang="zh-TW" dirty="0">
                <a:sym typeface="Symbol" pitchFamily="18" charset="2"/>
              </a:rPr>
              <a:t>  of  </a:t>
            </a:r>
            <a:r>
              <a:rPr lang="en-US" altLang="zh-TW" i="1" dirty="0"/>
              <a:t>x</a:t>
            </a:r>
            <a:r>
              <a:rPr lang="en-US" altLang="zh-TW" baseline="-25000" dirty="0"/>
              <a:t> </a:t>
            </a:r>
            <a:r>
              <a:rPr lang="en-US" altLang="zh-TW" dirty="0">
                <a:sym typeface="Symbol" pitchFamily="18" charset="2"/>
              </a:rPr>
              <a:t>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b="1" i="1" dirty="0">
                <a:sym typeface="Symbol" pitchFamily="18" charset="2"/>
              </a:rPr>
              <a:t>R</a:t>
            </a:r>
            <a:r>
              <a:rPr lang="en-US" altLang="zh-TW" dirty="0">
                <a:sym typeface="Symbol" pitchFamily="18" charset="2"/>
              </a:rPr>
              <a:t>  </a:t>
            </a:r>
            <a:r>
              <a:rPr lang="en-US" altLang="zh-TW" dirty="0"/>
              <a:t>is the largest integer </a:t>
            </a:r>
            <a:r>
              <a:rPr lang="en-US" altLang="zh-TW" dirty="0">
                <a:sym typeface="Symbol" pitchFamily="18" charset="2"/>
              </a:rPr>
              <a:t> </a:t>
            </a:r>
            <a:r>
              <a:rPr lang="en-US" altLang="zh-TW" i="1" dirty="0">
                <a:sym typeface="Symbol" pitchFamily="18" charset="2"/>
              </a:rPr>
              <a:t>x</a:t>
            </a:r>
          </a:p>
          <a:p>
            <a:pPr lvl="1" eaLnBrk="1" hangingPunct="1">
              <a:buSzTx/>
              <a:buFont typeface="Wingdings" pitchFamily="2" charset="2"/>
              <a:buAutoNum type="arabicParenR"/>
            </a:pPr>
            <a:r>
              <a:rPr lang="en-US" altLang="zh-TW" dirty="0">
                <a:sym typeface="Symbol" pitchFamily="18" charset="2"/>
              </a:rPr>
              <a:t> The </a:t>
            </a:r>
            <a:r>
              <a:rPr lang="en-US" altLang="zh-TW" b="1" dirty="0">
                <a:solidFill>
                  <a:srgbClr val="9900CC"/>
                </a:solidFill>
                <a:sym typeface="Symbol" pitchFamily="18" charset="2"/>
              </a:rPr>
              <a:t>ceiling</a:t>
            </a:r>
            <a:r>
              <a:rPr lang="en-US" altLang="zh-TW" baseline="-25000" dirty="0">
                <a:sym typeface="Symbol" pitchFamily="18" charset="2"/>
              </a:rPr>
              <a:t>  </a:t>
            </a:r>
            <a:r>
              <a:rPr lang="en-US" altLang="zh-TW" dirty="0">
                <a:sym typeface="Symbol" pitchFamily="18" charset="2"/>
              </a:rPr>
              <a:t></a:t>
            </a:r>
            <a:r>
              <a:rPr lang="en-US" altLang="zh-TW" i="1" dirty="0">
                <a:sym typeface="Symbol" pitchFamily="18" charset="2"/>
              </a:rPr>
              <a:t>x</a:t>
            </a:r>
            <a:r>
              <a:rPr lang="en-US" altLang="zh-TW" dirty="0">
                <a:sym typeface="Symbol" pitchFamily="18" charset="2"/>
              </a:rPr>
              <a:t></a:t>
            </a:r>
            <a:r>
              <a:rPr lang="en-US" altLang="zh-TW" dirty="0"/>
              <a:t> of </a:t>
            </a:r>
            <a:r>
              <a:rPr lang="en-US" altLang="zh-TW" i="1" dirty="0"/>
              <a:t>x</a:t>
            </a:r>
            <a:r>
              <a:rPr lang="en-US" altLang="zh-TW" baseline="-25000" dirty="0"/>
              <a:t> </a:t>
            </a:r>
            <a:r>
              <a:rPr lang="en-US" altLang="zh-TW" dirty="0">
                <a:sym typeface="Symbol" pitchFamily="18" charset="2"/>
              </a:rPr>
              <a:t>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b="1" i="1" dirty="0">
                <a:sym typeface="Symbol" pitchFamily="18" charset="2"/>
              </a:rPr>
              <a:t>R</a:t>
            </a:r>
            <a:r>
              <a:rPr lang="en-US" altLang="zh-TW" dirty="0">
                <a:sym typeface="Symbol" pitchFamily="18" charset="2"/>
              </a:rPr>
              <a:t> is the smallest integer  </a:t>
            </a:r>
            <a:r>
              <a:rPr lang="en-US" altLang="zh-TW" i="1" dirty="0">
                <a:sym typeface="Symbol" pitchFamily="18" charset="2"/>
              </a:rPr>
              <a:t>x</a:t>
            </a:r>
            <a:endParaRPr lang="en-US" altLang="zh-TW" dirty="0"/>
          </a:p>
          <a:p>
            <a:pPr eaLnBrk="1" hangingPunct="1"/>
            <a:r>
              <a:rPr lang="en-US" altLang="zh-TW" b="1" dirty="0"/>
              <a:t>Example</a:t>
            </a:r>
            <a:endParaRPr lang="en-US" altLang="zh-TW" dirty="0"/>
          </a:p>
          <a:p>
            <a:pPr lvl="1" eaLnBrk="1" hangingPunct="1"/>
            <a:r>
              <a:rPr lang="en-US" altLang="zh-TW" dirty="0">
                <a:sym typeface="Symbol" pitchFamily="18" charset="2"/>
              </a:rPr>
              <a:t></a:t>
            </a:r>
            <a:r>
              <a:rPr lang="en-US" altLang="zh-TW" i="1" dirty="0">
                <a:sym typeface="Symbol" pitchFamily="18" charset="2"/>
              </a:rPr>
              <a:t>e</a:t>
            </a:r>
            <a:r>
              <a:rPr lang="en-US" altLang="zh-TW" dirty="0">
                <a:sym typeface="Symbol" pitchFamily="18" charset="2"/>
              </a:rPr>
              <a:t>  =  2,  </a:t>
            </a:r>
            <a:r>
              <a:rPr lang="en-US" altLang="zh-TW" i="1" dirty="0">
                <a:sym typeface="Symbol" pitchFamily="18" charset="2"/>
              </a:rPr>
              <a:t>e</a:t>
            </a:r>
            <a:r>
              <a:rPr lang="en-US" altLang="zh-TW" dirty="0">
                <a:sym typeface="Symbol" pitchFamily="18" charset="2"/>
              </a:rPr>
              <a:t>  =  3,  -3.1416 = -4,  -3.1416 = -3</a:t>
            </a:r>
          </a:p>
          <a:p>
            <a:pPr eaLnBrk="1" hangingPunct="1"/>
            <a:r>
              <a:rPr lang="en-US" altLang="zh-TW" b="1" dirty="0"/>
              <a:t>Example</a:t>
            </a:r>
          </a:p>
          <a:p>
            <a:pPr lvl="1" eaLnBrk="1" hangingPunct="1">
              <a:buSzTx/>
              <a:buFont typeface="Wingdings" pitchFamily="2" charset="2"/>
              <a:buAutoNum type="arabicParenR"/>
            </a:pPr>
            <a:r>
              <a:rPr lang="en-US" altLang="zh-TW" dirty="0"/>
              <a:t> 25 = 3 </a:t>
            </a:r>
            <a:r>
              <a:rPr lang="en-US" altLang="zh-TW" dirty="0">
                <a:sym typeface="Symbol" pitchFamily="18" charset="2"/>
              </a:rPr>
              <a:t> 7 + 4  </a:t>
            </a:r>
            <a:r>
              <a:rPr lang="en-US" altLang="zh-TW" sz="2000" dirty="0">
                <a:sym typeface="Symbol" pitchFamily="18" charset="2"/>
              </a:rPr>
              <a:t>[</a:t>
            </a:r>
            <a:r>
              <a:rPr lang="en-US" altLang="zh-TW" sz="2000" dirty="0"/>
              <a:t>7: divisor,  3: quotient,  4: remainder]</a:t>
            </a:r>
          </a:p>
          <a:p>
            <a:pPr lvl="1" eaLnBrk="1" hangingPunct="1">
              <a:buSzTx/>
              <a:buFont typeface="Wingdings" pitchFamily="2" charset="2"/>
              <a:buAutoNum type="arabicParenR"/>
            </a:pPr>
            <a:r>
              <a:rPr lang="en-US" altLang="zh-TW" dirty="0"/>
              <a:t> 25 mod 7</a:t>
            </a:r>
            <a:r>
              <a:rPr lang="en-US" altLang="zh-TW" baseline="-25000" dirty="0"/>
              <a:t>  </a:t>
            </a:r>
            <a:r>
              <a:rPr lang="en-US" altLang="zh-TW" dirty="0"/>
              <a:t>=</a:t>
            </a:r>
            <a:r>
              <a:rPr lang="en-US" altLang="zh-TW" baseline="-25000" dirty="0"/>
              <a:t>  </a:t>
            </a:r>
            <a:r>
              <a:rPr lang="en-US" altLang="zh-TW" dirty="0"/>
              <a:t>25</a:t>
            </a:r>
            <a:r>
              <a:rPr lang="en-US" altLang="zh-TW" baseline="-25000" dirty="0"/>
              <a:t> </a:t>
            </a:r>
            <a:r>
              <a:rPr lang="en-US" altLang="zh-TW" dirty="0">
                <a:sym typeface="Symbol" pitchFamily="18" charset="2"/>
              </a:rPr>
              <a:t>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25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/</a:t>
            </a:r>
            <a:r>
              <a:rPr lang="en-US" altLang="zh-TW" dirty="0">
                <a:sym typeface="Symbol" pitchFamily="18" charset="2"/>
              </a:rPr>
              <a:t> 7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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7</a:t>
            </a:r>
            <a:r>
              <a:rPr lang="en-US" altLang="zh-TW" baseline="-25000" dirty="0">
                <a:sym typeface="Symbol" pitchFamily="18" charset="2"/>
              </a:rPr>
              <a:t>  </a:t>
            </a:r>
            <a:r>
              <a:rPr lang="en-US" altLang="zh-TW" dirty="0">
                <a:sym typeface="Symbol" pitchFamily="18" charset="2"/>
              </a:rPr>
              <a:t>=</a:t>
            </a:r>
            <a:r>
              <a:rPr lang="en-US" altLang="zh-TW" baseline="-25000" dirty="0">
                <a:sym typeface="Symbol" pitchFamily="18" charset="2"/>
              </a:rPr>
              <a:t>  </a:t>
            </a:r>
            <a:r>
              <a:rPr lang="en-US" altLang="zh-TW" dirty="0">
                <a:sym typeface="Symbol" pitchFamily="18" charset="2"/>
              </a:rPr>
              <a:t>25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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3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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7</a:t>
            </a:r>
            <a:r>
              <a:rPr lang="en-US" altLang="zh-TW" baseline="-25000" dirty="0">
                <a:sym typeface="Symbol" pitchFamily="18" charset="2"/>
              </a:rPr>
              <a:t>  </a:t>
            </a:r>
            <a:r>
              <a:rPr lang="en-US" altLang="zh-TW" dirty="0">
                <a:sym typeface="Symbol" pitchFamily="18" charset="2"/>
              </a:rPr>
              <a:t>=</a:t>
            </a:r>
            <a:r>
              <a:rPr lang="en-US" altLang="zh-TW" baseline="-25000" dirty="0">
                <a:sym typeface="Symbol" pitchFamily="18" charset="2"/>
              </a:rPr>
              <a:t>  </a:t>
            </a:r>
            <a:r>
              <a:rPr lang="en-US" altLang="zh-TW" dirty="0">
                <a:sym typeface="Symbol" pitchFamily="18" charset="2"/>
              </a:rPr>
              <a:t>25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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94FF9CB8-FDE0-48F1-9846-DDEB95AF055D}" type="slidenum">
              <a:rPr kumimoji="0" lang="en-US" altLang="zh-TW" smtClean="0"/>
              <a:pPr eaLnBrk="1" hangingPunct="1"/>
              <a:t>4</a:t>
            </a:fld>
            <a:endParaRPr kumimoji="0" lang="en-US" altLang="zh-TW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Modular Function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507413" cy="4733925"/>
          </a:xfrm>
        </p:spPr>
        <p:txBody>
          <a:bodyPr/>
          <a:lstStyle/>
          <a:p>
            <a:pPr eaLnBrk="1" hangingPunct="1"/>
            <a:r>
              <a:rPr lang="en-US" altLang="zh-TW" b="1" dirty="0"/>
              <a:t>Definition</a:t>
            </a:r>
            <a:r>
              <a:rPr lang="en-US" altLang="zh-TW" dirty="0"/>
              <a:t>	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i="1" dirty="0"/>
              <a:t>m</a:t>
            </a:r>
            <a:r>
              <a:rPr lang="en-US" altLang="zh-TW" dirty="0"/>
              <a:t>, </a:t>
            </a:r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en-US" altLang="zh-TW" dirty="0">
                <a:sym typeface="Symbol" pitchFamily="18" charset="2"/>
              </a:rPr>
              <a:t>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b="1" i="1" dirty="0">
                <a:sym typeface="Symbol" pitchFamily="18" charset="2"/>
              </a:rPr>
              <a:t>Z</a:t>
            </a:r>
            <a:r>
              <a:rPr lang="en-US" altLang="zh-TW" dirty="0">
                <a:sym typeface="Symbol" pitchFamily="18" charset="2"/>
              </a:rPr>
              <a:t>,  </a:t>
            </a:r>
            <a:r>
              <a:rPr lang="en-US" altLang="zh-TW" i="1" dirty="0">
                <a:sym typeface="Symbol" pitchFamily="18" charset="2"/>
              </a:rPr>
              <a:t>m</a:t>
            </a:r>
            <a:r>
              <a:rPr lang="en-US" altLang="zh-TW" dirty="0">
                <a:sym typeface="Symbol" pitchFamily="18" charset="2"/>
              </a:rPr>
              <a:t> &gt; 0,  define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b="1" i="1" dirty="0">
                <a:solidFill>
                  <a:srgbClr val="9900CC"/>
                </a:solidFill>
              </a:rPr>
              <a:t>n</a:t>
            </a:r>
            <a:r>
              <a:rPr lang="en-US" altLang="zh-TW" b="1" dirty="0">
                <a:solidFill>
                  <a:srgbClr val="9900CC"/>
                </a:solidFill>
              </a:rPr>
              <a:t>  mod  </a:t>
            </a:r>
            <a:r>
              <a:rPr lang="en-US" altLang="zh-TW" b="1" i="1" dirty="0">
                <a:solidFill>
                  <a:srgbClr val="9900CC"/>
                </a:solidFill>
              </a:rPr>
              <a:t>m</a:t>
            </a:r>
            <a:r>
              <a:rPr lang="en-US" altLang="zh-TW" dirty="0"/>
              <a:t>  =  </a:t>
            </a:r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en-US" altLang="zh-TW" dirty="0">
                <a:sym typeface="Symbol" pitchFamily="18" charset="2"/>
              </a:rPr>
              <a:t> </a:t>
            </a:r>
            <a:r>
              <a:rPr lang="en-US" altLang="zh-TW" i="1" dirty="0">
                <a:sym typeface="Symbol" pitchFamily="18" charset="2"/>
              </a:rPr>
              <a:t>n</a:t>
            </a:r>
            <a:r>
              <a:rPr lang="en-US" altLang="zh-TW" dirty="0">
                <a:sym typeface="Symbol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/</a:t>
            </a:r>
            <a:r>
              <a:rPr lang="en-US" altLang="zh-TW" dirty="0">
                <a:sym typeface="Symbol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m</a:t>
            </a:r>
            <a:r>
              <a:rPr lang="en-US" altLang="zh-TW" dirty="0">
                <a:sym typeface="Symbol" pitchFamily="18" charset="2"/>
              </a:rPr>
              <a:t>  </a:t>
            </a:r>
            <a:r>
              <a:rPr lang="en-US" altLang="zh-TW" i="1" dirty="0">
                <a:sym typeface="Symbol" pitchFamily="18" charset="2"/>
              </a:rPr>
              <a:t>m</a:t>
            </a:r>
            <a:r>
              <a:rPr lang="en-US" altLang="zh-TW" dirty="0">
                <a:sym typeface="Symbol" pitchFamily="18" charset="2"/>
              </a:rPr>
              <a:t> </a:t>
            </a:r>
          </a:p>
          <a:p>
            <a:pPr lvl="1" eaLnBrk="1" hangingPunct="1"/>
            <a:r>
              <a:rPr lang="en-US" altLang="zh-TW" sz="2200" dirty="0">
                <a:sym typeface="Symbol" pitchFamily="18" charset="2"/>
              </a:rPr>
              <a:t>i.e., the remainder after dividing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n</a:t>
            </a:r>
            <a:r>
              <a:rPr lang="en-US" altLang="zh-TW" sz="2200" i="1" baseline="-25000" dirty="0">
                <a:sym typeface="Symbol" pitchFamily="18" charset="2"/>
              </a:rPr>
              <a:t> 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by</a:t>
            </a:r>
            <a:r>
              <a:rPr lang="en-US" altLang="zh-TW" sz="2200" baseline="-25000" dirty="0">
                <a:sym typeface="Symbol" pitchFamily="18" charset="2"/>
              </a:rPr>
              <a:t>  </a:t>
            </a:r>
            <a:r>
              <a:rPr lang="en-US" altLang="zh-TW" sz="2200" i="1" dirty="0">
                <a:sym typeface="Symbol" pitchFamily="18" charset="2"/>
              </a:rPr>
              <a:t>m</a:t>
            </a:r>
            <a:r>
              <a:rPr lang="en-US" altLang="zh-TW" sz="2200" dirty="0">
                <a:sym typeface="Symbol" pitchFamily="18" charset="2"/>
              </a:rPr>
              <a:t>, which is</a:t>
            </a:r>
            <a:r>
              <a:rPr lang="en-US" altLang="zh-TW" sz="2200" baseline="-25000" dirty="0">
                <a:sym typeface="Symbol" pitchFamily="18" charset="2"/>
              </a:rPr>
              <a:t>  </a:t>
            </a:r>
            <a:r>
              <a:rPr lang="en-US" altLang="zh-TW" sz="2200" dirty="0">
                <a:sym typeface="Symbol" pitchFamily="18" charset="2"/>
              </a:rPr>
              <a:t>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0</a:t>
            </a:r>
            <a:r>
              <a:rPr lang="en-US" altLang="zh-TW" sz="2200" baseline="-25000" dirty="0">
                <a:sym typeface="Symbol" pitchFamily="18" charset="2"/>
              </a:rPr>
              <a:t>  </a:t>
            </a:r>
            <a:r>
              <a:rPr lang="en-US" altLang="zh-TW" sz="2200" dirty="0">
                <a:sym typeface="Symbol" pitchFamily="18" charset="2"/>
              </a:rPr>
              <a:t>and</a:t>
            </a:r>
            <a:r>
              <a:rPr lang="en-US" altLang="zh-TW" sz="2200" baseline="-25000" dirty="0">
                <a:sym typeface="Symbol" pitchFamily="18" charset="2"/>
              </a:rPr>
              <a:t>  </a:t>
            </a:r>
            <a:r>
              <a:rPr lang="en-US" altLang="zh-TW" sz="2200" dirty="0">
                <a:sym typeface="Symbol" pitchFamily="18" charset="2"/>
              </a:rPr>
              <a:t>&lt;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m</a:t>
            </a:r>
          </a:p>
          <a:p>
            <a:pPr eaLnBrk="1" hangingPunct="1"/>
            <a:r>
              <a:rPr lang="en-US" altLang="zh-TW" b="1" dirty="0"/>
              <a:t>Example</a:t>
            </a:r>
            <a:r>
              <a:rPr lang="en-US" altLang="zh-TW" dirty="0"/>
              <a:t>  </a:t>
            </a:r>
            <a:r>
              <a:rPr lang="en-US" altLang="zh-TW" sz="2600" dirty="0"/>
              <a:t>58 in the base 3 representation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200" i="1" dirty="0"/>
              <a:t>	a</a:t>
            </a:r>
            <a:r>
              <a:rPr lang="en-US" altLang="zh-TW" sz="2200" baseline="-25000" dirty="0"/>
              <a:t>0  </a:t>
            </a:r>
            <a:r>
              <a:rPr lang="en-US" altLang="zh-TW" sz="2200" dirty="0"/>
              <a:t>=  58 mod 3 = 1		19 = </a:t>
            </a:r>
            <a:r>
              <a:rPr lang="en-US" altLang="zh-TW" sz="2200" dirty="0">
                <a:sym typeface="Symbol" pitchFamily="18" charset="2"/>
              </a:rPr>
              <a:t>58 / 3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200" i="1" dirty="0"/>
              <a:t>	a</a:t>
            </a:r>
            <a:r>
              <a:rPr lang="en-US" altLang="zh-TW" sz="2200" baseline="-25000" dirty="0"/>
              <a:t>1  </a:t>
            </a:r>
            <a:r>
              <a:rPr lang="en-US" altLang="zh-TW" sz="2200" dirty="0"/>
              <a:t>=  19 mod 3 = 1		  6 = </a:t>
            </a:r>
            <a:r>
              <a:rPr lang="en-US" altLang="zh-TW" sz="2200" dirty="0">
                <a:sym typeface="Symbol" pitchFamily="18" charset="2"/>
              </a:rPr>
              <a:t>19 / 3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200" i="1" dirty="0"/>
              <a:t>	a</a:t>
            </a:r>
            <a:r>
              <a:rPr lang="en-US" altLang="zh-TW" sz="2200" baseline="-25000" dirty="0"/>
              <a:t>2  </a:t>
            </a:r>
            <a:r>
              <a:rPr lang="en-US" altLang="zh-TW" sz="2200" dirty="0"/>
              <a:t>=  6 mod 3  =  0		  2 = </a:t>
            </a:r>
            <a:r>
              <a:rPr lang="en-US" altLang="zh-TW" sz="2200" dirty="0">
                <a:sym typeface="Symbol" pitchFamily="18" charset="2"/>
              </a:rPr>
              <a:t>6 / 3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200" i="1" dirty="0"/>
              <a:t>	a</a:t>
            </a:r>
            <a:r>
              <a:rPr lang="en-US" altLang="zh-TW" sz="2200" baseline="-25000" dirty="0"/>
              <a:t>3  </a:t>
            </a:r>
            <a:r>
              <a:rPr lang="en-US" altLang="zh-TW" sz="2200" dirty="0"/>
              <a:t>=  2 mod 3  =  2		  0 = </a:t>
            </a:r>
            <a:r>
              <a:rPr lang="en-US" altLang="zh-TW" sz="2200" dirty="0">
                <a:sym typeface="Symbol" pitchFamily="18" charset="2"/>
              </a:rPr>
              <a:t>2 / 3</a:t>
            </a:r>
            <a:endParaRPr lang="en-US" altLang="zh-TW" sz="2200" b="1" dirty="0"/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200" dirty="0"/>
              <a:t>	(2011)</a:t>
            </a:r>
            <a:r>
              <a:rPr lang="en-US" altLang="zh-TW" sz="2200" baseline="-25000" dirty="0"/>
              <a:t>3  </a:t>
            </a:r>
            <a:r>
              <a:rPr lang="en-US" altLang="zh-TW" sz="2200" dirty="0"/>
              <a:t>=  2</a:t>
            </a:r>
            <a:r>
              <a:rPr lang="en-US" altLang="zh-TW" sz="2200" dirty="0">
                <a:sym typeface="Symbol" pitchFamily="18" charset="2"/>
              </a:rPr>
              <a:t>3</a:t>
            </a:r>
            <a:r>
              <a:rPr lang="en-US" altLang="zh-TW" sz="2200" baseline="30000" dirty="0">
                <a:sym typeface="Symbol" pitchFamily="18" charset="2"/>
              </a:rPr>
              <a:t>3</a:t>
            </a:r>
            <a:r>
              <a:rPr lang="en-US" altLang="zh-TW" sz="2200" dirty="0">
                <a:sym typeface="Symbol" pitchFamily="18" charset="2"/>
              </a:rPr>
              <a:t> + 03</a:t>
            </a:r>
            <a:r>
              <a:rPr lang="en-US" altLang="zh-TW" sz="2200" baseline="30000" dirty="0">
                <a:sym typeface="Symbol" pitchFamily="18" charset="2"/>
              </a:rPr>
              <a:t>2</a:t>
            </a:r>
            <a:r>
              <a:rPr lang="en-US" altLang="zh-TW" sz="2200" dirty="0">
                <a:sym typeface="Symbol" pitchFamily="18" charset="2"/>
              </a:rPr>
              <a:t> + 13</a:t>
            </a:r>
            <a:r>
              <a:rPr lang="en-US" altLang="zh-TW" sz="2200" baseline="30000" dirty="0">
                <a:sym typeface="Symbol" pitchFamily="18" charset="2"/>
              </a:rPr>
              <a:t>1</a:t>
            </a:r>
            <a:r>
              <a:rPr lang="en-US" altLang="zh-TW" sz="2200" dirty="0">
                <a:sym typeface="Symbol" pitchFamily="18" charset="2"/>
              </a:rPr>
              <a:t> + 13</a:t>
            </a:r>
            <a:r>
              <a:rPr lang="en-US" altLang="zh-TW" sz="2200" baseline="30000" dirty="0">
                <a:sym typeface="Symbol" pitchFamily="18" charset="2"/>
              </a:rPr>
              <a:t>0</a:t>
            </a:r>
            <a:r>
              <a:rPr lang="en-US" altLang="zh-TW" sz="2200" dirty="0">
                <a:sym typeface="Symbol" pitchFamily="18" charset="2"/>
              </a:rPr>
              <a:t>  =  58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投影片編號版面配置區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C32D7A33-BC43-4591-A250-31497F8E1A3B}" type="slidenum">
              <a:rPr kumimoji="0" lang="en-US" altLang="zh-TW" smtClean="0"/>
              <a:pPr eaLnBrk="1" hangingPunct="1"/>
              <a:t>5</a:t>
            </a:fld>
            <a:endParaRPr kumimoji="0" lang="en-US" altLang="zh-TW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Cayley Tables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zh-TW" b="1"/>
              <a:t>Example</a:t>
            </a:r>
            <a:endParaRPr lang="en-US" altLang="zh-TW"/>
          </a:p>
          <a:p>
            <a:pPr eaLnBrk="1" hangingPunct="1">
              <a:buFont typeface="Wingdings" pitchFamily="2" charset="2"/>
              <a:buNone/>
            </a:pPr>
            <a:r>
              <a:rPr lang="en-US" altLang="zh-TW"/>
              <a:t>	Define </a:t>
            </a:r>
            <a:r>
              <a:rPr lang="en-US" altLang="zh-TW">
                <a:sym typeface="Symbol" pitchFamily="18" charset="2"/>
              </a:rPr>
              <a:t></a:t>
            </a:r>
            <a:r>
              <a:rPr lang="en-US" altLang="zh-TW"/>
              <a:t> and </a:t>
            </a:r>
            <a:r>
              <a:rPr lang="en-US" altLang="zh-TW">
                <a:sym typeface="Symbol" pitchFamily="18" charset="2"/>
              </a:rPr>
              <a:t></a:t>
            </a:r>
            <a:r>
              <a:rPr lang="en-US" altLang="zh-TW"/>
              <a:t> on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/>
              <a:t>	</a:t>
            </a:r>
            <a:r>
              <a:rPr lang="en-US" altLang="zh-TW" b="1" i="1"/>
              <a:t>Z</a:t>
            </a:r>
            <a:r>
              <a:rPr lang="en-US" altLang="zh-TW" baseline="-25000"/>
              <a:t>6</a:t>
            </a:r>
            <a:r>
              <a:rPr lang="en-US" altLang="zh-TW"/>
              <a:t> = {</a:t>
            </a:r>
            <a:r>
              <a:rPr lang="en-US" altLang="zh-TW" sz="2400"/>
              <a:t>0, 1, 2, 3, 4, 5</a:t>
            </a:r>
            <a:r>
              <a:rPr lang="en-US" altLang="zh-TW"/>
              <a:t>} as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/>
              <a:t>	</a:t>
            </a:r>
            <a:r>
              <a:rPr lang="en-US" altLang="zh-TW" sz="2900" i="1"/>
              <a:t>a</a:t>
            </a:r>
            <a:r>
              <a:rPr lang="en-US" altLang="zh-TW" sz="2900"/>
              <a:t> </a:t>
            </a:r>
            <a:r>
              <a:rPr lang="en-US" altLang="zh-TW" sz="2900">
                <a:sym typeface="Symbol" pitchFamily="18" charset="2"/>
              </a:rPr>
              <a:t> </a:t>
            </a:r>
            <a:r>
              <a:rPr lang="en-US" altLang="zh-TW" sz="2900" i="1">
                <a:sym typeface="Symbol" pitchFamily="18" charset="2"/>
              </a:rPr>
              <a:t>b</a:t>
            </a:r>
            <a:r>
              <a:rPr lang="en-US" altLang="zh-TW" sz="2900">
                <a:sym typeface="Symbol" pitchFamily="18" charset="2"/>
              </a:rPr>
              <a:t> = (</a:t>
            </a:r>
            <a:r>
              <a:rPr lang="en-US" altLang="zh-TW" sz="2900" i="1">
                <a:sym typeface="Symbol" pitchFamily="18" charset="2"/>
              </a:rPr>
              <a:t>a</a:t>
            </a:r>
            <a:r>
              <a:rPr lang="en-US" altLang="zh-TW" sz="2900">
                <a:sym typeface="Symbol" pitchFamily="18" charset="2"/>
              </a:rPr>
              <a:t> + </a:t>
            </a:r>
            <a:r>
              <a:rPr lang="en-US" altLang="zh-TW" sz="2900" i="1">
                <a:sym typeface="Symbol" pitchFamily="18" charset="2"/>
              </a:rPr>
              <a:t>b</a:t>
            </a:r>
            <a:r>
              <a:rPr lang="en-US" altLang="zh-TW" sz="2900">
                <a:sym typeface="Symbol" pitchFamily="18" charset="2"/>
              </a:rPr>
              <a:t>) mod 6</a:t>
            </a:r>
            <a:endParaRPr lang="en-US" altLang="zh-TW" sz="2900"/>
          </a:p>
          <a:p>
            <a:pPr eaLnBrk="1" hangingPunct="1">
              <a:buFont typeface="Wingdings" pitchFamily="2" charset="2"/>
              <a:buNone/>
            </a:pPr>
            <a:r>
              <a:rPr lang="en-US" altLang="zh-TW" sz="2900"/>
              <a:t>	</a:t>
            </a:r>
            <a:r>
              <a:rPr lang="en-US" altLang="zh-TW" sz="2900" i="1"/>
              <a:t>a</a:t>
            </a:r>
            <a:r>
              <a:rPr lang="en-US" altLang="zh-TW" sz="2900"/>
              <a:t> </a:t>
            </a:r>
            <a:r>
              <a:rPr lang="en-US" altLang="zh-TW" sz="2900">
                <a:sym typeface="Symbol" pitchFamily="18" charset="2"/>
              </a:rPr>
              <a:t> </a:t>
            </a:r>
            <a:r>
              <a:rPr lang="en-US" altLang="zh-TW" sz="2900" i="1">
                <a:sym typeface="Symbol" pitchFamily="18" charset="2"/>
              </a:rPr>
              <a:t>b</a:t>
            </a:r>
            <a:r>
              <a:rPr lang="en-US" altLang="zh-TW" sz="2900">
                <a:sym typeface="Symbol" pitchFamily="18" charset="2"/>
              </a:rPr>
              <a:t> = (</a:t>
            </a:r>
            <a:r>
              <a:rPr lang="en-US" altLang="zh-TW" sz="2900" i="1">
                <a:sym typeface="Symbol" pitchFamily="18" charset="2"/>
              </a:rPr>
              <a:t>a</a:t>
            </a:r>
            <a:r>
              <a:rPr lang="en-US" altLang="zh-TW" sz="2900">
                <a:sym typeface="Symbol" pitchFamily="18" charset="2"/>
              </a:rPr>
              <a:t>  </a:t>
            </a:r>
            <a:r>
              <a:rPr lang="en-US" altLang="zh-TW" sz="2900" i="1">
                <a:sym typeface="Symbol" pitchFamily="18" charset="2"/>
              </a:rPr>
              <a:t>b</a:t>
            </a:r>
            <a:r>
              <a:rPr lang="en-US" altLang="zh-TW" sz="2900">
                <a:sym typeface="Symbol" pitchFamily="18" charset="2"/>
              </a:rPr>
              <a:t>) mod 6</a:t>
            </a:r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Is </a:t>
            </a:r>
            <a:r>
              <a:rPr lang="en-US" altLang="zh-TW" b="1" i="1"/>
              <a:t>Z</a:t>
            </a:r>
            <a:r>
              <a:rPr lang="en-US" altLang="zh-TW" baseline="-25000"/>
              <a:t>6</a:t>
            </a:r>
            <a:r>
              <a:rPr lang="en-US" altLang="zh-TW"/>
              <a:t> a field? </a:t>
            </a:r>
          </a:p>
        </p:txBody>
      </p:sp>
      <p:graphicFrame>
        <p:nvGraphicFramePr>
          <p:cNvPr id="115832" name="Group 120"/>
          <p:cNvGraphicFramePr>
            <a:graphicFrameLocks noGrp="1"/>
          </p:cNvGraphicFramePr>
          <p:nvPr>
            <p:ph sz="quarter" idx="2"/>
          </p:nvPr>
        </p:nvGraphicFramePr>
        <p:xfrm>
          <a:off x="4648200" y="1719263"/>
          <a:ext cx="4038600" cy="2133600"/>
        </p:xfrm>
        <a:graphic>
          <a:graphicData uri="http://schemas.openxmlformats.org/drawingml/2006/table">
            <a:tbl>
              <a:tblPr/>
              <a:tblGrid>
                <a:gridCol w="576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sym typeface="Symbol" pitchFamily="18" charset="2"/>
                        </a:rPr>
                        <a:t>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5833" name="Group 121"/>
          <p:cNvGraphicFramePr>
            <a:graphicFrameLocks noGrp="1"/>
          </p:cNvGraphicFramePr>
          <p:nvPr>
            <p:ph sz="quarter" idx="3"/>
          </p:nvPr>
        </p:nvGraphicFramePr>
        <p:xfrm>
          <a:off x="4648200" y="4000500"/>
          <a:ext cx="4038600" cy="2133600"/>
        </p:xfrm>
        <a:graphic>
          <a:graphicData uri="http://schemas.openxmlformats.org/drawingml/2006/table">
            <a:tbl>
              <a:tblPr/>
              <a:tblGrid>
                <a:gridCol w="57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sym typeface="Symbol" pitchFamily="18" charset="2"/>
                        </a:rPr>
                        <a:t></a:t>
                      </a:r>
                      <a:r>
                        <a:rPr kumimoji="1" lang="zh-TW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　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15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1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B52EF3B2-7109-4600-B6AA-E6FF86D63651}" type="slidenum">
              <a:rPr kumimoji="0" lang="en-US" altLang="zh-TW" smtClean="0"/>
              <a:pPr eaLnBrk="1" hangingPunct="1"/>
              <a:t>6</a:t>
            </a:fld>
            <a:endParaRPr kumimoji="0" lang="en-US" altLang="zh-TW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Arithmetic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Modular Function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b="1" dirty="0"/>
              <a:t>GCD and Euclidean Algorithm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Extended GCD Algorithm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Fundamental Theorem of Arithmetic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Modular Arithmetic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Chinese Remainder Theorem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Theorems of Fermat and Euler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277DAB11-DB76-4B23-BBB4-B43140E41875}" type="slidenum">
              <a:rPr kumimoji="0" lang="en-US" altLang="zh-TW" smtClean="0"/>
              <a:pPr eaLnBrk="1" hangingPunct="1"/>
              <a:t>7</a:t>
            </a:fld>
            <a:endParaRPr kumimoji="0" lang="en-US" altLang="zh-TW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zh-TW" sz="4000"/>
              <a:t>Greatest Common Divisor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91264" cy="4805362"/>
          </a:xfrm>
        </p:spPr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en-US" altLang="zh-TW" sz="2200" dirty="0"/>
              <a:t>Assume</a:t>
            </a:r>
            <a:r>
              <a:rPr lang="en-US" altLang="zh-TW" sz="2200" i="1" dirty="0"/>
              <a:t>  a</a:t>
            </a:r>
            <a:r>
              <a:rPr lang="en-US" altLang="zh-TW" sz="2200" dirty="0"/>
              <a:t>, </a:t>
            </a:r>
            <a:r>
              <a:rPr lang="en-US" altLang="zh-TW" sz="2200" i="1" dirty="0"/>
              <a:t>b</a:t>
            </a:r>
            <a:r>
              <a:rPr lang="en-US" altLang="zh-TW" sz="2200" dirty="0"/>
              <a:t> </a:t>
            </a:r>
            <a:r>
              <a:rPr lang="en-US" altLang="zh-TW" sz="2200" dirty="0">
                <a:sym typeface="Symbol" pitchFamily="18" charset="2"/>
              </a:rPr>
              <a:t>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b="1" i="1" dirty="0">
                <a:sym typeface="Symbol" pitchFamily="18" charset="2"/>
              </a:rPr>
              <a:t>Z</a:t>
            </a:r>
            <a:r>
              <a:rPr lang="en-US" altLang="zh-TW" sz="2200" dirty="0">
                <a:sym typeface="Symbol" pitchFamily="18" charset="2"/>
              </a:rPr>
              <a:t>, 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  0  or  </a:t>
            </a:r>
            <a:r>
              <a:rPr lang="en-US" altLang="zh-TW" sz="2200" i="1" dirty="0">
                <a:sym typeface="Symbol" pitchFamily="18" charset="2"/>
              </a:rPr>
              <a:t>b</a:t>
            </a:r>
            <a:r>
              <a:rPr lang="en-US" altLang="zh-TW" sz="2200" dirty="0">
                <a:sym typeface="Symbol" pitchFamily="18" charset="2"/>
              </a:rPr>
              <a:t> </a:t>
            </a:r>
            <a:r>
              <a:rPr lang="en-US" altLang="zh-TW" sz="2200" dirty="0"/>
              <a:t> 0</a:t>
            </a:r>
          </a:p>
          <a:p>
            <a:pPr lvl="1" eaLnBrk="1" hangingPunct="1">
              <a:lnSpc>
                <a:spcPct val="95000"/>
              </a:lnSpc>
            </a:pPr>
            <a:r>
              <a:rPr lang="en-US" altLang="zh-TW" sz="2200" b="1" dirty="0"/>
              <a:t>Definition</a:t>
            </a:r>
            <a:r>
              <a:rPr lang="en-US" altLang="zh-TW" sz="2200" dirty="0"/>
              <a:t>  </a:t>
            </a:r>
            <a:r>
              <a:rPr lang="en-US" altLang="zh-TW" sz="2200" i="1" dirty="0"/>
              <a:t>d</a:t>
            </a:r>
            <a:r>
              <a:rPr lang="en-US" altLang="zh-TW" sz="2200" dirty="0"/>
              <a:t> </a:t>
            </a:r>
            <a:r>
              <a:rPr lang="en-US" altLang="zh-TW" sz="2200" dirty="0">
                <a:sym typeface="Symbol" pitchFamily="18" charset="2"/>
              </a:rPr>
              <a:t> 0  </a:t>
            </a:r>
            <a:r>
              <a:rPr lang="en-US" altLang="zh-TW" sz="2200" dirty="0"/>
              <a:t>is a </a:t>
            </a:r>
            <a:r>
              <a:rPr lang="en-US" altLang="zh-TW" sz="2200" b="1" dirty="0">
                <a:solidFill>
                  <a:srgbClr val="9900CC"/>
                </a:solidFill>
              </a:rPr>
              <a:t>common divisor</a:t>
            </a:r>
            <a:r>
              <a:rPr lang="en-US" altLang="zh-TW" sz="2200" dirty="0"/>
              <a:t> of</a:t>
            </a:r>
            <a:r>
              <a:rPr lang="en-US" altLang="zh-TW" sz="2200" baseline="-25000" dirty="0"/>
              <a:t>  </a:t>
            </a:r>
            <a:r>
              <a:rPr lang="en-US" altLang="zh-TW" sz="2200" i="1" dirty="0"/>
              <a:t>a</a:t>
            </a:r>
            <a:r>
              <a:rPr lang="en-US" altLang="zh-TW" sz="2200" baseline="-25000" dirty="0"/>
              <a:t>  </a:t>
            </a:r>
            <a:r>
              <a:rPr lang="en-US" altLang="zh-TW" sz="2200" dirty="0"/>
              <a:t>and</a:t>
            </a:r>
            <a:r>
              <a:rPr lang="en-US" altLang="zh-TW" sz="2200" baseline="-25000" dirty="0"/>
              <a:t>  </a:t>
            </a:r>
            <a:r>
              <a:rPr lang="en-US" altLang="zh-TW" sz="2200" i="1" dirty="0"/>
              <a:t>b</a:t>
            </a:r>
            <a:r>
              <a:rPr lang="en-US" altLang="zh-TW" sz="2200" baseline="-25000" dirty="0"/>
              <a:t>  </a:t>
            </a:r>
            <a:r>
              <a:rPr lang="en-US" altLang="zh-TW" sz="2200" dirty="0"/>
              <a:t>if  </a:t>
            </a:r>
            <a:r>
              <a:rPr lang="en-US" altLang="zh-TW" sz="2200" i="1" dirty="0"/>
              <a:t>d</a:t>
            </a:r>
            <a:r>
              <a:rPr lang="en-US" altLang="zh-TW" sz="2200" dirty="0"/>
              <a:t> | </a:t>
            </a:r>
            <a:r>
              <a:rPr lang="en-US" altLang="zh-TW" sz="2200" i="1" dirty="0"/>
              <a:t>a</a:t>
            </a:r>
            <a:r>
              <a:rPr lang="en-US" altLang="zh-TW" sz="2200" dirty="0"/>
              <a:t>  and  </a:t>
            </a:r>
            <a:r>
              <a:rPr lang="en-US" altLang="zh-TW" sz="2200" i="1" dirty="0"/>
              <a:t>d</a:t>
            </a:r>
            <a:r>
              <a:rPr lang="en-US" altLang="zh-TW" sz="2200" dirty="0"/>
              <a:t> | </a:t>
            </a:r>
            <a:r>
              <a:rPr lang="en-US" altLang="zh-TW" sz="2200" i="1" dirty="0"/>
              <a:t>b</a:t>
            </a:r>
          </a:p>
          <a:p>
            <a:pPr lvl="1" eaLnBrk="1" hangingPunct="1">
              <a:lnSpc>
                <a:spcPct val="95000"/>
              </a:lnSpc>
            </a:pPr>
            <a:r>
              <a:rPr lang="en-US" altLang="zh-TW" sz="2200" b="1" dirty="0"/>
              <a:t>Definition</a:t>
            </a:r>
            <a:r>
              <a:rPr lang="en-US" altLang="zh-TW" sz="2200" dirty="0"/>
              <a:t>  The </a:t>
            </a:r>
            <a:r>
              <a:rPr lang="en-US" altLang="zh-TW" sz="2200" b="1" dirty="0">
                <a:solidFill>
                  <a:srgbClr val="9900CC"/>
                </a:solidFill>
              </a:rPr>
              <a:t>greatest common divisor</a:t>
            </a:r>
            <a:r>
              <a:rPr lang="en-US" altLang="zh-TW" sz="2200" dirty="0"/>
              <a:t>  </a:t>
            </a:r>
            <a:r>
              <a:rPr lang="en-US" altLang="zh-TW" sz="2200" i="1" dirty="0"/>
              <a:t>d</a:t>
            </a:r>
            <a:r>
              <a:rPr lang="en-US" altLang="zh-TW" sz="2200" dirty="0"/>
              <a:t> = </a:t>
            </a:r>
            <a:r>
              <a:rPr lang="en-US" altLang="zh-TW" sz="2200" dirty="0" err="1"/>
              <a:t>gcd</a:t>
            </a:r>
            <a:r>
              <a:rPr lang="en-US" altLang="zh-TW" sz="2200" baseline="-25000" dirty="0"/>
              <a:t> </a:t>
            </a:r>
            <a:r>
              <a:rPr lang="en-US" altLang="zh-TW" sz="2200" dirty="0"/>
              <a:t>(</a:t>
            </a:r>
            <a:r>
              <a:rPr lang="en-US" altLang="zh-TW" sz="2200" i="1" dirty="0"/>
              <a:t>a</a:t>
            </a:r>
            <a:r>
              <a:rPr lang="en-US" altLang="zh-TW" sz="2200" dirty="0"/>
              <a:t>, </a:t>
            </a:r>
            <a:r>
              <a:rPr lang="en-US" altLang="zh-TW" sz="2200" i="1" dirty="0"/>
              <a:t>b</a:t>
            </a:r>
            <a:r>
              <a:rPr lang="en-US" altLang="zh-TW" sz="2200" dirty="0"/>
              <a:t>)  is the largest of the common divisors</a:t>
            </a:r>
          </a:p>
          <a:p>
            <a:pPr eaLnBrk="1" hangingPunct="1">
              <a:lnSpc>
                <a:spcPct val="95000"/>
              </a:lnSpc>
            </a:pPr>
            <a:r>
              <a:rPr lang="en-US" altLang="zh-TW" sz="2600" b="1" dirty="0"/>
              <a:t>Example	</a:t>
            </a:r>
            <a:r>
              <a:rPr lang="en-US" altLang="zh-TW" sz="2000" dirty="0"/>
              <a:t>Divisors of 20</a:t>
            </a:r>
            <a:r>
              <a:rPr lang="zh-TW" altLang="en-US" sz="2000" dirty="0"/>
              <a:t>：</a:t>
            </a:r>
            <a:r>
              <a:rPr lang="zh-TW" altLang="en-US" sz="2000" dirty="0">
                <a:sym typeface="Symbol" pitchFamily="18" charset="2"/>
              </a:rPr>
              <a:t></a:t>
            </a:r>
            <a:r>
              <a:rPr lang="en-US" altLang="zh-TW" sz="2000" dirty="0">
                <a:sym typeface="Symbol" pitchFamily="18" charset="2"/>
              </a:rPr>
              <a:t>1, 2, 4, 5, 10, 20</a:t>
            </a:r>
          </a:p>
          <a:p>
            <a:pPr lvl="1" eaLnBrk="1" hangingPunct="1">
              <a:lnSpc>
                <a:spcPct val="95000"/>
              </a:lnSpc>
              <a:buFont typeface="Wingdings" pitchFamily="2" charset="2"/>
              <a:buNone/>
            </a:pPr>
            <a:r>
              <a:rPr lang="en-US" altLang="zh-TW" sz="2000" dirty="0"/>
              <a:t>			Divisors of 16</a:t>
            </a:r>
            <a:r>
              <a:rPr lang="zh-TW" altLang="en-US" sz="2000" dirty="0"/>
              <a:t>：</a:t>
            </a:r>
            <a:r>
              <a:rPr lang="zh-TW" altLang="en-US" sz="2000" dirty="0">
                <a:sym typeface="Symbol" pitchFamily="18" charset="2"/>
              </a:rPr>
              <a:t></a:t>
            </a:r>
            <a:r>
              <a:rPr lang="en-US" altLang="zh-TW" sz="2000" dirty="0">
                <a:sym typeface="Symbol" pitchFamily="18" charset="2"/>
              </a:rPr>
              <a:t>1, 2, 4, 8, 16</a:t>
            </a:r>
            <a:r>
              <a:rPr lang="en-US" altLang="zh-TW" sz="2000" baseline="-25000" dirty="0">
                <a:sym typeface="Symbol" pitchFamily="18" charset="2"/>
              </a:rPr>
              <a:t>   </a:t>
            </a:r>
            <a:r>
              <a:rPr lang="en-US" altLang="zh-TW" sz="2000" dirty="0">
                <a:sym typeface="Symbol" pitchFamily="18" charset="2"/>
              </a:rPr>
              <a:t></a:t>
            </a:r>
            <a:r>
              <a:rPr lang="en-US" altLang="zh-TW" sz="2000" baseline="-25000" dirty="0">
                <a:sym typeface="Symbol" pitchFamily="18" charset="2"/>
              </a:rPr>
              <a:t>  </a:t>
            </a:r>
            <a:r>
              <a:rPr lang="en-US" altLang="zh-TW" sz="2000" dirty="0">
                <a:sym typeface="Symbol" pitchFamily="18" charset="2"/>
              </a:rPr>
              <a:t> </a:t>
            </a:r>
            <a:r>
              <a:rPr lang="en-US" altLang="zh-TW" sz="2000" dirty="0" err="1"/>
              <a:t>gcd</a:t>
            </a:r>
            <a:r>
              <a:rPr lang="en-US" altLang="zh-TW" sz="2000" baseline="-25000" dirty="0"/>
              <a:t> </a:t>
            </a:r>
            <a:r>
              <a:rPr lang="en-US" altLang="zh-TW" sz="2000" dirty="0"/>
              <a:t>(20, 16) = 4</a:t>
            </a:r>
          </a:p>
          <a:p>
            <a:pPr eaLnBrk="1" hangingPunct="1">
              <a:lnSpc>
                <a:spcPct val="95000"/>
              </a:lnSpc>
            </a:pPr>
            <a:r>
              <a:rPr lang="en-US" altLang="zh-TW" sz="2600" b="1" dirty="0"/>
              <a:t>Proposition</a:t>
            </a:r>
            <a:r>
              <a:rPr lang="en-US" altLang="zh-TW" sz="2600" dirty="0"/>
              <a:t>  </a:t>
            </a:r>
            <a:r>
              <a:rPr lang="en-US" altLang="zh-TW" sz="2200" i="1" dirty="0"/>
              <a:t>a</a:t>
            </a:r>
            <a:r>
              <a:rPr lang="en-US" altLang="zh-TW" sz="2200" dirty="0"/>
              <a:t> </a:t>
            </a:r>
            <a:r>
              <a:rPr lang="en-US" altLang="zh-TW" sz="2200" dirty="0">
                <a:sym typeface="Symbol" pitchFamily="18" charset="2"/>
              </a:rPr>
              <a:t>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b="1" i="1" dirty="0">
                <a:sym typeface="Symbol" pitchFamily="18" charset="2"/>
              </a:rPr>
              <a:t>P</a:t>
            </a:r>
            <a:r>
              <a:rPr lang="en-US" altLang="zh-TW" sz="2600" dirty="0"/>
              <a:t>  </a:t>
            </a:r>
            <a:r>
              <a:rPr lang="en-US" altLang="zh-TW" sz="2000" dirty="0"/>
              <a:t>(positive integer)</a:t>
            </a:r>
          </a:p>
          <a:p>
            <a:pPr lvl="1" eaLnBrk="1" hangingPunct="1">
              <a:lnSpc>
                <a:spcPct val="95000"/>
              </a:lnSpc>
              <a:buFont typeface="Wingdings" pitchFamily="2" charset="2"/>
              <a:buNone/>
            </a:pPr>
            <a:r>
              <a:rPr lang="en-US" altLang="zh-TW" sz="2200" dirty="0">
                <a:solidFill>
                  <a:srgbClr val="0066CC"/>
                </a:solidFill>
                <a:cs typeface="Arial" charset="0"/>
              </a:rPr>
              <a:t>• </a:t>
            </a:r>
            <a:r>
              <a:rPr lang="en-US" altLang="zh-TW" sz="2200" dirty="0" err="1"/>
              <a:t>gcd</a:t>
            </a:r>
            <a:r>
              <a:rPr lang="en-US" altLang="zh-TW" sz="2200" baseline="-25000" dirty="0"/>
              <a:t> </a:t>
            </a:r>
            <a:r>
              <a:rPr lang="en-US" altLang="zh-TW" sz="2200" dirty="0"/>
              <a:t>(</a:t>
            </a:r>
            <a:r>
              <a:rPr lang="en-US" altLang="zh-TW" sz="2200" i="1" dirty="0"/>
              <a:t>a</a:t>
            </a:r>
            <a:r>
              <a:rPr lang="en-US" altLang="zh-TW" sz="2200" dirty="0"/>
              <a:t>, </a:t>
            </a:r>
            <a:r>
              <a:rPr lang="en-US" altLang="zh-TW" sz="2200" i="1" dirty="0"/>
              <a:t>a</a:t>
            </a:r>
            <a:r>
              <a:rPr lang="en-US" altLang="zh-TW" sz="2200" dirty="0"/>
              <a:t>) = </a:t>
            </a:r>
            <a:r>
              <a:rPr lang="en-US" altLang="zh-TW" sz="2200" i="1" dirty="0"/>
              <a:t>a</a:t>
            </a:r>
            <a:r>
              <a:rPr lang="en-US" altLang="zh-TW" sz="2200" dirty="0"/>
              <a:t>   		</a:t>
            </a:r>
            <a:r>
              <a:rPr lang="en-US" altLang="zh-TW" sz="2200" dirty="0">
                <a:solidFill>
                  <a:srgbClr val="0066CC"/>
                </a:solidFill>
                <a:cs typeface="Arial" charset="0"/>
              </a:rPr>
              <a:t>• </a:t>
            </a:r>
            <a:r>
              <a:rPr lang="en-US" altLang="zh-TW" sz="2200" dirty="0" err="1"/>
              <a:t>gcd</a:t>
            </a:r>
            <a:r>
              <a:rPr lang="en-US" altLang="zh-TW" sz="2200" baseline="-25000" dirty="0"/>
              <a:t> </a:t>
            </a:r>
            <a:r>
              <a:rPr lang="en-US" altLang="zh-TW" sz="2200" dirty="0"/>
              <a:t>(</a:t>
            </a:r>
            <a:r>
              <a:rPr lang="en-US" altLang="zh-TW" sz="2200" i="1" dirty="0"/>
              <a:t>a</a:t>
            </a:r>
            <a:r>
              <a:rPr lang="en-US" altLang="zh-TW" sz="2200" dirty="0"/>
              <a:t>, 0) = </a:t>
            </a:r>
            <a:r>
              <a:rPr lang="en-US" altLang="zh-TW" sz="2200" i="1" dirty="0"/>
              <a:t>a</a:t>
            </a:r>
            <a:endParaRPr lang="en-US" altLang="zh-TW" sz="2200" dirty="0"/>
          </a:p>
          <a:p>
            <a:pPr eaLnBrk="1" hangingPunct="1">
              <a:lnSpc>
                <a:spcPct val="95000"/>
              </a:lnSpc>
            </a:pPr>
            <a:r>
              <a:rPr lang="en-US" altLang="zh-TW" sz="2600" b="1" dirty="0"/>
              <a:t>Proposition</a:t>
            </a:r>
            <a:r>
              <a:rPr lang="en-US" altLang="zh-TW" sz="2600" dirty="0"/>
              <a:t>  </a:t>
            </a:r>
            <a:r>
              <a:rPr lang="en-US" altLang="zh-TW" sz="2200" i="1" dirty="0"/>
              <a:t>a, b</a:t>
            </a:r>
            <a:r>
              <a:rPr lang="en-US" altLang="zh-TW" sz="2200" dirty="0"/>
              <a:t> </a:t>
            </a:r>
            <a:r>
              <a:rPr lang="en-US" altLang="zh-TW" sz="2200" dirty="0">
                <a:sym typeface="Symbol" pitchFamily="18" charset="2"/>
              </a:rPr>
              <a:t>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b="1" i="1" dirty="0">
                <a:sym typeface="Symbol" pitchFamily="18" charset="2"/>
              </a:rPr>
              <a:t>Z</a:t>
            </a:r>
            <a:r>
              <a:rPr lang="en-US" altLang="zh-TW" sz="2200" dirty="0">
                <a:sym typeface="Symbol" pitchFamily="18" charset="2"/>
              </a:rPr>
              <a:t>, 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  0  or  </a:t>
            </a:r>
            <a:r>
              <a:rPr lang="en-US" altLang="zh-TW" sz="2200" i="1" dirty="0">
                <a:sym typeface="Symbol" pitchFamily="18" charset="2"/>
              </a:rPr>
              <a:t>b</a:t>
            </a:r>
            <a:r>
              <a:rPr lang="en-US" altLang="zh-TW" sz="2200" dirty="0">
                <a:sym typeface="Symbol" pitchFamily="18" charset="2"/>
              </a:rPr>
              <a:t> </a:t>
            </a:r>
            <a:r>
              <a:rPr lang="en-US" altLang="zh-TW" sz="2200" dirty="0"/>
              <a:t> 0</a:t>
            </a:r>
          </a:p>
          <a:p>
            <a:pPr lvl="1" eaLnBrk="1" hangingPunct="1">
              <a:lnSpc>
                <a:spcPct val="95000"/>
              </a:lnSpc>
              <a:buFont typeface="Wingdings" pitchFamily="2" charset="2"/>
              <a:buNone/>
            </a:pPr>
            <a:r>
              <a:rPr lang="en-US" altLang="zh-TW" sz="2200" dirty="0">
                <a:solidFill>
                  <a:srgbClr val="0066CC"/>
                </a:solidFill>
                <a:cs typeface="Arial" charset="0"/>
              </a:rPr>
              <a:t>• </a:t>
            </a:r>
            <a:r>
              <a:rPr lang="en-US" altLang="zh-TW" sz="2200" dirty="0" err="1"/>
              <a:t>gcd</a:t>
            </a:r>
            <a:r>
              <a:rPr lang="en-US" altLang="zh-TW" sz="2200" baseline="-25000" dirty="0"/>
              <a:t> </a:t>
            </a:r>
            <a:r>
              <a:rPr lang="en-US" altLang="zh-TW" sz="2200" dirty="0"/>
              <a:t>(</a:t>
            </a:r>
            <a:r>
              <a:rPr lang="en-US" altLang="zh-TW" sz="2200" i="1" dirty="0"/>
              <a:t>a</a:t>
            </a:r>
            <a:r>
              <a:rPr lang="en-US" altLang="zh-TW" sz="2200" dirty="0"/>
              <a:t>, </a:t>
            </a:r>
            <a:r>
              <a:rPr lang="en-US" altLang="zh-TW" sz="2200" i="1" dirty="0"/>
              <a:t>b</a:t>
            </a:r>
            <a:r>
              <a:rPr lang="en-US" altLang="zh-TW" sz="2200" dirty="0"/>
              <a:t>) = </a:t>
            </a:r>
            <a:r>
              <a:rPr lang="en-US" altLang="zh-TW" sz="2200" dirty="0" err="1"/>
              <a:t>gcd</a:t>
            </a:r>
            <a:r>
              <a:rPr lang="en-US" altLang="zh-TW" sz="2200" baseline="-25000" dirty="0"/>
              <a:t> </a:t>
            </a:r>
            <a:r>
              <a:rPr lang="en-US" altLang="zh-TW" sz="2200" dirty="0"/>
              <a:t>(|</a:t>
            </a:r>
            <a:r>
              <a:rPr lang="en-US" altLang="zh-TW" sz="2200" i="1" dirty="0"/>
              <a:t>a</a:t>
            </a:r>
            <a:r>
              <a:rPr lang="en-US" altLang="zh-TW" sz="2200" dirty="0"/>
              <a:t>|, |</a:t>
            </a:r>
            <a:r>
              <a:rPr lang="en-US" altLang="zh-TW" sz="2200" i="1" dirty="0"/>
              <a:t>b</a:t>
            </a:r>
            <a:r>
              <a:rPr lang="en-US" altLang="zh-TW" sz="2200" dirty="0"/>
              <a:t>|)   </a:t>
            </a:r>
            <a:r>
              <a:rPr lang="en-US" altLang="zh-TW" sz="2200" dirty="0">
                <a:solidFill>
                  <a:srgbClr val="0066CC"/>
                </a:solidFill>
                <a:cs typeface="Arial" charset="0"/>
              </a:rPr>
              <a:t>•</a:t>
            </a:r>
            <a:r>
              <a:rPr lang="en-US" altLang="zh-TW" sz="2200" dirty="0"/>
              <a:t> </a:t>
            </a:r>
            <a:r>
              <a:rPr lang="en-US" altLang="zh-TW" sz="2200" dirty="0" err="1"/>
              <a:t>gcd</a:t>
            </a:r>
            <a:r>
              <a:rPr lang="en-US" altLang="zh-TW" sz="2200" baseline="-25000" dirty="0"/>
              <a:t> </a:t>
            </a:r>
            <a:r>
              <a:rPr lang="en-US" altLang="zh-TW" sz="2200" dirty="0"/>
              <a:t>(</a:t>
            </a:r>
            <a:r>
              <a:rPr lang="en-US" altLang="zh-TW" sz="2200" i="1" dirty="0"/>
              <a:t>a</a:t>
            </a:r>
            <a:r>
              <a:rPr lang="en-US" altLang="zh-TW" sz="2200" dirty="0"/>
              <a:t>, </a:t>
            </a:r>
            <a:r>
              <a:rPr lang="en-US" altLang="zh-TW" sz="2200" i="1" dirty="0"/>
              <a:t>b</a:t>
            </a:r>
            <a:r>
              <a:rPr lang="en-US" altLang="zh-TW" sz="2200" dirty="0"/>
              <a:t>) = </a:t>
            </a:r>
            <a:r>
              <a:rPr lang="en-US" altLang="zh-TW" sz="2200" dirty="0" err="1"/>
              <a:t>gcd</a:t>
            </a:r>
            <a:r>
              <a:rPr lang="en-US" altLang="zh-TW" sz="2200" baseline="-25000" dirty="0"/>
              <a:t> </a:t>
            </a:r>
            <a:r>
              <a:rPr lang="en-US" altLang="zh-TW" sz="2200" dirty="0"/>
              <a:t>(</a:t>
            </a:r>
            <a:r>
              <a:rPr lang="en-US" altLang="zh-TW" sz="2200" i="1" dirty="0"/>
              <a:t>b, a</a:t>
            </a:r>
            <a:r>
              <a:rPr lang="en-US" altLang="zh-TW" sz="2200" dirty="0"/>
              <a:t>)</a:t>
            </a:r>
            <a:endParaRPr lang="en-US" altLang="zh-TW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49EEA2EF-90EB-411A-96B6-3CBA3412AA30}" type="slidenum">
              <a:rPr kumimoji="0" lang="en-US" altLang="zh-TW" smtClean="0"/>
              <a:pPr eaLnBrk="1" hangingPunct="1"/>
              <a:t>8</a:t>
            </a:fld>
            <a:endParaRPr kumimoji="0" lang="en-US" altLang="zh-TW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zh-TW" sz="4000" dirty="0"/>
              <a:t>Greatest Common Divisor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435975" cy="4733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b="1" dirty="0"/>
              <a:t>Theorem</a:t>
            </a:r>
            <a:r>
              <a:rPr lang="en-US" altLang="zh-TW" dirty="0"/>
              <a:t>  </a:t>
            </a:r>
            <a:r>
              <a:rPr lang="en-US" altLang="zh-TW" sz="2600" i="1" dirty="0"/>
              <a:t>a, b</a:t>
            </a:r>
            <a:r>
              <a:rPr lang="en-US" altLang="zh-TW" sz="2600" baseline="-25000" dirty="0"/>
              <a:t> </a:t>
            </a:r>
            <a:r>
              <a:rPr lang="en-US" altLang="zh-TW" sz="2600" dirty="0">
                <a:sym typeface="Symbol" pitchFamily="18" charset="2"/>
              </a:rPr>
              <a:t>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b="1" i="1" dirty="0">
                <a:sym typeface="Symbol" pitchFamily="18" charset="2"/>
              </a:rPr>
              <a:t>Z</a:t>
            </a:r>
            <a:r>
              <a:rPr lang="en-US" altLang="zh-TW" sz="2600" dirty="0">
                <a:sym typeface="Symbol" pitchFamily="18" charset="2"/>
              </a:rPr>
              <a:t>,  </a:t>
            </a:r>
            <a:r>
              <a:rPr lang="en-US" altLang="zh-TW" sz="2600" i="1" dirty="0">
                <a:sym typeface="Symbol" pitchFamily="18" charset="2"/>
              </a:rPr>
              <a:t>a</a:t>
            </a:r>
            <a:r>
              <a:rPr lang="en-US" altLang="zh-TW" sz="2600" dirty="0">
                <a:sym typeface="Symbol" pitchFamily="18" charset="2"/>
              </a:rPr>
              <a:t>  0  or  </a:t>
            </a:r>
            <a:r>
              <a:rPr lang="en-US" altLang="zh-TW" sz="2600" i="1" dirty="0">
                <a:sym typeface="Symbol" pitchFamily="18" charset="2"/>
              </a:rPr>
              <a:t>b</a:t>
            </a:r>
            <a:r>
              <a:rPr lang="en-US" altLang="zh-TW" sz="2600" dirty="0">
                <a:sym typeface="Symbol" pitchFamily="18" charset="2"/>
              </a:rPr>
              <a:t> </a:t>
            </a:r>
            <a:r>
              <a:rPr lang="en-US" altLang="zh-TW" sz="2600" dirty="0"/>
              <a:t> 0,  then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600" dirty="0"/>
              <a:t>		</a:t>
            </a:r>
            <a:r>
              <a:rPr lang="en-US" altLang="zh-TW" sz="2600" dirty="0" err="1"/>
              <a:t>gcd</a:t>
            </a:r>
            <a:r>
              <a:rPr lang="en-US" altLang="zh-TW" sz="2600" baseline="-25000" dirty="0"/>
              <a:t> </a:t>
            </a:r>
            <a:r>
              <a:rPr lang="en-US" altLang="zh-TW" sz="2600" dirty="0"/>
              <a:t>(</a:t>
            </a:r>
            <a:r>
              <a:rPr lang="en-US" altLang="zh-TW" sz="2600" i="1" dirty="0"/>
              <a:t>a</a:t>
            </a:r>
            <a:r>
              <a:rPr lang="en-US" altLang="zh-TW" sz="2600" dirty="0"/>
              <a:t>, </a:t>
            </a:r>
            <a:r>
              <a:rPr lang="en-US" altLang="zh-TW" sz="2600" i="1" dirty="0"/>
              <a:t>b</a:t>
            </a:r>
            <a:r>
              <a:rPr lang="en-US" altLang="zh-TW" sz="2600" dirty="0"/>
              <a:t>) = </a:t>
            </a:r>
            <a:r>
              <a:rPr lang="en-US" altLang="zh-TW" sz="2600" dirty="0" err="1"/>
              <a:t>gcd</a:t>
            </a:r>
            <a:r>
              <a:rPr lang="en-US" altLang="zh-TW" sz="2600" baseline="-25000" dirty="0"/>
              <a:t> </a:t>
            </a:r>
            <a:r>
              <a:rPr lang="en-US" altLang="zh-TW" sz="2600" dirty="0"/>
              <a:t>(</a:t>
            </a:r>
            <a:r>
              <a:rPr lang="en-US" altLang="zh-TW" sz="2600" i="1" dirty="0"/>
              <a:t>a</a:t>
            </a:r>
            <a:r>
              <a:rPr lang="en-US" altLang="zh-TW" sz="2600" i="1" baseline="-25000" dirty="0"/>
              <a:t> </a:t>
            </a:r>
            <a:r>
              <a:rPr lang="en-US" altLang="zh-TW" sz="2600" i="1" dirty="0"/>
              <a:t>+</a:t>
            </a:r>
            <a:r>
              <a:rPr lang="en-US" altLang="zh-TW" sz="2600" i="1" baseline="-25000" dirty="0"/>
              <a:t> </a:t>
            </a:r>
            <a:r>
              <a:rPr lang="en-US" altLang="zh-TW" sz="2600" i="1" dirty="0"/>
              <a:t>kb</a:t>
            </a:r>
            <a:r>
              <a:rPr lang="en-US" altLang="zh-TW" sz="2600" dirty="0"/>
              <a:t>, </a:t>
            </a:r>
            <a:r>
              <a:rPr lang="en-US" altLang="zh-TW" sz="2600" i="1" dirty="0"/>
              <a:t>b</a:t>
            </a:r>
            <a:r>
              <a:rPr lang="en-US" altLang="zh-TW" sz="2600" dirty="0"/>
              <a:t>)  for any</a:t>
            </a:r>
            <a:r>
              <a:rPr lang="en-US" altLang="zh-TW" sz="2600" baseline="-25000" dirty="0"/>
              <a:t>  </a:t>
            </a:r>
            <a:r>
              <a:rPr lang="en-US" altLang="zh-TW" sz="2600" i="1" dirty="0"/>
              <a:t>k</a:t>
            </a:r>
            <a:r>
              <a:rPr lang="en-US" altLang="zh-TW" sz="2600" baseline="-25000" dirty="0"/>
              <a:t> </a:t>
            </a:r>
            <a:r>
              <a:rPr lang="en-US" altLang="zh-TW" sz="2600" dirty="0">
                <a:sym typeface="Symbol" pitchFamily="18" charset="2"/>
              </a:rPr>
              <a:t>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b="1" i="1" dirty="0">
                <a:sym typeface="Symbol" pitchFamily="18" charset="2"/>
              </a:rPr>
              <a:t>Z</a:t>
            </a:r>
            <a:endParaRPr lang="en-US" altLang="zh-TW" sz="2600" u="sng" dirty="0"/>
          </a:p>
          <a:p>
            <a:pPr eaLnBrk="1" hangingPunct="1">
              <a:lnSpc>
                <a:spcPct val="110000"/>
              </a:lnSpc>
            </a:pPr>
            <a:r>
              <a:rPr lang="en-US" altLang="zh-TW" sz="2600" b="1" dirty="0"/>
              <a:t>Proof</a:t>
            </a:r>
            <a:r>
              <a:rPr lang="en-US" altLang="zh-TW" sz="2600" dirty="0"/>
              <a:t>  Define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600" i="1" dirty="0"/>
              <a:t>		A</a:t>
            </a:r>
            <a:r>
              <a:rPr lang="en-US" altLang="zh-TW" sz="2600" dirty="0"/>
              <a:t> = The set of common divisors of  </a:t>
            </a:r>
            <a:r>
              <a:rPr lang="en-US" altLang="zh-TW" sz="2600" i="1" dirty="0"/>
              <a:t>a</a:t>
            </a:r>
            <a:r>
              <a:rPr lang="en-US" altLang="zh-TW" sz="2600" dirty="0"/>
              <a:t>  and  </a:t>
            </a:r>
            <a:r>
              <a:rPr lang="en-US" altLang="zh-TW" sz="2600" i="1" dirty="0"/>
              <a:t>b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600" i="1" dirty="0"/>
              <a:t>		B</a:t>
            </a:r>
            <a:r>
              <a:rPr lang="en-US" altLang="zh-TW" sz="2600" dirty="0"/>
              <a:t> = The set of common divisors of  </a:t>
            </a:r>
            <a:r>
              <a:rPr lang="en-US" altLang="zh-TW" sz="2600" i="1" dirty="0"/>
              <a:t>a</a:t>
            </a:r>
            <a:r>
              <a:rPr lang="en-US" altLang="zh-TW" sz="2600" i="1" baseline="-25000" dirty="0"/>
              <a:t> </a:t>
            </a:r>
            <a:r>
              <a:rPr lang="en-US" altLang="zh-TW" sz="2600" i="1" dirty="0"/>
              <a:t>+</a:t>
            </a:r>
            <a:r>
              <a:rPr lang="en-US" altLang="zh-TW" sz="2600" i="1" baseline="-25000" dirty="0"/>
              <a:t> </a:t>
            </a:r>
            <a:r>
              <a:rPr lang="en-US" altLang="zh-TW" sz="2600" i="1" dirty="0"/>
              <a:t>kb</a:t>
            </a:r>
            <a:r>
              <a:rPr lang="en-US" altLang="zh-TW" sz="2600" dirty="0"/>
              <a:t>  and  </a:t>
            </a:r>
            <a:r>
              <a:rPr lang="en-US" altLang="zh-TW" sz="2600" i="1" dirty="0"/>
              <a:t>b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600" dirty="0"/>
              <a:t>	(</a:t>
            </a:r>
            <a:r>
              <a:rPr lang="en-US" altLang="zh-TW" sz="2600" dirty="0" err="1"/>
              <a:t>i</a:t>
            </a:r>
            <a:r>
              <a:rPr lang="en-US" altLang="zh-TW" sz="2600" dirty="0"/>
              <a:t>)	</a:t>
            </a:r>
            <a:r>
              <a:rPr lang="en-US" altLang="zh-TW" sz="2600" i="1" dirty="0"/>
              <a:t>A</a:t>
            </a:r>
            <a:r>
              <a:rPr lang="en-US" altLang="zh-TW" sz="2600" dirty="0"/>
              <a:t> </a:t>
            </a:r>
            <a:r>
              <a:rPr lang="en-US" altLang="zh-TW" sz="2600" dirty="0">
                <a:sym typeface="Symbol" pitchFamily="18" charset="2"/>
              </a:rPr>
              <a:t> </a:t>
            </a:r>
            <a:r>
              <a:rPr lang="en-US" altLang="zh-TW" sz="2600" i="1" dirty="0">
                <a:sym typeface="Symbol" pitchFamily="18" charset="2"/>
              </a:rPr>
              <a:t>B</a:t>
            </a:r>
            <a:r>
              <a:rPr lang="en-US" altLang="zh-TW" sz="2600" dirty="0">
                <a:sym typeface="Symbol" pitchFamily="18" charset="2"/>
              </a:rPr>
              <a:t> 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600" dirty="0">
                <a:sym typeface="Symbol" pitchFamily="18" charset="2"/>
              </a:rPr>
              <a:t>		Assume  </a:t>
            </a:r>
            <a:r>
              <a:rPr lang="en-US" altLang="zh-TW" sz="2600" i="1" dirty="0">
                <a:sym typeface="Symbol" pitchFamily="18" charset="2"/>
              </a:rPr>
              <a:t>d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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A</a:t>
            </a:r>
            <a:r>
              <a:rPr lang="en-US" altLang="zh-TW" sz="2600" dirty="0">
                <a:sym typeface="Symbol" pitchFamily="18" charset="2"/>
              </a:rPr>
              <a:t>,  then  </a:t>
            </a:r>
            <a:r>
              <a:rPr lang="en-US" altLang="zh-TW" sz="2600" i="1" dirty="0"/>
              <a:t>d</a:t>
            </a:r>
            <a:r>
              <a:rPr lang="en-US" altLang="zh-TW" sz="2600" dirty="0"/>
              <a:t> | </a:t>
            </a:r>
            <a:r>
              <a:rPr lang="en-US" altLang="zh-TW" sz="2600" i="1" dirty="0"/>
              <a:t>a</a:t>
            </a:r>
            <a:r>
              <a:rPr lang="en-US" altLang="zh-TW" sz="2600" dirty="0"/>
              <a:t>  and  </a:t>
            </a:r>
            <a:r>
              <a:rPr lang="en-US" altLang="zh-TW" sz="2600" i="1" dirty="0"/>
              <a:t>d</a:t>
            </a:r>
            <a:r>
              <a:rPr lang="en-US" altLang="zh-TW" sz="2600" dirty="0"/>
              <a:t> | </a:t>
            </a:r>
            <a:r>
              <a:rPr lang="en-US" altLang="zh-TW" sz="2600" i="1" dirty="0"/>
              <a:t>b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600" dirty="0"/>
              <a:t>		i.e.,  </a:t>
            </a:r>
            <a:r>
              <a:rPr lang="en-US" altLang="zh-TW" sz="2600" i="1" dirty="0"/>
              <a:t>a </a:t>
            </a:r>
            <a:r>
              <a:rPr lang="en-US" altLang="zh-TW" sz="2600" dirty="0"/>
              <a:t>= </a:t>
            </a:r>
            <a:r>
              <a:rPr lang="en-US" altLang="zh-TW" sz="2600" i="1" dirty="0" err="1"/>
              <a:t>xd</a:t>
            </a:r>
            <a:r>
              <a:rPr lang="en-US" altLang="zh-TW" sz="2600" dirty="0"/>
              <a:t>  and  </a:t>
            </a:r>
            <a:r>
              <a:rPr lang="en-US" altLang="zh-TW" sz="2600" i="1" dirty="0"/>
              <a:t>b </a:t>
            </a:r>
            <a:r>
              <a:rPr lang="en-US" altLang="zh-TW" sz="2600" dirty="0"/>
              <a:t>= </a:t>
            </a:r>
            <a:r>
              <a:rPr lang="en-US" altLang="zh-TW" sz="2600" i="1" dirty="0" err="1"/>
              <a:t>yd</a:t>
            </a:r>
            <a:r>
              <a:rPr lang="en-US" altLang="zh-TW" sz="2600" i="1" dirty="0"/>
              <a:t> </a:t>
            </a:r>
            <a:r>
              <a:rPr lang="en-US" altLang="zh-TW" sz="2600" dirty="0"/>
              <a:t> for some  </a:t>
            </a:r>
            <a:r>
              <a:rPr lang="en-US" altLang="zh-TW" sz="2600" i="1" dirty="0"/>
              <a:t>x</a:t>
            </a:r>
            <a:r>
              <a:rPr lang="en-US" altLang="zh-TW" sz="2600" dirty="0"/>
              <a:t>, </a:t>
            </a:r>
            <a:r>
              <a:rPr lang="en-US" altLang="zh-TW" sz="2600" i="1" dirty="0"/>
              <a:t>y</a:t>
            </a:r>
            <a:r>
              <a:rPr lang="en-US" altLang="zh-TW" sz="2600" dirty="0"/>
              <a:t> </a:t>
            </a:r>
            <a:r>
              <a:rPr lang="en-US" altLang="zh-TW" sz="2600" dirty="0">
                <a:sym typeface="Symbol" pitchFamily="18" charset="2"/>
              </a:rPr>
              <a:t>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b="1" i="1" dirty="0">
                <a:sym typeface="Symbol" pitchFamily="18" charset="2"/>
              </a:rPr>
              <a:t>Z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600" dirty="0">
                <a:sym typeface="Symbol" pitchFamily="18" charset="2"/>
              </a:rPr>
              <a:t>		Then  </a:t>
            </a:r>
            <a:r>
              <a:rPr lang="en-US" altLang="zh-TW" sz="2600" i="1" dirty="0">
                <a:sym typeface="Symbol" pitchFamily="18" charset="2"/>
              </a:rPr>
              <a:t>a </a:t>
            </a:r>
            <a:r>
              <a:rPr lang="en-US" altLang="zh-TW" sz="2600" dirty="0">
                <a:sym typeface="Symbol" pitchFamily="18" charset="2"/>
              </a:rPr>
              <a:t>+ </a:t>
            </a:r>
            <a:r>
              <a:rPr lang="en-US" altLang="zh-TW" sz="2600" i="1" dirty="0">
                <a:sym typeface="Symbol" pitchFamily="18" charset="2"/>
              </a:rPr>
              <a:t>kb</a:t>
            </a:r>
            <a:r>
              <a:rPr lang="en-US" altLang="zh-TW" sz="2600" dirty="0">
                <a:sym typeface="Symbol" pitchFamily="18" charset="2"/>
              </a:rPr>
              <a:t> = </a:t>
            </a:r>
            <a:r>
              <a:rPr lang="en-US" altLang="zh-TW" sz="2600" i="1" dirty="0" err="1">
                <a:sym typeface="Symbol" pitchFamily="18" charset="2"/>
              </a:rPr>
              <a:t>xd</a:t>
            </a:r>
            <a:r>
              <a:rPr lang="en-US" altLang="zh-TW" sz="2600" dirty="0">
                <a:sym typeface="Symbol" pitchFamily="18" charset="2"/>
              </a:rPr>
              <a:t> + </a:t>
            </a:r>
            <a:r>
              <a:rPr lang="en-US" altLang="zh-TW" sz="2600" i="1" dirty="0">
                <a:sym typeface="Symbol" pitchFamily="18" charset="2"/>
              </a:rPr>
              <a:t>k</a:t>
            </a:r>
            <a:r>
              <a:rPr lang="en-US" altLang="zh-TW" sz="2600" i="1" baseline="-25000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(</a:t>
            </a:r>
            <a:r>
              <a:rPr lang="en-US" altLang="zh-TW" sz="2600" i="1" dirty="0" err="1">
                <a:sym typeface="Symbol" pitchFamily="18" charset="2"/>
              </a:rPr>
              <a:t>yd</a:t>
            </a:r>
            <a:r>
              <a:rPr lang="en-US" altLang="zh-TW" sz="2600" dirty="0">
                <a:sym typeface="Symbol" pitchFamily="18" charset="2"/>
              </a:rPr>
              <a:t>) = (</a:t>
            </a:r>
            <a:r>
              <a:rPr lang="en-US" altLang="zh-TW" sz="2600" i="1" dirty="0">
                <a:sym typeface="Symbol" pitchFamily="18" charset="2"/>
              </a:rPr>
              <a:t>x</a:t>
            </a:r>
            <a:r>
              <a:rPr lang="en-US" altLang="zh-TW" sz="2600" i="1" baseline="-25000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+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i="1" dirty="0" err="1">
                <a:sym typeface="Symbol" pitchFamily="18" charset="2"/>
              </a:rPr>
              <a:t>ky</a:t>
            </a:r>
            <a:r>
              <a:rPr lang="en-US" altLang="zh-TW" sz="2600" dirty="0">
                <a:sym typeface="Symbol" pitchFamily="18" charset="2"/>
              </a:rPr>
              <a:t>)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d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600" dirty="0">
                <a:sym typeface="Symbol" pitchFamily="18" charset="2"/>
              </a:rPr>
              <a:t>		  </a:t>
            </a:r>
            <a:r>
              <a:rPr lang="en-US" altLang="zh-TW" sz="2600" i="1" dirty="0">
                <a:sym typeface="Symbol" pitchFamily="18" charset="2"/>
              </a:rPr>
              <a:t>d</a:t>
            </a:r>
            <a:r>
              <a:rPr lang="en-US" altLang="zh-TW" sz="2600" dirty="0">
                <a:sym typeface="Symbol" pitchFamily="18" charset="2"/>
              </a:rPr>
              <a:t> | (</a:t>
            </a:r>
            <a:r>
              <a:rPr lang="en-US" altLang="zh-TW" sz="2600" i="1" dirty="0">
                <a:sym typeface="Symbol" pitchFamily="18" charset="2"/>
              </a:rPr>
              <a:t>a</a:t>
            </a:r>
            <a:r>
              <a:rPr lang="en-US" altLang="zh-TW" sz="2600" i="1" baseline="-25000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+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kb</a:t>
            </a:r>
            <a:r>
              <a:rPr lang="en-US" altLang="zh-TW" sz="2600" dirty="0">
                <a:sym typeface="Symbol" pitchFamily="18" charset="2"/>
              </a:rPr>
              <a:t>).  Also  </a:t>
            </a:r>
            <a:r>
              <a:rPr lang="en-US" altLang="zh-TW" sz="2600" i="1" dirty="0">
                <a:sym typeface="Symbol" pitchFamily="18" charset="2"/>
              </a:rPr>
              <a:t>d</a:t>
            </a:r>
            <a:r>
              <a:rPr lang="en-US" altLang="zh-TW" sz="2600" dirty="0">
                <a:sym typeface="Symbol" pitchFamily="18" charset="2"/>
              </a:rPr>
              <a:t> | </a:t>
            </a:r>
            <a:r>
              <a:rPr lang="en-US" altLang="zh-TW" sz="2600" i="1" dirty="0">
                <a:sym typeface="Symbol" pitchFamily="18" charset="2"/>
              </a:rPr>
              <a:t>b</a:t>
            </a:r>
            <a:r>
              <a:rPr lang="en-US" altLang="zh-TW" sz="2600" dirty="0">
                <a:sym typeface="Symbol" pitchFamily="18" charset="2"/>
              </a:rPr>
              <a:t>,  hence  </a:t>
            </a:r>
            <a:r>
              <a:rPr lang="en-US" altLang="zh-TW" sz="2600" i="1" dirty="0">
                <a:sym typeface="Symbol" pitchFamily="18" charset="2"/>
              </a:rPr>
              <a:t>d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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B.</a:t>
            </a:r>
            <a:endParaRPr lang="en-US" altLang="zh-TW" sz="26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45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45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45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D8D77FF9-11B2-446B-8E28-275C785BAB6F}" type="slidenum">
              <a:rPr kumimoji="0" lang="en-US" altLang="zh-TW" smtClean="0"/>
              <a:pPr eaLnBrk="1" hangingPunct="1"/>
              <a:t>9</a:t>
            </a:fld>
            <a:endParaRPr kumimoji="0" lang="en-US" altLang="zh-TW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zh-TW" sz="4000"/>
              <a:t>Greatest Common Divisor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435975" cy="48053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2600" dirty="0"/>
              <a:t>	(ii) 	</a:t>
            </a:r>
            <a:r>
              <a:rPr lang="en-US" altLang="zh-TW" sz="2600" i="1" dirty="0"/>
              <a:t>B</a:t>
            </a:r>
            <a:r>
              <a:rPr lang="en-US" altLang="zh-TW" sz="2600" dirty="0"/>
              <a:t> </a:t>
            </a:r>
            <a:r>
              <a:rPr lang="en-US" altLang="zh-TW" sz="2600" dirty="0">
                <a:sym typeface="Symbol" pitchFamily="18" charset="2"/>
              </a:rPr>
              <a:t> </a:t>
            </a:r>
            <a:r>
              <a:rPr lang="en-US" altLang="zh-TW" sz="2600" i="1" dirty="0">
                <a:sym typeface="Symbol" pitchFamily="18" charset="2"/>
              </a:rPr>
              <a:t>A</a:t>
            </a:r>
            <a:r>
              <a:rPr lang="en-US" altLang="zh-TW" sz="2600" dirty="0">
                <a:sym typeface="Symbol" pitchFamily="18" charset="2"/>
              </a:rPr>
              <a:t> 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600" dirty="0">
                <a:sym typeface="Symbol" pitchFamily="18" charset="2"/>
              </a:rPr>
              <a:t>		Assume  </a:t>
            </a:r>
            <a:r>
              <a:rPr lang="en-US" altLang="zh-TW" sz="2600" i="1" dirty="0">
                <a:sym typeface="Symbol" pitchFamily="18" charset="2"/>
              </a:rPr>
              <a:t>c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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B</a:t>
            </a:r>
            <a:r>
              <a:rPr lang="en-US" altLang="zh-TW" sz="2600" dirty="0">
                <a:sym typeface="Symbol" pitchFamily="18" charset="2"/>
              </a:rPr>
              <a:t>,  then  </a:t>
            </a:r>
            <a:r>
              <a:rPr lang="en-US" altLang="zh-TW" sz="2600" i="1" dirty="0"/>
              <a:t>c</a:t>
            </a:r>
            <a:r>
              <a:rPr lang="en-US" altLang="zh-TW" sz="2600" dirty="0"/>
              <a:t> | (</a:t>
            </a:r>
            <a:r>
              <a:rPr lang="en-US" altLang="zh-TW" sz="2600" i="1" dirty="0"/>
              <a:t>a</a:t>
            </a:r>
            <a:r>
              <a:rPr lang="en-US" altLang="zh-TW" sz="2600" i="1" baseline="-25000" dirty="0"/>
              <a:t> </a:t>
            </a:r>
            <a:r>
              <a:rPr lang="en-US" altLang="zh-TW" sz="2600" dirty="0"/>
              <a:t>+</a:t>
            </a:r>
            <a:r>
              <a:rPr lang="en-US" altLang="zh-TW" sz="2600" baseline="-25000" dirty="0"/>
              <a:t> </a:t>
            </a:r>
            <a:r>
              <a:rPr lang="en-US" altLang="zh-TW" sz="2600" i="1" dirty="0"/>
              <a:t>kb</a:t>
            </a:r>
            <a:r>
              <a:rPr lang="en-US" altLang="zh-TW" sz="2600" dirty="0"/>
              <a:t>)  and  </a:t>
            </a:r>
            <a:r>
              <a:rPr lang="en-US" altLang="zh-TW" sz="2600" i="1" dirty="0"/>
              <a:t>c</a:t>
            </a:r>
            <a:r>
              <a:rPr lang="en-US" altLang="zh-TW" sz="2600" dirty="0"/>
              <a:t> | </a:t>
            </a:r>
            <a:r>
              <a:rPr lang="en-US" altLang="zh-TW" sz="2600" i="1" dirty="0"/>
              <a:t>b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600" i="1" dirty="0"/>
              <a:t>		</a:t>
            </a:r>
            <a:r>
              <a:rPr lang="en-US" altLang="zh-TW" sz="2600" dirty="0"/>
              <a:t>i.e., </a:t>
            </a:r>
            <a:r>
              <a:rPr lang="en-US" altLang="zh-TW" sz="2600" i="1" dirty="0"/>
              <a:t>a </a:t>
            </a:r>
            <a:r>
              <a:rPr lang="en-US" altLang="zh-TW" sz="2600" dirty="0"/>
              <a:t>+ </a:t>
            </a:r>
            <a:r>
              <a:rPr lang="en-US" altLang="zh-TW" sz="2600" i="1" dirty="0"/>
              <a:t>kb </a:t>
            </a:r>
            <a:r>
              <a:rPr lang="en-US" altLang="zh-TW" sz="2600" dirty="0"/>
              <a:t>= </a:t>
            </a:r>
            <a:r>
              <a:rPr lang="en-US" altLang="zh-TW" sz="2600" i="1" dirty="0"/>
              <a:t>xc</a:t>
            </a:r>
            <a:r>
              <a:rPr lang="en-US" altLang="zh-TW" sz="2600" dirty="0"/>
              <a:t>  and  </a:t>
            </a:r>
            <a:r>
              <a:rPr lang="en-US" altLang="zh-TW" sz="2600" i="1" dirty="0"/>
              <a:t>b </a:t>
            </a:r>
            <a:r>
              <a:rPr lang="en-US" altLang="zh-TW" sz="2600" dirty="0"/>
              <a:t>= </a:t>
            </a:r>
            <a:r>
              <a:rPr lang="en-US" altLang="zh-TW" sz="2600" i="1" dirty="0" err="1"/>
              <a:t>yc</a:t>
            </a:r>
            <a:r>
              <a:rPr lang="en-US" altLang="zh-TW" sz="2600" dirty="0"/>
              <a:t>  for some  </a:t>
            </a:r>
            <a:r>
              <a:rPr lang="en-US" altLang="zh-TW" sz="2600" i="1" dirty="0"/>
              <a:t>x</a:t>
            </a:r>
            <a:r>
              <a:rPr lang="en-US" altLang="zh-TW" sz="2600" dirty="0"/>
              <a:t>, </a:t>
            </a:r>
            <a:r>
              <a:rPr lang="en-US" altLang="zh-TW" sz="2600" i="1" dirty="0"/>
              <a:t>y</a:t>
            </a:r>
            <a:r>
              <a:rPr lang="en-US" altLang="zh-TW" sz="2600" baseline="-25000" dirty="0"/>
              <a:t> </a:t>
            </a:r>
            <a:r>
              <a:rPr lang="en-US" altLang="zh-TW" sz="2600" dirty="0">
                <a:sym typeface="Symbol" pitchFamily="18" charset="2"/>
              </a:rPr>
              <a:t>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b="1" i="1" dirty="0">
                <a:sym typeface="Symbol" pitchFamily="18" charset="2"/>
              </a:rPr>
              <a:t>Z</a:t>
            </a:r>
          </a:p>
          <a:p>
            <a:pPr eaLnBrk="1" hangingPunct="1">
              <a:buNone/>
            </a:pPr>
            <a:r>
              <a:rPr lang="en-US" altLang="zh-TW" sz="2600" b="1" i="1" dirty="0">
                <a:sym typeface="Symbol" pitchFamily="18" charset="2"/>
              </a:rPr>
              <a:t>		</a:t>
            </a:r>
            <a:r>
              <a:rPr lang="en-US" altLang="zh-TW" sz="2600" dirty="0">
                <a:sym typeface="Symbol" pitchFamily="18" charset="2"/>
              </a:rPr>
              <a:t>Then  </a:t>
            </a:r>
            <a:r>
              <a:rPr lang="en-US" altLang="zh-TW" sz="2600" i="1" dirty="0">
                <a:sym typeface="Symbol" pitchFamily="18" charset="2"/>
              </a:rPr>
              <a:t>a</a:t>
            </a:r>
            <a:r>
              <a:rPr lang="en-US" altLang="zh-TW" sz="2600" dirty="0">
                <a:sym typeface="Symbol" pitchFamily="18" charset="2"/>
              </a:rPr>
              <a:t> = </a:t>
            </a:r>
            <a:r>
              <a:rPr lang="en-US" altLang="zh-TW" sz="2600" i="1" dirty="0">
                <a:sym typeface="Symbol" pitchFamily="18" charset="2"/>
              </a:rPr>
              <a:t>xc</a:t>
            </a:r>
            <a:r>
              <a:rPr lang="en-US" altLang="zh-TW" sz="2600" dirty="0">
                <a:sym typeface="Symbol" pitchFamily="18" charset="2"/>
              </a:rPr>
              <a:t> – </a:t>
            </a:r>
            <a:r>
              <a:rPr lang="en-US" altLang="zh-TW" sz="2600" i="1" dirty="0">
                <a:sym typeface="Symbol" pitchFamily="18" charset="2"/>
              </a:rPr>
              <a:t>kb</a:t>
            </a:r>
            <a:r>
              <a:rPr lang="en-US" altLang="zh-TW" sz="2600" dirty="0">
                <a:sym typeface="Symbol" pitchFamily="18" charset="2"/>
              </a:rPr>
              <a:t> = </a:t>
            </a:r>
            <a:r>
              <a:rPr lang="en-US" altLang="zh-TW" sz="2600" i="1" dirty="0">
                <a:sym typeface="Symbol" pitchFamily="18" charset="2"/>
              </a:rPr>
              <a:t>xc</a:t>
            </a:r>
            <a:r>
              <a:rPr lang="en-US" altLang="zh-TW" sz="2600" dirty="0">
                <a:sym typeface="Symbol" pitchFamily="18" charset="2"/>
              </a:rPr>
              <a:t> – </a:t>
            </a:r>
            <a:r>
              <a:rPr lang="en-US" altLang="zh-TW" sz="2600" i="1" dirty="0">
                <a:sym typeface="Symbol" pitchFamily="18" charset="2"/>
              </a:rPr>
              <a:t>k</a:t>
            </a:r>
            <a:r>
              <a:rPr lang="en-US" altLang="zh-TW" sz="2600" i="1" baseline="-25000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(</a:t>
            </a:r>
            <a:r>
              <a:rPr lang="en-US" altLang="zh-TW" sz="2600" i="1" dirty="0" err="1">
                <a:sym typeface="Symbol" pitchFamily="18" charset="2"/>
              </a:rPr>
              <a:t>yc</a:t>
            </a:r>
            <a:r>
              <a:rPr lang="en-US" altLang="zh-TW" sz="2600" dirty="0">
                <a:sym typeface="Symbol" pitchFamily="18" charset="2"/>
              </a:rPr>
              <a:t>)</a:t>
            </a:r>
            <a:r>
              <a:rPr lang="en-US" altLang="zh-TW" sz="2600" i="1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= (</a:t>
            </a:r>
            <a:r>
              <a:rPr lang="en-US" altLang="zh-TW" sz="2600" i="1" dirty="0">
                <a:sym typeface="Symbol" pitchFamily="18" charset="2"/>
              </a:rPr>
              <a:t>x </a:t>
            </a:r>
            <a:r>
              <a:rPr lang="en-US" altLang="zh-TW" sz="2600" dirty="0">
                <a:solidFill>
                  <a:srgbClr val="000000"/>
                </a:solidFill>
                <a:sym typeface="Symbol" pitchFamily="18" charset="2"/>
              </a:rPr>
              <a:t>–</a:t>
            </a:r>
            <a:r>
              <a:rPr lang="en-US" altLang="zh-TW" sz="2600" dirty="0">
                <a:sym typeface="Symbol" pitchFamily="18" charset="2"/>
              </a:rPr>
              <a:t> </a:t>
            </a:r>
            <a:r>
              <a:rPr lang="en-US" altLang="zh-TW" sz="2600" i="1" dirty="0" err="1">
                <a:sym typeface="Symbol" pitchFamily="18" charset="2"/>
              </a:rPr>
              <a:t>ky</a:t>
            </a:r>
            <a:r>
              <a:rPr lang="en-US" altLang="zh-TW" sz="2600" dirty="0">
                <a:sym typeface="Symbol" pitchFamily="18" charset="2"/>
              </a:rPr>
              <a:t>)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c</a:t>
            </a:r>
            <a:r>
              <a:rPr lang="en-US" altLang="zh-TW" sz="2600" dirty="0">
                <a:sym typeface="Symbol" pitchFamily="18" charset="2"/>
              </a:rPr>
              <a:t>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600" dirty="0">
                <a:sym typeface="Symbol" pitchFamily="18" charset="2"/>
              </a:rPr>
              <a:t>		  </a:t>
            </a:r>
            <a:r>
              <a:rPr lang="en-US" altLang="zh-TW" sz="2600" i="1" dirty="0">
                <a:sym typeface="Symbol" pitchFamily="18" charset="2"/>
              </a:rPr>
              <a:t>c</a:t>
            </a:r>
            <a:r>
              <a:rPr lang="en-US" altLang="zh-TW" sz="2600" dirty="0">
                <a:sym typeface="Symbol" pitchFamily="18" charset="2"/>
              </a:rPr>
              <a:t> | </a:t>
            </a:r>
            <a:r>
              <a:rPr lang="en-US" altLang="zh-TW" sz="2600" i="1" dirty="0">
                <a:sym typeface="Symbol" pitchFamily="18" charset="2"/>
              </a:rPr>
              <a:t>a</a:t>
            </a:r>
            <a:r>
              <a:rPr lang="en-US" altLang="zh-TW" sz="2600" dirty="0">
                <a:sym typeface="Symbol" pitchFamily="18" charset="2"/>
              </a:rPr>
              <a:t>.  Also  </a:t>
            </a:r>
            <a:r>
              <a:rPr lang="en-US" altLang="zh-TW" sz="2600" i="1" dirty="0">
                <a:sym typeface="Symbol" pitchFamily="18" charset="2"/>
              </a:rPr>
              <a:t>c</a:t>
            </a:r>
            <a:r>
              <a:rPr lang="en-US" altLang="zh-TW" sz="2600" dirty="0">
                <a:sym typeface="Symbol" pitchFamily="18" charset="2"/>
              </a:rPr>
              <a:t> | </a:t>
            </a:r>
            <a:r>
              <a:rPr lang="en-US" altLang="zh-TW" sz="2600" i="1" dirty="0">
                <a:sym typeface="Symbol" pitchFamily="18" charset="2"/>
              </a:rPr>
              <a:t>b</a:t>
            </a:r>
            <a:r>
              <a:rPr lang="en-US" altLang="zh-TW" sz="2600" dirty="0">
                <a:sym typeface="Symbol" pitchFamily="18" charset="2"/>
              </a:rPr>
              <a:t>,  hence  </a:t>
            </a:r>
            <a:r>
              <a:rPr lang="en-US" altLang="zh-TW" sz="2600" i="1" dirty="0">
                <a:sym typeface="Symbol" pitchFamily="18" charset="2"/>
              </a:rPr>
              <a:t>c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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A</a:t>
            </a:r>
            <a:r>
              <a:rPr lang="en-US" altLang="zh-TW" sz="2600" dirty="0">
                <a:sym typeface="Symbol" pitchFamily="18" charset="2"/>
              </a:rPr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600" dirty="0">
                <a:sym typeface="Symbol" pitchFamily="18" charset="2"/>
              </a:rPr>
              <a:t>	Therefore  </a:t>
            </a:r>
            <a:r>
              <a:rPr lang="en-US" altLang="zh-TW" sz="2600" i="1" dirty="0">
                <a:sym typeface="Symbol" pitchFamily="18" charset="2"/>
              </a:rPr>
              <a:t>A</a:t>
            </a:r>
            <a:r>
              <a:rPr lang="en-US" altLang="zh-TW" sz="2600" dirty="0">
                <a:sym typeface="Symbol" pitchFamily="18" charset="2"/>
              </a:rPr>
              <a:t> = </a:t>
            </a:r>
            <a:r>
              <a:rPr lang="en-US" altLang="zh-TW" sz="2600" i="1" dirty="0">
                <a:sym typeface="Symbol" pitchFamily="18" charset="2"/>
              </a:rPr>
              <a:t>B</a:t>
            </a:r>
            <a:r>
              <a:rPr lang="en-US" altLang="zh-TW" sz="2600" dirty="0">
                <a:sym typeface="Symbol" pitchFamily="18" charset="2"/>
              </a:rPr>
              <a:t>,  </a:t>
            </a:r>
            <a:r>
              <a:rPr lang="en-US" altLang="zh-TW" sz="2600" dirty="0" err="1"/>
              <a:t>gcd</a:t>
            </a:r>
            <a:r>
              <a:rPr lang="en-US" altLang="zh-TW" sz="2600" baseline="-25000" dirty="0"/>
              <a:t> </a:t>
            </a:r>
            <a:r>
              <a:rPr lang="en-US" altLang="zh-TW" sz="2600" dirty="0"/>
              <a:t>(</a:t>
            </a:r>
            <a:r>
              <a:rPr lang="en-US" altLang="zh-TW" sz="2600" i="1" dirty="0"/>
              <a:t>a</a:t>
            </a:r>
            <a:r>
              <a:rPr lang="en-US" altLang="zh-TW" sz="2600" dirty="0"/>
              <a:t>, </a:t>
            </a:r>
            <a:r>
              <a:rPr lang="en-US" altLang="zh-TW" sz="2600" i="1" dirty="0"/>
              <a:t>b</a:t>
            </a:r>
            <a:r>
              <a:rPr lang="en-US" altLang="zh-TW" sz="2600" dirty="0"/>
              <a:t>)</a:t>
            </a:r>
            <a:r>
              <a:rPr lang="en-US" altLang="zh-TW" sz="2600" baseline="-25000" dirty="0"/>
              <a:t>  </a:t>
            </a:r>
            <a:r>
              <a:rPr lang="en-US" altLang="zh-TW" sz="2600" dirty="0"/>
              <a:t>=</a:t>
            </a:r>
            <a:r>
              <a:rPr lang="en-US" altLang="zh-TW" sz="2600" baseline="-25000" dirty="0"/>
              <a:t>  </a:t>
            </a:r>
            <a:r>
              <a:rPr lang="en-US" altLang="zh-TW" sz="2600" dirty="0" err="1"/>
              <a:t>gcd</a:t>
            </a:r>
            <a:r>
              <a:rPr lang="en-US" altLang="zh-TW" sz="2600" baseline="-25000" dirty="0"/>
              <a:t> </a:t>
            </a:r>
            <a:r>
              <a:rPr lang="en-US" altLang="zh-TW" sz="2600" dirty="0"/>
              <a:t>(</a:t>
            </a:r>
            <a:r>
              <a:rPr lang="en-US" altLang="zh-TW" sz="2600" i="1" dirty="0"/>
              <a:t>a</a:t>
            </a:r>
            <a:r>
              <a:rPr lang="en-US" altLang="zh-TW" sz="2600" i="1" baseline="-25000" dirty="0"/>
              <a:t> </a:t>
            </a:r>
            <a:r>
              <a:rPr lang="en-US" altLang="zh-TW" sz="2600" i="1" dirty="0"/>
              <a:t>+</a:t>
            </a:r>
            <a:r>
              <a:rPr lang="en-US" altLang="zh-TW" sz="2600" i="1" baseline="-25000" dirty="0"/>
              <a:t> </a:t>
            </a:r>
            <a:r>
              <a:rPr lang="en-US" altLang="zh-TW" sz="2600" i="1" dirty="0"/>
              <a:t>kb</a:t>
            </a:r>
            <a:r>
              <a:rPr lang="en-US" altLang="zh-TW" sz="2600" dirty="0"/>
              <a:t>, </a:t>
            </a:r>
            <a:r>
              <a:rPr lang="en-US" altLang="zh-TW" sz="2600" i="1" dirty="0"/>
              <a:t>b</a:t>
            </a:r>
            <a:r>
              <a:rPr lang="en-US" altLang="zh-TW" sz="2600" dirty="0"/>
              <a:t>)</a:t>
            </a:r>
          </a:p>
          <a:p>
            <a:pPr eaLnBrk="1" hangingPunct="1"/>
            <a:r>
              <a:rPr lang="en-US" altLang="zh-TW" b="1" dirty="0"/>
              <a:t>Corollary</a:t>
            </a:r>
            <a:r>
              <a:rPr lang="en-US" altLang="zh-TW" dirty="0"/>
              <a:t>  </a:t>
            </a:r>
            <a:r>
              <a:rPr lang="en-US" altLang="zh-TW" sz="2600" i="1" dirty="0">
                <a:sym typeface="Symbol" pitchFamily="18" charset="2"/>
              </a:rPr>
              <a:t>b</a:t>
            </a:r>
            <a:r>
              <a:rPr lang="en-US" altLang="zh-TW" sz="2600" dirty="0">
                <a:sym typeface="Symbol" pitchFamily="18" charset="2"/>
              </a:rPr>
              <a:t> &gt;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0, then</a:t>
            </a:r>
            <a:r>
              <a:rPr lang="en-US" altLang="zh-TW" sz="2600" dirty="0"/>
              <a:t>  </a:t>
            </a:r>
            <a:r>
              <a:rPr lang="en-US" altLang="zh-TW" sz="2600" dirty="0" err="1"/>
              <a:t>gcd</a:t>
            </a:r>
            <a:r>
              <a:rPr lang="en-US" altLang="zh-TW" sz="2600" baseline="-25000" dirty="0"/>
              <a:t> </a:t>
            </a:r>
            <a:r>
              <a:rPr lang="en-US" altLang="zh-TW" sz="2600" dirty="0"/>
              <a:t>(</a:t>
            </a:r>
            <a:r>
              <a:rPr lang="en-US" altLang="zh-TW" sz="2600" i="1" dirty="0"/>
              <a:t>a</a:t>
            </a:r>
            <a:r>
              <a:rPr lang="en-US" altLang="zh-TW" sz="2600" dirty="0"/>
              <a:t>, </a:t>
            </a:r>
            <a:r>
              <a:rPr lang="en-US" altLang="zh-TW" sz="2600" i="1" dirty="0"/>
              <a:t>b</a:t>
            </a:r>
            <a:r>
              <a:rPr lang="en-US" altLang="zh-TW" sz="2600" dirty="0"/>
              <a:t>)  =  </a:t>
            </a:r>
            <a:r>
              <a:rPr lang="en-US" altLang="zh-TW" sz="2600" dirty="0" err="1"/>
              <a:t>gcd</a:t>
            </a:r>
            <a:r>
              <a:rPr lang="en-US" altLang="zh-TW" sz="2600" baseline="-25000" dirty="0"/>
              <a:t> </a:t>
            </a:r>
            <a:r>
              <a:rPr lang="en-US" altLang="zh-TW" sz="2600" dirty="0"/>
              <a:t>(</a:t>
            </a:r>
            <a:r>
              <a:rPr lang="en-US" altLang="zh-TW" sz="2600" i="1" dirty="0"/>
              <a:t>b</a:t>
            </a:r>
            <a:r>
              <a:rPr lang="en-US" altLang="zh-TW" sz="2600" dirty="0"/>
              <a:t>, </a:t>
            </a:r>
            <a:r>
              <a:rPr lang="en-US" altLang="zh-TW" sz="2600" i="1" dirty="0"/>
              <a:t>a </a:t>
            </a:r>
            <a:r>
              <a:rPr lang="en-US" altLang="zh-TW" sz="2600" dirty="0"/>
              <a:t>mod</a:t>
            </a:r>
            <a:r>
              <a:rPr lang="en-US" altLang="zh-TW" sz="2600" i="1" dirty="0"/>
              <a:t> b</a:t>
            </a:r>
            <a:r>
              <a:rPr lang="en-US" altLang="zh-TW" sz="2600" dirty="0"/>
              <a:t>)</a:t>
            </a:r>
            <a:endParaRPr lang="en-US" altLang="zh-TW" sz="2600" dirty="0">
              <a:sym typeface="Symbol" pitchFamily="18" charset="2"/>
            </a:endParaRPr>
          </a:p>
          <a:p>
            <a:pPr eaLnBrk="1" hangingPunct="1"/>
            <a:r>
              <a:rPr lang="en-US" altLang="zh-TW" sz="2600" b="1" dirty="0">
                <a:sym typeface="Symbol" pitchFamily="18" charset="2"/>
              </a:rPr>
              <a:t>Proof</a:t>
            </a:r>
            <a:r>
              <a:rPr lang="en-US" altLang="zh-TW" dirty="0">
                <a:sym typeface="Symbol" pitchFamily="18" charset="2"/>
              </a:rPr>
              <a:t>  </a:t>
            </a:r>
            <a:r>
              <a:rPr lang="en-US" altLang="zh-TW" sz="2600" dirty="0" err="1"/>
              <a:t>gcd</a:t>
            </a:r>
            <a:r>
              <a:rPr lang="en-US" altLang="zh-TW" sz="2600" baseline="-25000" dirty="0"/>
              <a:t> </a:t>
            </a:r>
            <a:r>
              <a:rPr lang="en-US" altLang="zh-TW" sz="2600" dirty="0"/>
              <a:t>(</a:t>
            </a:r>
            <a:r>
              <a:rPr lang="en-US" altLang="zh-TW" sz="2600" i="1" dirty="0"/>
              <a:t>a</a:t>
            </a:r>
            <a:r>
              <a:rPr lang="en-US" altLang="zh-TW" sz="2600" dirty="0"/>
              <a:t>, </a:t>
            </a:r>
            <a:r>
              <a:rPr lang="en-US" altLang="zh-TW" sz="2600" i="1" dirty="0"/>
              <a:t>b</a:t>
            </a:r>
            <a:r>
              <a:rPr lang="en-US" altLang="zh-TW" sz="2600" dirty="0"/>
              <a:t>)  =  </a:t>
            </a:r>
            <a:r>
              <a:rPr lang="en-US" altLang="zh-TW" sz="2600" dirty="0" err="1"/>
              <a:t>gcd</a:t>
            </a:r>
            <a:r>
              <a:rPr lang="en-US" altLang="zh-TW" sz="2600" baseline="-25000" dirty="0"/>
              <a:t> </a:t>
            </a:r>
            <a:r>
              <a:rPr lang="en-US" altLang="zh-TW" sz="2600" dirty="0"/>
              <a:t>(</a:t>
            </a:r>
            <a:r>
              <a:rPr lang="en-US" altLang="zh-TW" sz="2600" i="1" dirty="0"/>
              <a:t>a </a:t>
            </a:r>
            <a:r>
              <a:rPr lang="en-US" altLang="zh-TW" sz="2600" dirty="0">
                <a:sym typeface="Symbol" pitchFamily="18" charset="2"/>
              </a:rPr>
              <a:t></a:t>
            </a:r>
            <a:r>
              <a:rPr lang="en-US" altLang="zh-TW" sz="2600" dirty="0"/>
              <a:t> </a:t>
            </a:r>
            <a:r>
              <a:rPr lang="en-US" altLang="zh-TW" sz="2600" dirty="0">
                <a:sym typeface="Symbol" pitchFamily="18" charset="2"/>
              </a:rPr>
              <a:t></a:t>
            </a:r>
            <a:r>
              <a:rPr lang="en-US" altLang="zh-TW" sz="2600" i="1" dirty="0">
                <a:sym typeface="Symbol" pitchFamily="18" charset="2"/>
              </a:rPr>
              <a:t>a</a:t>
            </a:r>
            <a:r>
              <a:rPr lang="en-US" altLang="zh-TW" sz="2600" dirty="0"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/</a:t>
            </a:r>
            <a:r>
              <a:rPr lang="en-US" altLang="zh-TW" sz="2600" dirty="0"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b</a:t>
            </a:r>
            <a:r>
              <a:rPr lang="en-US" altLang="zh-TW" sz="2600" dirty="0">
                <a:sym typeface="Symbol" pitchFamily="18" charset="2"/>
              </a:rPr>
              <a:t>  </a:t>
            </a:r>
            <a:r>
              <a:rPr lang="en-US" altLang="zh-TW" sz="2600" i="1" dirty="0">
                <a:sym typeface="Symbol" pitchFamily="18" charset="2"/>
              </a:rPr>
              <a:t>b</a:t>
            </a:r>
            <a:r>
              <a:rPr lang="en-US" altLang="zh-TW" sz="2600" dirty="0">
                <a:sym typeface="Symbol" pitchFamily="18" charset="2"/>
              </a:rPr>
              <a:t>, </a:t>
            </a:r>
            <a:r>
              <a:rPr lang="en-US" altLang="zh-TW" sz="2600" i="1" dirty="0">
                <a:sym typeface="Symbol" pitchFamily="18" charset="2"/>
              </a:rPr>
              <a:t>b</a:t>
            </a:r>
            <a:r>
              <a:rPr lang="en-US" altLang="zh-TW" sz="2600" dirty="0"/>
              <a:t>) </a:t>
            </a:r>
            <a:r>
              <a:rPr lang="en-US" altLang="zh-TW" sz="1600" dirty="0"/>
              <a:t>[Theorem]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600" dirty="0"/>
              <a:t>	= </a:t>
            </a:r>
            <a:r>
              <a:rPr lang="en-US" altLang="zh-TW" sz="2600" dirty="0" err="1"/>
              <a:t>gcd</a:t>
            </a:r>
            <a:r>
              <a:rPr lang="en-US" altLang="zh-TW" sz="2600" baseline="-25000" dirty="0"/>
              <a:t> </a:t>
            </a:r>
            <a:r>
              <a:rPr lang="en-US" altLang="zh-TW" sz="2600" dirty="0"/>
              <a:t>(</a:t>
            </a:r>
            <a:r>
              <a:rPr lang="en-US" altLang="zh-TW" sz="2600" i="1" dirty="0"/>
              <a:t>a</a:t>
            </a:r>
            <a:r>
              <a:rPr lang="en-US" altLang="zh-TW" sz="2600" dirty="0"/>
              <a:t> mod </a:t>
            </a:r>
            <a:r>
              <a:rPr lang="en-US" altLang="zh-TW" sz="2600" i="1" dirty="0"/>
              <a:t>b</a:t>
            </a:r>
            <a:r>
              <a:rPr lang="en-US" altLang="zh-TW" sz="2600" dirty="0"/>
              <a:t>, </a:t>
            </a:r>
            <a:r>
              <a:rPr lang="en-US" altLang="zh-TW" sz="2600" i="1" dirty="0"/>
              <a:t>b</a:t>
            </a:r>
            <a:r>
              <a:rPr lang="en-US" altLang="zh-TW" sz="2600" dirty="0"/>
              <a:t>) </a:t>
            </a:r>
            <a:r>
              <a:rPr lang="en-US" altLang="zh-TW" sz="1600" dirty="0"/>
              <a:t>[Definition]</a:t>
            </a:r>
            <a:r>
              <a:rPr lang="en-US" altLang="zh-TW" sz="1800" dirty="0"/>
              <a:t>  </a:t>
            </a:r>
            <a:r>
              <a:rPr lang="en-US" altLang="zh-TW" sz="2600" dirty="0"/>
              <a:t>= </a:t>
            </a:r>
            <a:r>
              <a:rPr lang="en-US" altLang="zh-TW" sz="2600" dirty="0" err="1"/>
              <a:t>gcd</a:t>
            </a:r>
            <a:r>
              <a:rPr lang="en-US" altLang="zh-TW" sz="2600" baseline="-25000" dirty="0"/>
              <a:t> </a:t>
            </a:r>
            <a:r>
              <a:rPr lang="en-US" altLang="zh-TW" sz="2600" dirty="0"/>
              <a:t>(</a:t>
            </a:r>
            <a:r>
              <a:rPr lang="en-US" altLang="zh-TW" sz="2600" i="1" dirty="0"/>
              <a:t>b</a:t>
            </a:r>
            <a:r>
              <a:rPr lang="en-US" altLang="zh-TW" sz="2600" dirty="0"/>
              <a:t>, </a:t>
            </a:r>
            <a:r>
              <a:rPr lang="en-US" altLang="zh-TW" sz="2600" i="1" dirty="0"/>
              <a:t>a</a:t>
            </a:r>
            <a:r>
              <a:rPr lang="en-US" altLang="zh-TW" sz="2600" dirty="0"/>
              <a:t> mod </a:t>
            </a:r>
            <a:r>
              <a:rPr lang="en-US" altLang="zh-TW" sz="2600" i="1" dirty="0"/>
              <a:t>b</a:t>
            </a:r>
            <a:r>
              <a:rPr lang="en-US" altLang="zh-TW" sz="2600" dirty="0"/>
              <a:t>) </a:t>
            </a:r>
            <a:r>
              <a:rPr lang="en-US" altLang="zh-TW" sz="1600" dirty="0"/>
              <a:t>[Proposition]</a:t>
            </a:r>
            <a:endParaRPr lang="en-US" altLang="zh-TW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4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43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43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43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43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投影片編號版面配置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908B2F82-287A-4A8C-8708-6C07E67C9EB2}" type="slidenum">
              <a:rPr kumimoji="0" lang="en-US" altLang="zh-TW" smtClean="0"/>
              <a:pPr eaLnBrk="1" hangingPunct="1"/>
              <a:t>10</a:t>
            </a:fld>
            <a:endParaRPr kumimoji="0" lang="en-US" altLang="zh-TW"/>
          </a:p>
        </p:txBody>
      </p:sp>
      <p:sp>
        <p:nvSpPr>
          <p:cNvPr id="1229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zh-TW" sz="4000"/>
              <a:t>Euclidean Algorithm</a:t>
            </a:r>
          </a:p>
        </p:txBody>
      </p:sp>
      <p:sp>
        <p:nvSpPr>
          <p:cNvPr id="119813" name="Rectangle 5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b="1" dirty="0"/>
              <a:t>Example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/>
              <a:t>	   </a:t>
            </a:r>
            <a:r>
              <a:rPr lang="en-US" altLang="zh-TW" sz="2000" dirty="0" err="1"/>
              <a:t>gcd</a:t>
            </a:r>
            <a:r>
              <a:rPr lang="en-US" altLang="zh-TW" sz="2000" baseline="-25000" dirty="0"/>
              <a:t> </a:t>
            </a:r>
            <a:r>
              <a:rPr lang="en-US" altLang="zh-TW" sz="2000" dirty="0"/>
              <a:t>(325, 234)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/>
              <a:t>	= </a:t>
            </a:r>
            <a:r>
              <a:rPr lang="en-US" altLang="zh-TW" sz="2000" dirty="0" err="1"/>
              <a:t>gcd</a:t>
            </a:r>
            <a:r>
              <a:rPr lang="en-US" altLang="zh-TW" sz="2000" baseline="-25000" dirty="0"/>
              <a:t> </a:t>
            </a:r>
            <a:r>
              <a:rPr lang="en-US" altLang="zh-TW" sz="2000" dirty="0"/>
              <a:t>(234, 325 mod 234)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/>
              <a:t>	= </a:t>
            </a:r>
            <a:r>
              <a:rPr lang="en-US" altLang="zh-TW" sz="2000" dirty="0" err="1"/>
              <a:t>gcd</a:t>
            </a:r>
            <a:r>
              <a:rPr lang="en-US" altLang="zh-TW" sz="2000" baseline="-25000" dirty="0"/>
              <a:t> </a:t>
            </a:r>
            <a:r>
              <a:rPr lang="en-US" altLang="zh-TW" sz="2000" dirty="0"/>
              <a:t>(234, 91)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/>
              <a:t>	= </a:t>
            </a:r>
            <a:r>
              <a:rPr lang="en-US" altLang="zh-TW" sz="2000" dirty="0" err="1"/>
              <a:t>gcd</a:t>
            </a:r>
            <a:r>
              <a:rPr lang="en-US" altLang="zh-TW" sz="2000" baseline="-25000" dirty="0"/>
              <a:t> </a:t>
            </a:r>
            <a:r>
              <a:rPr lang="en-US" altLang="zh-TW" sz="2000" dirty="0"/>
              <a:t>(91, 234 mod 91)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/>
              <a:t>	= </a:t>
            </a:r>
            <a:r>
              <a:rPr lang="en-US" altLang="zh-TW" sz="2000" dirty="0" err="1"/>
              <a:t>gcd</a:t>
            </a:r>
            <a:r>
              <a:rPr lang="en-US" altLang="zh-TW" sz="2000" baseline="-25000" dirty="0"/>
              <a:t> </a:t>
            </a:r>
            <a:r>
              <a:rPr lang="en-US" altLang="zh-TW" sz="2000" dirty="0"/>
              <a:t>(91, 52)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/>
              <a:t>	= </a:t>
            </a:r>
            <a:r>
              <a:rPr lang="en-US" altLang="zh-TW" sz="2000" dirty="0" err="1"/>
              <a:t>gcd</a:t>
            </a:r>
            <a:r>
              <a:rPr lang="en-US" altLang="zh-TW" sz="2000" baseline="-25000" dirty="0"/>
              <a:t> </a:t>
            </a:r>
            <a:r>
              <a:rPr lang="en-US" altLang="zh-TW" sz="2000" dirty="0"/>
              <a:t>(52, 91 mod 52)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/>
              <a:t>	= </a:t>
            </a:r>
            <a:r>
              <a:rPr lang="en-US" altLang="zh-TW" sz="2000" dirty="0" err="1"/>
              <a:t>gcd</a:t>
            </a:r>
            <a:r>
              <a:rPr lang="en-US" altLang="zh-TW" sz="2000" baseline="-25000" dirty="0"/>
              <a:t> </a:t>
            </a:r>
            <a:r>
              <a:rPr lang="en-US" altLang="zh-TW" sz="2000" dirty="0"/>
              <a:t>(52, 39)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/>
              <a:t>	= </a:t>
            </a:r>
            <a:r>
              <a:rPr lang="en-US" altLang="zh-TW" sz="2000" dirty="0" err="1"/>
              <a:t>gcd</a:t>
            </a:r>
            <a:r>
              <a:rPr lang="en-US" altLang="zh-TW" sz="2000" baseline="-25000" dirty="0"/>
              <a:t> </a:t>
            </a:r>
            <a:r>
              <a:rPr lang="en-US" altLang="zh-TW" sz="2000" dirty="0"/>
              <a:t>(39, 52 mod 39)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/>
              <a:t>	= </a:t>
            </a:r>
            <a:r>
              <a:rPr lang="en-US" altLang="zh-TW" sz="2000" dirty="0" err="1"/>
              <a:t>gcd</a:t>
            </a:r>
            <a:r>
              <a:rPr lang="en-US" altLang="zh-TW" sz="2000" baseline="-25000" dirty="0"/>
              <a:t> </a:t>
            </a:r>
            <a:r>
              <a:rPr lang="en-US" altLang="zh-TW" sz="2000" dirty="0"/>
              <a:t>(39, 13)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/>
              <a:t>	= </a:t>
            </a:r>
            <a:r>
              <a:rPr lang="en-US" altLang="zh-TW" sz="2000" dirty="0" err="1"/>
              <a:t>gcd</a:t>
            </a:r>
            <a:r>
              <a:rPr lang="en-US" altLang="zh-TW" sz="2000" baseline="-25000" dirty="0"/>
              <a:t> </a:t>
            </a:r>
            <a:r>
              <a:rPr lang="en-US" altLang="zh-TW" sz="2000" dirty="0"/>
              <a:t>(13, 39 mod 13)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/>
              <a:t>	= </a:t>
            </a:r>
            <a:r>
              <a:rPr lang="en-US" altLang="zh-TW" sz="2000" dirty="0" err="1"/>
              <a:t>gcd</a:t>
            </a:r>
            <a:r>
              <a:rPr lang="en-US" altLang="zh-TW" sz="2000" baseline="-25000" dirty="0"/>
              <a:t> </a:t>
            </a:r>
            <a:r>
              <a:rPr lang="en-US" altLang="zh-TW" sz="2000" dirty="0"/>
              <a:t>(13, 0)  = 13</a:t>
            </a:r>
          </a:p>
        </p:txBody>
      </p:sp>
      <p:graphicFrame>
        <p:nvGraphicFramePr>
          <p:cNvPr id="120132" name="Group 324"/>
          <p:cNvGraphicFramePr>
            <a:graphicFrameLocks noGrp="1"/>
          </p:cNvGraphicFramePr>
          <p:nvPr>
            <p:ph sz="half" idx="2"/>
          </p:nvPr>
        </p:nvGraphicFramePr>
        <p:xfrm>
          <a:off x="4932363" y="2060575"/>
          <a:ext cx="3311525" cy="3673477"/>
        </p:xfrm>
        <a:graphic>
          <a:graphicData uri="http://schemas.openxmlformats.org/drawingml/2006/table">
            <a:tbl>
              <a:tblPr/>
              <a:tblGrid>
                <a:gridCol w="414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1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325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234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234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182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39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39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13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39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9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98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9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98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98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98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98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98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98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98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98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198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2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55071C39-06F1-46B4-A441-4C78E621BA7F}" type="slidenum">
              <a:rPr kumimoji="0" lang="en-US" altLang="zh-TW" smtClean="0"/>
              <a:pPr eaLnBrk="1" hangingPunct="1"/>
              <a:t>11</a:t>
            </a:fld>
            <a:endParaRPr kumimoji="0" lang="en-US" altLang="zh-TW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zh-TW" sz="4000"/>
              <a:t>Euclidean Algorithm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600" dirty="0"/>
              <a:t>Euclid (325~265 BC)</a:t>
            </a:r>
          </a:p>
          <a:p>
            <a:pPr lvl="1" eaLnBrk="1" hangingPunct="1"/>
            <a:r>
              <a:rPr lang="en-US" altLang="zh-TW" sz="2200" dirty="0"/>
              <a:t>“father of geometry”, a Greek mathematician</a:t>
            </a:r>
          </a:p>
          <a:p>
            <a:pPr lvl="1" eaLnBrk="1" hangingPunct="1"/>
            <a:r>
              <a:rPr lang="en-US" altLang="zh-TW" sz="2200" dirty="0"/>
              <a:t>His most popular work, </a:t>
            </a:r>
            <a:r>
              <a:rPr lang="en-US" altLang="zh-TW" sz="2200" i="1" dirty="0"/>
              <a:t>Elements</a:t>
            </a:r>
            <a:r>
              <a:rPr lang="en-US" altLang="zh-TW" sz="2200" dirty="0"/>
              <a:t>, is one of the most successful textbooks in the history of mathematics</a:t>
            </a:r>
          </a:p>
          <a:p>
            <a:pPr eaLnBrk="1" hangingPunct="1"/>
            <a:r>
              <a:rPr lang="en-US" altLang="zh-TW" sz="2600" i="1" dirty="0"/>
              <a:t>Elements</a:t>
            </a:r>
          </a:p>
          <a:p>
            <a:pPr lvl="1" eaLnBrk="1" hangingPunct="1"/>
            <a:r>
              <a:rPr lang="en-US" altLang="zh-TW" sz="2200" dirty="0"/>
              <a:t>Best-known for its geometric results</a:t>
            </a:r>
          </a:p>
          <a:p>
            <a:pPr lvl="1" eaLnBrk="1" hangingPunct="1"/>
            <a:r>
              <a:rPr lang="en-US" altLang="zh-TW" sz="2200" dirty="0"/>
              <a:t>Also includes various results in number theory</a:t>
            </a:r>
          </a:p>
          <a:p>
            <a:pPr lvl="2" eaLnBrk="1" hangingPunct="1"/>
            <a:r>
              <a:rPr lang="en-US" altLang="zh-TW" sz="2100" dirty="0"/>
              <a:t>Euclid's lemma on factorization</a:t>
            </a:r>
          </a:p>
          <a:p>
            <a:pPr lvl="3" eaLnBrk="1" hangingPunct="1"/>
            <a:r>
              <a:rPr lang="en-US" altLang="zh-TW" sz="1800" dirty="0"/>
              <a:t>leads to the </a:t>
            </a:r>
            <a:r>
              <a:rPr lang="en-US" altLang="zh-TW" sz="1800" u="sng" dirty="0"/>
              <a:t>fundamental theorem of arithmetic</a:t>
            </a:r>
          </a:p>
          <a:p>
            <a:pPr lvl="2" eaLnBrk="1" hangingPunct="1"/>
            <a:r>
              <a:rPr lang="en-US" altLang="zh-TW" sz="2100" u="sng" dirty="0"/>
              <a:t>Euclidean algorithm</a:t>
            </a:r>
            <a:r>
              <a:rPr lang="en-US" altLang="zh-TW" sz="2100" dirty="0"/>
              <a:t> for finding GCD</a:t>
            </a:r>
          </a:p>
        </p:txBody>
      </p:sp>
      <p:pic>
        <p:nvPicPr>
          <p:cNvPr id="125956" name="Picture 4" descr="eucli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3657600"/>
            <a:ext cx="1724025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投影片編號版面配置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C6C42823-6758-41AE-A83E-D3B05752A00E}" type="slidenum">
              <a:rPr kumimoji="0" lang="en-US" altLang="zh-TW" smtClean="0"/>
              <a:pPr eaLnBrk="1" hangingPunct="1"/>
              <a:t>12</a:t>
            </a:fld>
            <a:endParaRPr kumimoji="0" lang="en-US" altLang="zh-TW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zh-TW" sz="4000"/>
              <a:t>Euclidean Algorithm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4419600" cy="441166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200" b="1" u="sng" dirty="0"/>
              <a:t>Algorithm</a:t>
            </a:r>
            <a:r>
              <a:rPr lang="en-US" altLang="zh-TW" sz="2200" dirty="0"/>
              <a:t>  </a:t>
            </a:r>
            <a:r>
              <a:rPr lang="en-US" altLang="zh-TW" sz="2000" dirty="0"/>
              <a:t>Euclidean algorithm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200" b="1" dirty="0"/>
              <a:t>Input</a:t>
            </a:r>
            <a:r>
              <a:rPr lang="en-US" altLang="zh-TW" sz="2200" dirty="0"/>
              <a:t>: </a:t>
            </a:r>
            <a:r>
              <a:rPr lang="en-US" altLang="zh-TW" sz="2200" i="1" dirty="0"/>
              <a:t>a</a:t>
            </a:r>
            <a:r>
              <a:rPr lang="en-US" altLang="zh-TW" sz="2200" dirty="0"/>
              <a:t>, </a:t>
            </a:r>
            <a:r>
              <a:rPr lang="en-US" altLang="zh-TW" sz="2200" i="1" dirty="0"/>
              <a:t>b</a:t>
            </a:r>
            <a:r>
              <a:rPr lang="en-US" altLang="zh-TW" sz="2200" baseline="-25000" dirty="0"/>
              <a:t> </a:t>
            </a:r>
            <a:r>
              <a:rPr lang="en-US" altLang="zh-TW" sz="2200" dirty="0">
                <a:sym typeface="Symbol" pitchFamily="18" charset="2"/>
              </a:rPr>
              <a:t>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b="1" i="1" dirty="0">
                <a:sym typeface="Symbol" pitchFamily="18" charset="2"/>
              </a:rPr>
              <a:t>Z</a:t>
            </a:r>
            <a:r>
              <a:rPr lang="en-US" altLang="zh-TW" sz="2200" dirty="0">
                <a:sym typeface="Symbol" pitchFamily="18" charset="2"/>
              </a:rPr>
              <a:t>,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  0 or </a:t>
            </a:r>
            <a:r>
              <a:rPr lang="en-US" altLang="zh-TW" sz="2200" i="1" dirty="0">
                <a:sym typeface="Symbol" pitchFamily="18" charset="2"/>
              </a:rPr>
              <a:t>b</a:t>
            </a:r>
            <a:r>
              <a:rPr lang="en-US" altLang="zh-TW" sz="2200" dirty="0">
                <a:sym typeface="Symbol" pitchFamily="18" charset="2"/>
              </a:rPr>
              <a:t>  0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200" b="1" dirty="0"/>
              <a:t>Output</a:t>
            </a:r>
            <a:r>
              <a:rPr lang="en-US" altLang="zh-TW" sz="2200" dirty="0"/>
              <a:t>: </a:t>
            </a:r>
            <a:r>
              <a:rPr lang="en-US" altLang="zh-TW" sz="2000" i="1" dirty="0"/>
              <a:t>d</a:t>
            </a:r>
            <a:r>
              <a:rPr lang="en-US" altLang="zh-TW" sz="2000" dirty="0"/>
              <a:t> = </a:t>
            </a:r>
            <a:r>
              <a:rPr lang="en-US" altLang="zh-TW" sz="2000" dirty="0" err="1"/>
              <a:t>gcd</a:t>
            </a:r>
            <a:r>
              <a:rPr lang="en-US" altLang="zh-TW" sz="2000" baseline="-25000" dirty="0"/>
              <a:t> </a:t>
            </a:r>
            <a:r>
              <a:rPr lang="en-US" altLang="zh-TW" sz="2000" dirty="0"/>
              <a:t>(</a:t>
            </a:r>
            <a:r>
              <a:rPr lang="en-US" altLang="zh-TW" sz="2000" i="1" dirty="0"/>
              <a:t>a</a:t>
            </a:r>
            <a:r>
              <a:rPr lang="en-US" altLang="zh-TW" sz="2000" dirty="0"/>
              <a:t>, </a:t>
            </a:r>
            <a:r>
              <a:rPr lang="en-US" altLang="zh-TW" sz="2000" i="1" dirty="0"/>
              <a:t>b</a:t>
            </a:r>
            <a:r>
              <a:rPr lang="en-US" altLang="zh-TW" sz="2000" dirty="0"/>
              <a:t>)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 b="1" dirty="0"/>
              <a:t>If</a:t>
            </a:r>
            <a:r>
              <a:rPr lang="en-US" altLang="zh-TW" sz="2000" dirty="0"/>
              <a:t> </a:t>
            </a:r>
            <a:r>
              <a:rPr lang="en-US" altLang="zh-TW" sz="2000" i="1" dirty="0"/>
              <a:t>b</a:t>
            </a:r>
            <a:r>
              <a:rPr lang="en-US" altLang="zh-TW" sz="2000" dirty="0"/>
              <a:t> = 0</a:t>
            </a:r>
          </a:p>
          <a:p>
            <a:pPr lvl="2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b="1" dirty="0"/>
              <a:t>Then Set</a:t>
            </a:r>
            <a:r>
              <a:rPr lang="en-US" altLang="zh-TW" dirty="0"/>
              <a:t> </a:t>
            </a:r>
            <a:r>
              <a:rPr lang="en-US" altLang="zh-TW" dirty="0" err="1"/>
              <a:t>gcd</a:t>
            </a:r>
            <a:r>
              <a:rPr lang="en-US" altLang="zh-TW" dirty="0"/>
              <a:t> = | </a:t>
            </a:r>
            <a:r>
              <a:rPr lang="en-US" altLang="zh-TW" i="1" dirty="0"/>
              <a:t>a </a:t>
            </a:r>
            <a:r>
              <a:rPr lang="en-US" altLang="zh-TW" dirty="0"/>
              <a:t>|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 b="1" dirty="0"/>
              <a:t>Else</a:t>
            </a:r>
          </a:p>
          <a:p>
            <a:pPr lvl="2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b="1" dirty="0"/>
              <a:t>While</a:t>
            </a:r>
            <a:r>
              <a:rPr lang="en-US" altLang="zh-TW" dirty="0"/>
              <a:t> </a:t>
            </a:r>
            <a:r>
              <a:rPr lang="en-US" altLang="zh-TW" i="1" dirty="0"/>
              <a:t>b</a:t>
            </a:r>
            <a:r>
              <a:rPr lang="en-US" altLang="zh-TW" dirty="0"/>
              <a:t> </a:t>
            </a:r>
            <a:r>
              <a:rPr lang="en-US" altLang="zh-TW" dirty="0">
                <a:sym typeface="Symbol" pitchFamily="18" charset="2"/>
              </a:rPr>
              <a:t> 0 </a:t>
            </a:r>
            <a:r>
              <a:rPr lang="en-US" altLang="zh-TW" b="1" dirty="0">
                <a:sym typeface="Symbol" pitchFamily="18" charset="2"/>
              </a:rPr>
              <a:t>do</a:t>
            </a:r>
          </a:p>
          <a:p>
            <a:pPr lvl="3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 b="1" dirty="0">
                <a:sym typeface="Symbol" pitchFamily="18" charset="2"/>
              </a:rPr>
              <a:t>Set</a:t>
            </a:r>
            <a:r>
              <a:rPr lang="en-US" altLang="zh-TW" sz="2000" dirty="0">
                <a:sym typeface="Symbol" pitchFamily="18" charset="2"/>
              </a:rPr>
              <a:t> </a:t>
            </a:r>
            <a:r>
              <a:rPr lang="en-US" altLang="zh-TW" sz="2000" i="1" dirty="0">
                <a:sym typeface="Symbol" pitchFamily="18" charset="2"/>
              </a:rPr>
              <a:t>c</a:t>
            </a:r>
            <a:r>
              <a:rPr lang="en-US" altLang="zh-TW" sz="2000" dirty="0">
                <a:sym typeface="Symbol" pitchFamily="18" charset="2"/>
              </a:rPr>
              <a:t> = </a:t>
            </a:r>
            <a:r>
              <a:rPr lang="en-US" altLang="zh-TW" sz="2000" i="1" dirty="0">
                <a:sym typeface="Symbol" pitchFamily="18" charset="2"/>
              </a:rPr>
              <a:t>b</a:t>
            </a:r>
          </a:p>
          <a:p>
            <a:pPr lvl="3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 b="1" dirty="0">
                <a:sym typeface="Symbol" pitchFamily="18" charset="2"/>
              </a:rPr>
              <a:t>Set</a:t>
            </a:r>
            <a:r>
              <a:rPr lang="en-US" altLang="zh-TW" sz="2000" dirty="0">
                <a:sym typeface="Symbol" pitchFamily="18" charset="2"/>
              </a:rPr>
              <a:t> </a:t>
            </a:r>
            <a:r>
              <a:rPr lang="en-US" altLang="zh-TW" sz="2000" i="1" dirty="0">
                <a:sym typeface="Symbol" pitchFamily="18" charset="2"/>
              </a:rPr>
              <a:t>b</a:t>
            </a:r>
            <a:r>
              <a:rPr lang="en-US" altLang="zh-TW" sz="2000" dirty="0">
                <a:sym typeface="Symbol" pitchFamily="18" charset="2"/>
              </a:rPr>
              <a:t> = </a:t>
            </a:r>
            <a:r>
              <a:rPr lang="en-US" altLang="zh-TW" sz="2000" i="1" dirty="0">
                <a:sym typeface="Symbol" pitchFamily="18" charset="2"/>
              </a:rPr>
              <a:t>a</a:t>
            </a:r>
            <a:r>
              <a:rPr lang="en-US" altLang="zh-TW" sz="2000" dirty="0">
                <a:sym typeface="Symbol" pitchFamily="18" charset="2"/>
              </a:rPr>
              <a:t> mod </a:t>
            </a:r>
            <a:r>
              <a:rPr lang="en-US" altLang="zh-TW" sz="2000" i="1" dirty="0">
                <a:sym typeface="Symbol" pitchFamily="18" charset="2"/>
              </a:rPr>
              <a:t>b</a:t>
            </a:r>
          </a:p>
          <a:p>
            <a:pPr lvl="3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 b="1" dirty="0">
                <a:sym typeface="Symbol" pitchFamily="18" charset="2"/>
              </a:rPr>
              <a:t>Set</a:t>
            </a:r>
            <a:r>
              <a:rPr lang="en-US" altLang="zh-TW" sz="2000" dirty="0">
                <a:sym typeface="Symbol" pitchFamily="18" charset="2"/>
              </a:rPr>
              <a:t> </a:t>
            </a:r>
            <a:r>
              <a:rPr lang="en-US" altLang="zh-TW" sz="2000" i="1" dirty="0">
                <a:sym typeface="Symbol" pitchFamily="18" charset="2"/>
              </a:rPr>
              <a:t>a</a:t>
            </a:r>
            <a:r>
              <a:rPr lang="en-US" altLang="zh-TW" sz="2000" dirty="0">
                <a:sym typeface="Symbol" pitchFamily="18" charset="2"/>
              </a:rPr>
              <a:t> = </a:t>
            </a:r>
            <a:r>
              <a:rPr lang="en-US" altLang="zh-TW" sz="2000" i="1" dirty="0">
                <a:sym typeface="Symbol" pitchFamily="18" charset="2"/>
              </a:rPr>
              <a:t>c</a:t>
            </a:r>
          </a:p>
          <a:p>
            <a:pPr lvl="2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b="1" dirty="0">
                <a:sym typeface="Symbol" pitchFamily="18" charset="2"/>
              </a:rPr>
              <a:t>End While</a:t>
            </a:r>
          </a:p>
          <a:p>
            <a:pPr lvl="2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b="1" dirty="0">
                <a:sym typeface="Symbol" pitchFamily="18" charset="2"/>
              </a:rPr>
              <a:t>Set</a:t>
            </a:r>
            <a:r>
              <a:rPr lang="en-US" altLang="zh-TW" dirty="0">
                <a:sym typeface="Symbol" pitchFamily="18" charset="2"/>
              </a:rPr>
              <a:t> </a:t>
            </a:r>
            <a:r>
              <a:rPr lang="en-US" altLang="zh-TW" dirty="0" err="1">
                <a:sym typeface="Symbol" pitchFamily="18" charset="2"/>
              </a:rPr>
              <a:t>gcd</a:t>
            </a:r>
            <a:r>
              <a:rPr lang="en-US" altLang="zh-TW" dirty="0">
                <a:sym typeface="Symbol" pitchFamily="18" charset="2"/>
              </a:rPr>
              <a:t> = </a:t>
            </a:r>
            <a:r>
              <a:rPr lang="en-US" altLang="zh-TW" i="1" dirty="0">
                <a:sym typeface="Symbol" pitchFamily="18" charset="2"/>
              </a:rPr>
              <a:t>a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 b="1" dirty="0">
                <a:sym typeface="Symbol" pitchFamily="18" charset="2"/>
              </a:rPr>
              <a:t>End If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 b="1" dirty="0">
                <a:sym typeface="Symbol" pitchFamily="18" charset="2"/>
              </a:rPr>
              <a:t>Return</a:t>
            </a:r>
            <a:r>
              <a:rPr lang="en-US" altLang="zh-TW" sz="2000" dirty="0">
                <a:sym typeface="Symbol" pitchFamily="18" charset="2"/>
              </a:rPr>
              <a:t> </a:t>
            </a:r>
            <a:r>
              <a:rPr lang="en-US" altLang="zh-TW" sz="2000" dirty="0" err="1">
                <a:sym typeface="Symbol" pitchFamily="18" charset="2"/>
              </a:rPr>
              <a:t>gcd</a:t>
            </a:r>
            <a:endParaRPr lang="en-US" altLang="zh-TW" sz="2000" dirty="0">
              <a:sym typeface="Symbol" pitchFamily="18" charset="2"/>
            </a:endParaRPr>
          </a:p>
        </p:txBody>
      </p:sp>
      <p:sp>
        <p:nvSpPr>
          <p:cNvPr id="12698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876800" y="1719263"/>
            <a:ext cx="3886200" cy="458946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200" b="1" u="sng" dirty="0"/>
              <a:t>Algorithm</a:t>
            </a:r>
            <a:r>
              <a:rPr lang="en-US" altLang="zh-TW" sz="2200" dirty="0"/>
              <a:t>  </a:t>
            </a:r>
            <a:r>
              <a:rPr lang="en-US" altLang="zh-TW" sz="2000" dirty="0"/>
              <a:t>(recursive)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200" b="1" dirty="0"/>
              <a:t>Input</a:t>
            </a:r>
            <a:r>
              <a:rPr lang="en-US" altLang="zh-TW" sz="2200" dirty="0"/>
              <a:t>: </a:t>
            </a:r>
            <a:r>
              <a:rPr lang="en-US" altLang="zh-TW" sz="2200" i="1" dirty="0"/>
              <a:t>a</a:t>
            </a:r>
            <a:r>
              <a:rPr lang="en-US" altLang="zh-TW" sz="2200" dirty="0"/>
              <a:t>, </a:t>
            </a:r>
            <a:r>
              <a:rPr lang="en-US" altLang="zh-TW" sz="2200" i="1" dirty="0"/>
              <a:t>b</a:t>
            </a:r>
            <a:r>
              <a:rPr lang="en-US" altLang="zh-TW" sz="2200" dirty="0"/>
              <a:t> </a:t>
            </a:r>
            <a:r>
              <a:rPr lang="en-US" altLang="zh-TW" sz="2200" dirty="0">
                <a:sym typeface="Symbol" pitchFamily="18" charset="2"/>
              </a:rPr>
              <a:t>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b="1" i="1" dirty="0">
                <a:sym typeface="Symbol" pitchFamily="18" charset="2"/>
              </a:rPr>
              <a:t>Z</a:t>
            </a:r>
            <a:r>
              <a:rPr lang="en-US" altLang="zh-TW" sz="2200" dirty="0">
                <a:sym typeface="Symbol" pitchFamily="18" charset="2"/>
              </a:rPr>
              <a:t>,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  0 or </a:t>
            </a:r>
            <a:r>
              <a:rPr lang="en-US" altLang="zh-TW" sz="2200" i="1" dirty="0">
                <a:sym typeface="Symbol" pitchFamily="18" charset="2"/>
              </a:rPr>
              <a:t>b</a:t>
            </a:r>
            <a:r>
              <a:rPr lang="en-US" altLang="zh-TW" sz="2200" dirty="0">
                <a:sym typeface="Symbol" pitchFamily="18" charset="2"/>
              </a:rPr>
              <a:t>  0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200" b="1" dirty="0"/>
              <a:t>Output</a:t>
            </a:r>
            <a:r>
              <a:rPr lang="en-US" altLang="zh-TW" sz="2200" dirty="0"/>
              <a:t>: </a:t>
            </a:r>
            <a:r>
              <a:rPr lang="en-US" altLang="zh-TW" sz="2000" i="1" dirty="0"/>
              <a:t>d</a:t>
            </a:r>
            <a:r>
              <a:rPr lang="en-US" altLang="zh-TW" sz="2000" dirty="0"/>
              <a:t> = </a:t>
            </a:r>
            <a:r>
              <a:rPr lang="en-US" altLang="zh-TW" sz="2000" dirty="0" err="1"/>
              <a:t>gcd</a:t>
            </a:r>
            <a:r>
              <a:rPr lang="en-US" altLang="zh-TW" sz="2000" baseline="-25000" dirty="0"/>
              <a:t> </a:t>
            </a:r>
            <a:r>
              <a:rPr lang="en-US" altLang="zh-TW" sz="2000" dirty="0"/>
              <a:t>(</a:t>
            </a:r>
            <a:r>
              <a:rPr lang="en-US" altLang="zh-TW" sz="2000" i="1" dirty="0"/>
              <a:t>a</a:t>
            </a:r>
            <a:r>
              <a:rPr lang="en-US" altLang="zh-TW" sz="2000" dirty="0"/>
              <a:t>, </a:t>
            </a:r>
            <a:r>
              <a:rPr lang="en-US" altLang="zh-TW" sz="2000" i="1" dirty="0"/>
              <a:t>b</a:t>
            </a:r>
            <a:r>
              <a:rPr lang="en-US" altLang="zh-TW" sz="2000" dirty="0"/>
              <a:t>)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 b="1" dirty="0"/>
              <a:t>If</a:t>
            </a:r>
            <a:r>
              <a:rPr lang="en-US" altLang="zh-TW" sz="2000" dirty="0"/>
              <a:t> </a:t>
            </a:r>
            <a:r>
              <a:rPr lang="en-US" altLang="zh-TW" sz="2000" i="1" dirty="0"/>
              <a:t>b</a:t>
            </a:r>
            <a:r>
              <a:rPr lang="en-US" altLang="zh-TW" sz="2000" dirty="0"/>
              <a:t> = 0</a:t>
            </a:r>
          </a:p>
          <a:p>
            <a:pPr lvl="2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b="1" dirty="0"/>
              <a:t>Then Set</a:t>
            </a:r>
            <a:r>
              <a:rPr lang="en-US" altLang="zh-TW" dirty="0"/>
              <a:t> </a:t>
            </a:r>
            <a:r>
              <a:rPr lang="en-US" altLang="zh-TW" dirty="0" err="1"/>
              <a:t>gcd</a:t>
            </a:r>
            <a:r>
              <a:rPr lang="en-US" altLang="zh-TW" dirty="0"/>
              <a:t> = | </a:t>
            </a:r>
            <a:r>
              <a:rPr lang="en-US" altLang="zh-TW" i="1" dirty="0"/>
              <a:t>a </a:t>
            </a:r>
            <a:r>
              <a:rPr lang="en-US" altLang="zh-TW" dirty="0"/>
              <a:t>|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 b="1" dirty="0"/>
              <a:t>Else</a:t>
            </a:r>
          </a:p>
          <a:p>
            <a:pPr lvl="2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b="1" dirty="0">
                <a:sym typeface="Symbol" pitchFamily="18" charset="2"/>
              </a:rPr>
              <a:t>Set</a:t>
            </a:r>
            <a:r>
              <a:rPr lang="en-US" altLang="zh-TW" dirty="0">
                <a:sym typeface="Symbol" pitchFamily="18" charset="2"/>
              </a:rPr>
              <a:t> </a:t>
            </a:r>
            <a:r>
              <a:rPr lang="en-US" altLang="zh-TW" dirty="0" err="1">
                <a:sym typeface="Symbol" pitchFamily="18" charset="2"/>
              </a:rPr>
              <a:t>gcd</a:t>
            </a:r>
            <a:r>
              <a:rPr lang="en-US" altLang="zh-TW" dirty="0">
                <a:sym typeface="Symbol" pitchFamily="18" charset="2"/>
              </a:rPr>
              <a:t> = </a:t>
            </a:r>
            <a:r>
              <a:rPr lang="en-US" altLang="zh-TW" dirty="0" err="1">
                <a:sym typeface="Symbol" pitchFamily="18" charset="2"/>
              </a:rPr>
              <a:t>gcd</a:t>
            </a:r>
            <a:r>
              <a:rPr lang="en-US" altLang="zh-TW" dirty="0">
                <a:sym typeface="Symbol" pitchFamily="18" charset="2"/>
              </a:rPr>
              <a:t> (</a:t>
            </a:r>
            <a:r>
              <a:rPr lang="en-US" altLang="zh-TW" i="1" dirty="0">
                <a:sym typeface="Symbol" pitchFamily="18" charset="2"/>
              </a:rPr>
              <a:t>b</a:t>
            </a:r>
            <a:r>
              <a:rPr lang="en-US" altLang="zh-TW" dirty="0">
                <a:sym typeface="Symbol" pitchFamily="18" charset="2"/>
              </a:rPr>
              <a:t>, </a:t>
            </a:r>
            <a:r>
              <a:rPr lang="en-US" altLang="zh-TW" i="1" dirty="0">
                <a:sym typeface="Symbol" pitchFamily="18" charset="2"/>
              </a:rPr>
              <a:t>a</a:t>
            </a:r>
            <a:r>
              <a:rPr lang="en-US" altLang="zh-TW" dirty="0">
                <a:sym typeface="Symbol" pitchFamily="18" charset="2"/>
              </a:rPr>
              <a:t> mod </a:t>
            </a:r>
            <a:r>
              <a:rPr lang="en-US" altLang="zh-TW" i="1" dirty="0">
                <a:sym typeface="Symbol" pitchFamily="18" charset="2"/>
              </a:rPr>
              <a:t>b</a:t>
            </a:r>
            <a:r>
              <a:rPr lang="en-US" altLang="zh-TW" dirty="0">
                <a:sym typeface="Symbol" pitchFamily="18" charset="2"/>
              </a:rPr>
              <a:t>)</a:t>
            </a:r>
            <a:endParaRPr lang="en-US" altLang="zh-TW" i="1" dirty="0">
              <a:sym typeface="Symbol" pitchFamily="18" charset="2"/>
            </a:endParaRP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 b="1" dirty="0">
                <a:sym typeface="Symbol" pitchFamily="18" charset="2"/>
              </a:rPr>
              <a:t>End If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 b="1" dirty="0">
                <a:sym typeface="Symbol" pitchFamily="18" charset="2"/>
              </a:rPr>
              <a:t>Return</a:t>
            </a:r>
            <a:r>
              <a:rPr lang="en-US" altLang="zh-TW" sz="2000" dirty="0">
                <a:sym typeface="Symbol" pitchFamily="18" charset="2"/>
              </a:rPr>
              <a:t> </a:t>
            </a:r>
            <a:r>
              <a:rPr lang="en-US" altLang="zh-TW" sz="2000" dirty="0" err="1">
                <a:sym typeface="Symbol" pitchFamily="18" charset="2"/>
              </a:rPr>
              <a:t>gcd</a:t>
            </a:r>
            <a:endParaRPr lang="en-US" altLang="zh-TW" sz="2000" dirty="0">
              <a:sym typeface="Symbol" pitchFamily="18" charset="2"/>
            </a:endParaRP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TW" sz="800" dirty="0">
              <a:sym typeface="Symbol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>
                <a:sym typeface="Symbol" pitchFamily="18" charset="2"/>
              </a:rPr>
              <a:t>The number </a:t>
            </a:r>
            <a:r>
              <a:rPr lang="en-US" altLang="zh-TW" sz="2400" dirty="0" err="1">
                <a:sym typeface="Symbol" pitchFamily="18" charset="2"/>
              </a:rPr>
              <a:t>gcd</a:t>
            </a:r>
            <a:r>
              <a:rPr lang="en-US" altLang="zh-TW" sz="2400" dirty="0">
                <a:sym typeface="Symbol" pitchFamily="18" charset="2"/>
              </a:rPr>
              <a:t> (</a:t>
            </a:r>
            <a:r>
              <a:rPr lang="en-US" altLang="zh-TW" sz="2400" i="1" dirty="0">
                <a:sym typeface="Symbol" pitchFamily="18" charset="2"/>
              </a:rPr>
              <a:t>a</a:t>
            </a:r>
            <a:r>
              <a:rPr lang="en-US" altLang="zh-TW" sz="2400" dirty="0">
                <a:sym typeface="Symbol" pitchFamily="18" charset="2"/>
              </a:rPr>
              <a:t>, </a:t>
            </a:r>
            <a:r>
              <a:rPr lang="en-US" altLang="zh-TW" sz="2400" i="1" dirty="0">
                <a:sym typeface="Symbol" pitchFamily="18" charset="2"/>
              </a:rPr>
              <a:t>b</a:t>
            </a:r>
            <a:r>
              <a:rPr lang="en-US" altLang="zh-TW" sz="2400" dirty="0">
                <a:sym typeface="Symbol" pitchFamily="18" charset="2"/>
              </a:rPr>
              <a:t>) =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sym typeface="Symbol" pitchFamily="18" charset="2"/>
              </a:rPr>
              <a:t>	</a:t>
            </a:r>
            <a:r>
              <a:rPr lang="en-US" altLang="zh-TW" sz="2400" dirty="0" err="1">
                <a:sym typeface="Symbol" pitchFamily="18" charset="2"/>
              </a:rPr>
              <a:t>gcd</a:t>
            </a:r>
            <a:r>
              <a:rPr lang="en-US" altLang="zh-TW" sz="2400" dirty="0">
                <a:sym typeface="Symbol" pitchFamily="18" charset="2"/>
              </a:rPr>
              <a:t> (</a:t>
            </a:r>
            <a:r>
              <a:rPr lang="en-US" altLang="zh-TW" sz="2400" i="1" dirty="0">
                <a:sym typeface="Symbol" pitchFamily="18" charset="2"/>
              </a:rPr>
              <a:t>b</a:t>
            </a:r>
            <a:r>
              <a:rPr lang="en-US" altLang="zh-TW" sz="2400" dirty="0">
                <a:sym typeface="Symbol" pitchFamily="18" charset="2"/>
              </a:rPr>
              <a:t>, </a:t>
            </a:r>
            <a:r>
              <a:rPr lang="en-US" altLang="zh-TW" sz="2400" i="1" dirty="0">
                <a:sym typeface="Symbol" pitchFamily="18" charset="2"/>
              </a:rPr>
              <a:t>a</a:t>
            </a:r>
            <a:r>
              <a:rPr lang="en-US" altLang="zh-TW" sz="2400" dirty="0">
                <a:sym typeface="Symbol" pitchFamily="18" charset="2"/>
              </a:rPr>
              <a:t> mod </a:t>
            </a:r>
            <a:r>
              <a:rPr lang="en-US" altLang="zh-TW" sz="2400" i="1" dirty="0">
                <a:sym typeface="Symbol" pitchFamily="18" charset="2"/>
              </a:rPr>
              <a:t>b</a:t>
            </a:r>
            <a:r>
              <a:rPr lang="en-US" altLang="zh-TW" sz="2400" dirty="0">
                <a:sym typeface="Symbol" pitchFamily="18" charset="2"/>
              </a:rPr>
              <a:t>) = …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sym typeface="Symbol" pitchFamily="18" charset="2"/>
              </a:rPr>
              <a:t>	is a </a:t>
            </a:r>
            <a:r>
              <a:rPr lang="en-US" altLang="zh-TW" sz="2400" i="1" u="sng" dirty="0">
                <a:sym typeface="Symbol" pitchFamily="18" charset="2"/>
              </a:rPr>
              <a:t>loop invariant</a:t>
            </a:r>
            <a:r>
              <a:rPr lang="en-US" altLang="zh-TW" sz="2400" dirty="0">
                <a:sym typeface="Symbol" pitchFamily="18" charset="2"/>
              </a:rPr>
              <a:t> in the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sym typeface="Symbol" pitchFamily="18" charset="2"/>
              </a:rPr>
              <a:t>	Euclidean algorithm</a:t>
            </a:r>
            <a:endParaRPr lang="en-US" altLang="zh-TW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build="p"/>
      <p:bldP spid="12698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0A436530-F365-4E73-AAE7-46308415D455}" type="slidenum">
              <a:rPr kumimoji="0" lang="en-US" altLang="zh-TW" smtClean="0"/>
              <a:pPr eaLnBrk="1" hangingPunct="1"/>
              <a:t>13</a:t>
            </a:fld>
            <a:endParaRPr kumimoji="0" lang="en-US" altLang="zh-TW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Arithmetic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Modular Function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GCD and Euclidean Algorithm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b="1" dirty="0"/>
              <a:t>Extended GCD Algorithm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Fundamental Theorem of Arithmetic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Modular Arithmetic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Chinese Remainder Theorem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Theorems of Fermat and Euler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4C73BA97-59F2-4645-BE9B-62F423EC41B0}" type="slidenum">
              <a:rPr kumimoji="0" lang="en-US" altLang="zh-TW" smtClean="0"/>
              <a:pPr eaLnBrk="1" hangingPunct="1"/>
              <a:t>14</a:t>
            </a:fld>
            <a:endParaRPr kumimoji="0" lang="en-US" altLang="zh-TW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Extended GCD Algorithm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Goal</a:t>
            </a:r>
          </a:p>
          <a:p>
            <a:pPr lvl="1" eaLnBrk="1" hangingPunct="1"/>
            <a:r>
              <a:rPr lang="en-US" altLang="zh-TW" dirty="0"/>
              <a:t>Given  </a:t>
            </a:r>
            <a:r>
              <a:rPr lang="en-US" altLang="zh-TW" i="1" dirty="0"/>
              <a:t>a</a:t>
            </a:r>
            <a:r>
              <a:rPr lang="en-US" altLang="zh-TW" dirty="0"/>
              <a:t>, </a:t>
            </a:r>
            <a:r>
              <a:rPr lang="en-US" altLang="zh-TW" i="1" dirty="0"/>
              <a:t>b</a:t>
            </a:r>
            <a:r>
              <a:rPr lang="en-US" altLang="zh-TW" baseline="-25000" dirty="0"/>
              <a:t> </a:t>
            </a:r>
            <a:r>
              <a:rPr lang="en-US" altLang="zh-TW" dirty="0">
                <a:sym typeface="Symbol" pitchFamily="18" charset="2"/>
              </a:rPr>
              <a:t>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b="1" i="1" dirty="0">
                <a:sym typeface="Symbol" pitchFamily="18" charset="2"/>
              </a:rPr>
              <a:t>Z</a:t>
            </a:r>
          </a:p>
          <a:p>
            <a:pPr lvl="1" eaLnBrk="1" hangingPunct="1"/>
            <a:r>
              <a:rPr lang="en-US" altLang="zh-TW" dirty="0">
                <a:sym typeface="Symbol" pitchFamily="18" charset="2"/>
              </a:rPr>
              <a:t>Find  </a:t>
            </a:r>
            <a:r>
              <a:rPr lang="en-US" altLang="zh-TW" i="1" dirty="0"/>
              <a:t>x</a:t>
            </a:r>
            <a:r>
              <a:rPr lang="en-US" altLang="zh-TW" dirty="0"/>
              <a:t>, </a:t>
            </a:r>
            <a:r>
              <a:rPr lang="en-US" altLang="zh-TW" i="1" dirty="0"/>
              <a:t>y</a:t>
            </a:r>
            <a:r>
              <a:rPr lang="en-US" altLang="zh-TW" baseline="-25000" dirty="0"/>
              <a:t> </a:t>
            </a:r>
            <a:r>
              <a:rPr lang="en-US" altLang="zh-TW" dirty="0">
                <a:sym typeface="Symbol" pitchFamily="18" charset="2"/>
              </a:rPr>
              <a:t>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b="1" i="1" dirty="0">
                <a:sym typeface="Symbol" pitchFamily="18" charset="2"/>
              </a:rPr>
              <a:t>Z</a:t>
            </a:r>
            <a:r>
              <a:rPr lang="en-US" altLang="zh-TW" dirty="0">
                <a:sym typeface="Symbol" pitchFamily="18" charset="2"/>
              </a:rPr>
              <a:t>  such that  </a:t>
            </a:r>
            <a:r>
              <a:rPr lang="en-US" altLang="zh-TW" i="1" dirty="0">
                <a:sym typeface="Symbol" pitchFamily="18" charset="2"/>
              </a:rPr>
              <a:t>a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x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+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b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y</a:t>
            </a:r>
            <a:r>
              <a:rPr lang="en-US" altLang="zh-TW" dirty="0">
                <a:sym typeface="Symbol" pitchFamily="18" charset="2"/>
              </a:rPr>
              <a:t> = </a:t>
            </a:r>
            <a:r>
              <a:rPr lang="en-US" altLang="zh-TW" dirty="0" err="1">
                <a:sym typeface="Symbol" pitchFamily="18" charset="2"/>
              </a:rPr>
              <a:t>gcd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(</a:t>
            </a:r>
            <a:r>
              <a:rPr lang="en-US" altLang="zh-TW" i="1" dirty="0">
                <a:sym typeface="Symbol" pitchFamily="18" charset="2"/>
              </a:rPr>
              <a:t>a</a:t>
            </a:r>
            <a:r>
              <a:rPr lang="en-US" altLang="zh-TW" dirty="0">
                <a:sym typeface="Symbol" pitchFamily="18" charset="2"/>
              </a:rPr>
              <a:t>,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b</a:t>
            </a:r>
            <a:r>
              <a:rPr lang="en-US" altLang="zh-TW" dirty="0">
                <a:sym typeface="Symbol" pitchFamily="18" charset="2"/>
              </a:rPr>
              <a:t>)</a:t>
            </a:r>
          </a:p>
          <a:p>
            <a:pPr eaLnBrk="1" hangingPunct="1"/>
            <a:r>
              <a:rPr lang="en-US" altLang="zh-TW" dirty="0">
                <a:sym typeface="Symbol" pitchFamily="18" charset="2"/>
              </a:rPr>
              <a:t>Application</a:t>
            </a:r>
          </a:p>
          <a:p>
            <a:pPr lvl="1" eaLnBrk="1" hangingPunct="1"/>
            <a:r>
              <a:rPr lang="en-US" altLang="zh-TW" i="1" dirty="0">
                <a:sym typeface="Symbol" pitchFamily="18" charset="2"/>
              </a:rPr>
              <a:t>b</a:t>
            </a:r>
            <a:r>
              <a:rPr lang="en-US" altLang="zh-TW" dirty="0">
                <a:sym typeface="Symbol" pitchFamily="18" charset="2"/>
              </a:rPr>
              <a:t> = </a:t>
            </a:r>
            <a:r>
              <a:rPr lang="en-US" altLang="zh-TW" i="1" dirty="0">
                <a:sym typeface="Symbol" pitchFamily="18" charset="2"/>
              </a:rPr>
              <a:t>p</a:t>
            </a:r>
            <a:r>
              <a:rPr lang="en-US" altLang="zh-TW" dirty="0">
                <a:sym typeface="Symbol" pitchFamily="18" charset="2"/>
              </a:rPr>
              <a:t>  is a prime number </a:t>
            </a:r>
          </a:p>
          <a:p>
            <a:pPr lvl="1" eaLnBrk="1" hangingPunct="1"/>
            <a:r>
              <a:rPr lang="en-US" altLang="zh-TW" dirty="0" err="1">
                <a:sym typeface="Symbol" pitchFamily="18" charset="2"/>
              </a:rPr>
              <a:t>gcd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(</a:t>
            </a:r>
            <a:r>
              <a:rPr lang="en-US" altLang="zh-TW" i="1" dirty="0">
                <a:sym typeface="Symbol" pitchFamily="18" charset="2"/>
              </a:rPr>
              <a:t>a</a:t>
            </a:r>
            <a:r>
              <a:rPr lang="en-US" altLang="zh-TW" dirty="0">
                <a:sym typeface="Symbol" pitchFamily="18" charset="2"/>
              </a:rPr>
              <a:t>, </a:t>
            </a:r>
            <a:r>
              <a:rPr lang="en-US" altLang="zh-TW" i="1" dirty="0">
                <a:sym typeface="Symbol" pitchFamily="18" charset="2"/>
              </a:rPr>
              <a:t>p</a:t>
            </a:r>
            <a:r>
              <a:rPr lang="en-US" altLang="zh-TW" dirty="0">
                <a:sym typeface="Symbol" pitchFamily="18" charset="2"/>
              </a:rPr>
              <a:t>) = 1</a:t>
            </a:r>
          </a:p>
          <a:p>
            <a:pPr lvl="2" eaLnBrk="1" hangingPunct="1"/>
            <a:r>
              <a:rPr lang="en-US" altLang="zh-TW" dirty="0">
                <a:sym typeface="Symbol" pitchFamily="18" charset="2"/>
              </a:rPr>
              <a:t>i.e.,  </a:t>
            </a:r>
            <a:r>
              <a:rPr lang="en-US" altLang="zh-TW" i="1" dirty="0">
                <a:sym typeface="Symbol" pitchFamily="18" charset="2"/>
              </a:rPr>
              <a:t>a</a:t>
            </a:r>
            <a:r>
              <a:rPr lang="en-US" altLang="zh-TW" dirty="0">
                <a:sym typeface="Symbol" pitchFamily="18" charset="2"/>
              </a:rPr>
              <a:t>  and  </a:t>
            </a:r>
            <a:r>
              <a:rPr lang="en-US" altLang="zh-TW" i="1" dirty="0">
                <a:sym typeface="Symbol" pitchFamily="18" charset="2"/>
              </a:rPr>
              <a:t>p</a:t>
            </a:r>
            <a:r>
              <a:rPr lang="en-US" altLang="zh-TW" dirty="0">
                <a:sym typeface="Symbol" pitchFamily="18" charset="2"/>
              </a:rPr>
              <a:t>  are relatively prime</a:t>
            </a:r>
          </a:p>
          <a:p>
            <a:pPr lvl="1" eaLnBrk="1" hangingPunct="1"/>
            <a:r>
              <a:rPr lang="en-US" altLang="zh-TW" dirty="0">
                <a:sym typeface="Symbol" pitchFamily="18" charset="2"/>
              </a:rPr>
              <a:t>Then</a:t>
            </a:r>
            <a:r>
              <a:rPr lang="en-US" altLang="zh-TW" baseline="-25000" dirty="0">
                <a:sym typeface="Symbol" pitchFamily="18" charset="2"/>
              </a:rPr>
              <a:t>  </a:t>
            </a:r>
            <a:r>
              <a:rPr lang="en-US" altLang="zh-TW" i="1" dirty="0">
                <a:sym typeface="Symbol" pitchFamily="18" charset="2"/>
              </a:rPr>
              <a:t>x</a:t>
            </a:r>
            <a:r>
              <a:rPr lang="en-US" altLang="zh-TW" baseline="-25000" dirty="0">
                <a:sym typeface="Symbol" pitchFamily="18" charset="2"/>
              </a:rPr>
              <a:t>  </a:t>
            </a:r>
            <a:r>
              <a:rPr lang="en-US" altLang="zh-TW" dirty="0">
                <a:sym typeface="Symbol" pitchFamily="18" charset="2"/>
              </a:rPr>
              <a:t>is a </a:t>
            </a:r>
            <a:r>
              <a:rPr lang="en-US" altLang="zh-TW" b="1" dirty="0">
                <a:solidFill>
                  <a:srgbClr val="9900CC"/>
                </a:solidFill>
                <a:sym typeface="Symbol" pitchFamily="18" charset="2"/>
              </a:rPr>
              <a:t>multiplicative inverse</a:t>
            </a:r>
            <a:r>
              <a:rPr lang="en-US" altLang="zh-TW" dirty="0">
                <a:sym typeface="Symbol" pitchFamily="18" charset="2"/>
              </a:rPr>
              <a:t> of</a:t>
            </a:r>
            <a:r>
              <a:rPr lang="en-US" altLang="zh-TW" baseline="-25000" dirty="0">
                <a:sym typeface="Symbol" pitchFamily="18" charset="2"/>
              </a:rPr>
              <a:t>  </a:t>
            </a:r>
            <a:r>
              <a:rPr lang="en-US" altLang="zh-TW" i="1" dirty="0">
                <a:sym typeface="Symbol" pitchFamily="18" charset="2"/>
              </a:rPr>
              <a:t>a</a:t>
            </a:r>
            <a:r>
              <a:rPr lang="en-US" altLang="zh-TW" i="1" baseline="-25000" dirty="0">
                <a:sym typeface="Symbol" pitchFamily="18" charset="2"/>
              </a:rPr>
              <a:t> 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in </a:t>
            </a:r>
            <a:r>
              <a:rPr lang="en-US" altLang="zh-TW" b="1" i="1" dirty="0" err="1">
                <a:sym typeface="Symbol" pitchFamily="18" charset="2"/>
              </a:rPr>
              <a:t>Z</a:t>
            </a:r>
            <a:r>
              <a:rPr lang="en-US" altLang="zh-TW" i="1" baseline="-25000" dirty="0" err="1">
                <a:sym typeface="Symbol" pitchFamily="18" charset="2"/>
              </a:rPr>
              <a:t>p</a:t>
            </a:r>
            <a:endParaRPr lang="en-US" altLang="zh-TW" i="1" baseline="-25000" dirty="0">
              <a:sym typeface="Symbol" pitchFamily="18" charset="2"/>
            </a:endParaRPr>
          </a:p>
          <a:p>
            <a:pPr lvl="2" eaLnBrk="1" hangingPunct="1"/>
            <a:r>
              <a:rPr lang="en-US" altLang="zh-TW" dirty="0">
                <a:sym typeface="Symbol" pitchFamily="18" charset="2"/>
              </a:rPr>
              <a:t>i.e.,  </a:t>
            </a:r>
            <a:r>
              <a:rPr lang="en-US" altLang="zh-TW" i="1" dirty="0">
                <a:sym typeface="Symbol" pitchFamily="18" charset="2"/>
              </a:rPr>
              <a:t>a</a:t>
            </a:r>
            <a:r>
              <a:rPr lang="en-US" altLang="zh-TW" dirty="0">
                <a:sym typeface="Symbol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x</a:t>
            </a:r>
            <a:r>
              <a:rPr lang="en-US" altLang="zh-TW" dirty="0">
                <a:sym typeface="Symbol" pitchFamily="18" charset="2"/>
              </a:rPr>
              <a:t>  1 (mod </a:t>
            </a:r>
            <a:r>
              <a:rPr lang="en-US" altLang="zh-TW" i="1" dirty="0">
                <a:sym typeface="Symbol" pitchFamily="18" charset="2"/>
              </a:rPr>
              <a:t>p</a:t>
            </a:r>
            <a:r>
              <a:rPr lang="en-US" altLang="zh-TW" dirty="0">
                <a:sym typeface="Symbol" pitchFamily="18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3AF2B681-60CF-439E-B4CE-C35D3EE46EC1}" type="slidenum">
              <a:rPr kumimoji="0" lang="en-US" altLang="zh-TW" smtClean="0"/>
              <a:pPr eaLnBrk="1" hangingPunct="1"/>
              <a:t>15</a:t>
            </a:fld>
            <a:endParaRPr kumimoji="0" lang="en-US" altLang="zh-TW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Extended GCD Algorithm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b="1"/>
              <a:t>Example</a:t>
            </a:r>
            <a:r>
              <a:rPr lang="en-US" altLang="zh-TW"/>
              <a:t>  </a:t>
            </a:r>
            <a:r>
              <a:rPr lang="en-US" altLang="zh-TW" sz="2600" i="1"/>
              <a:t>a</a:t>
            </a:r>
            <a:r>
              <a:rPr lang="en-US" altLang="zh-TW" sz="2600"/>
              <a:t> = 100,  </a:t>
            </a:r>
            <a:r>
              <a:rPr lang="en-US" altLang="zh-TW" sz="2600" i="1"/>
              <a:t>b</a:t>
            </a:r>
            <a:r>
              <a:rPr lang="en-US" altLang="zh-TW" sz="2600"/>
              <a:t> = 35</a:t>
            </a:r>
          </a:p>
          <a:p>
            <a:pPr lvl="1" eaLnBrk="1" hangingPunct="1"/>
            <a:r>
              <a:rPr lang="en-US" altLang="zh-TW"/>
              <a:t>100 = 2 </a:t>
            </a:r>
            <a:r>
              <a:rPr lang="en-US" altLang="zh-TW">
                <a:sym typeface="Symbol" pitchFamily="18" charset="2"/>
              </a:rPr>
              <a:t> 35 + 30		</a:t>
            </a:r>
            <a:r>
              <a:rPr lang="en-US" altLang="zh-TW" i="1">
                <a:sym typeface="Symbol" pitchFamily="18" charset="2"/>
              </a:rPr>
              <a:t>r</a:t>
            </a:r>
            <a:r>
              <a:rPr lang="en-US" altLang="zh-TW" baseline="-25000">
                <a:sym typeface="Symbol" pitchFamily="18" charset="2"/>
              </a:rPr>
              <a:t>0</a:t>
            </a:r>
            <a:r>
              <a:rPr lang="en-US" altLang="zh-TW">
                <a:sym typeface="Symbol" pitchFamily="18" charset="2"/>
              </a:rPr>
              <a:t> </a:t>
            </a:r>
            <a:r>
              <a:rPr lang="en-US" altLang="zh-TW" sz="1200">
                <a:solidFill>
                  <a:srgbClr val="9900CC"/>
                </a:solidFill>
                <a:sym typeface="Symbol" pitchFamily="18" charset="2"/>
              </a:rPr>
              <a:t>[ =</a:t>
            </a:r>
            <a:r>
              <a:rPr lang="en-US" altLang="zh-TW" sz="1200" i="1">
                <a:solidFill>
                  <a:srgbClr val="9900CC"/>
                </a:solidFill>
                <a:sym typeface="Symbol" pitchFamily="18" charset="2"/>
              </a:rPr>
              <a:t>a </a:t>
            </a:r>
            <a:r>
              <a:rPr lang="en-US" altLang="zh-TW" sz="1200">
                <a:solidFill>
                  <a:srgbClr val="9900CC"/>
                </a:solidFill>
                <a:sym typeface="Symbol" pitchFamily="18" charset="2"/>
              </a:rPr>
              <a:t>]</a:t>
            </a:r>
            <a:r>
              <a:rPr lang="en-US" altLang="zh-TW" sz="2000">
                <a:sym typeface="Symbol" pitchFamily="18" charset="2"/>
              </a:rPr>
              <a:t> </a:t>
            </a:r>
            <a:r>
              <a:rPr lang="en-US" altLang="zh-TW">
                <a:sym typeface="Symbol" pitchFamily="18" charset="2"/>
              </a:rPr>
              <a:t>= </a:t>
            </a:r>
            <a:r>
              <a:rPr lang="en-US" altLang="zh-TW" i="1">
                <a:sym typeface="Symbol" pitchFamily="18" charset="2"/>
              </a:rPr>
              <a:t>q</a:t>
            </a:r>
            <a:r>
              <a:rPr lang="en-US" altLang="zh-TW" baseline="-25000">
                <a:sym typeface="Symbol" pitchFamily="18" charset="2"/>
              </a:rPr>
              <a:t>2</a:t>
            </a:r>
            <a:r>
              <a:rPr lang="en-US" altLang="zh-TW">
                <a:sym typeface="Symbol" pitchFamily="18" charset="2"/>
              </a:rPr>
              <a:t> </a:t>
            </a:r>
            <a:r>
              <a:rPr lang="en-US" altLang="zh-TW" i="1">
                <a:sym typeface="Symbol" pitchFamily="18" charset="2"/>
              </a:rPr>
              <a:t>r</a:t>
            </a:r>
            <a:r>
              <a:rPr lang="en-US" altLang="zh-TW" baseline="-25000">
                <a:sym typeface="Symbol" pitchFamily="18" charset="2"/>
              </a:rPr>
              <a:t>1</a:t>
            </a:r>
            <a:r>
              <a:rPr lang="en-US" altLang="zh-TW">
                <a:sym typeface="Symbol" pitchFamily="18" charset="2"/>
              </a:rPr>
              <a:t> </a:t>
            </a:r>
            <a:r>
              <a:rPr lang="en-US" altLang="zh-TW" sz="1200">
                <a:solidFill>
                  <a:srgbClr val="9900CC"/>
                </a:solidFill>
                <a:sym typeface="Symbol" pitchFamily="18" charset="2"/>
              </a:rPr>
              <a:t>[ =</a:t>
            </a:r>
            <a:r>
              <a:rPr lang="en-US" altLang="zh-TW" sz="1200" i="1">
                <a:solidFill>
                  <a:srgbClr val="9900CC"/>
                </a:solidFill>
                <a:sym typeface="Symbol" pitchFamily="18" charset="2"/>
              </a:rPr>
              <a:t>b </a:t>
            </a:r>
            <a:r>
              <a:rPr lang="en-US" altLang="zh-TW" sz="1200">
                <a:solidFill>
                  <a:srgbClr val="9900CC"/>
                </a:solidFill>
                <a:sym typeface="Symbol" pitchFamily="18" charset="2"/>
              </a:rPr>
              <a:t>]</a:t>
            </a:r>
            <a:r>
              <a:rPr lang="en-US" altLang="zh-TW">
                <a:sym typeface="Symbol" pitchFamily="18" charset="2"/>
              </a:rPr>
              <a:t> + </a:t>
            </a:r>
            <a:r>
              <a:rPr lang="en-US" altLang="zh-TW" i="1">
                <a:sym typeface="Symbol" pitchFamily="18" charset="2"/>
              </a:rPr>
              <a:t>r</a:t>
            </a:r>
            <a:r>
              <a:rPr lang="en-US" altLang="zh-TW" baseline="-25000">
                <a:sym typeface="Symbol" pitchFamily="18" charset="2"/>
              </a:rPr>
              <a:t>2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>
                <a:sym typeface="Symbol" pitchFamily="18" charset="2"/>
              </a:rPr>
              <a:t>	 35 = 1  30 +  5		</a:t>
            </a:r>
            <a:r>
              <a:rPr lang="en-US" altLang="zh-TW" i="1">
                <a:sym typeface="Symbol" pitchFamily="18" charset="2"/>
              </a:rPr>
              <a:t>r</a:t>
            </a:r>
            <a:r>
              <a:rPr lang="en-US" altLang="zh-TW" baseline="-25000">
                <a:sym typeface="Symbol" pitchFamily="18" charset="2"/>
              </a:rPr>
              <a:t>1</a:t>
            </a:r>
            <a:r>
              <a:rPr lang="en-US" altLang="zh-TW">
                <a:sym typeface="Symbol" pitchFamily="18" charset="2"/>
              </a:rPr>
              <a:t>   = </a:t>
            </a:r>
            <a:r>
              <a:rPr lang="en-US" altLang="zh-TW" i="1">
                <a:sym typeface="Symbol" pitchFamily="18" charset="2"/>
              </a:rPr>
              <a:t>q</a:t>
            </a:r>
            <a:r>
              <a:rPr lang="en-US" altLang="zh-TW" baseline="-25000">
                <a:sym typeface="Symbol" pitchFamily="18" charset="2"/>
              </a:rPr>
              <a:t>3</a:t>
            </a:r>
            <a:r>
              <a:rPr lang="en-US" altLang="zh-TW">
                <a:sym typeface="Symbol" pitchFamily="18" charset="2"/>
              </a:rPr>
              <a:t> </a:t>
            </a:r>
            <a:r>
              <a:rPr lang="en-US" altLang="zh-TW" i="1">
                <a:sym typeface="Symbol" pitchFamily="18" charset="2"/>
              </a:rPr>
              <a:t>r</a:t>
            </a:r>
            <a:r>
              <a:rPr lang="en-US" altLang="zh-TW" baseline="-25000">
                <a:sym typeface="Symbol" pitchFamily="18" charset="2"/>
              </a:rPr>
              <a:t>2</a:t>
            </a:r>
            <a:r>
              <a:rPr lang="en-US" altLang="zh-TW">
                <a:sym typeface="Symbol" pitchFamily="18" charset="2"/>
              </a:rPr>
              <a:t> + </a:t>
            </a:r>
            <a:r>
              <a:rPr lang="en-US" altLang="zh-TW" i="1">
                <a:sym typeface="Symbol" pitchFamily="18" charset="2"/>
              </a:rPr>
              <a:t>r</a:t>
            </a:r>
            <a:r>
              <a:rPr lang="en-US" altLang="zh-TW" baseline="-25000">
                <a:sym typeface="Symbol" pitchFamily="18" charset="2"/>
              </a:rPr>
              <a:t>3 </a:t>
            </a:r>
            <a:r>
              <a:rPr lang="en-US" altLang="zh-TW" sz="1200">
                <a:solidFill>
                  <a:srgbClr val="9900CC"/>
                </a:solidFill>
                <a:sym typeface="Symbol" pitchFamily="18" charset="2"/>
              </a:rPr>
              <a:t>[ = gcd ]</a:t>
            </a:r>
            <a:r>
              <a:rPr lang="en-US" altLang="zh-TW" sz="2000">
                <a:sym typeface="Symbol" pitchFamily="18" charset="2"/>
              </a:rPr>
              <a:t> </a:t>
            </a:r>
            <a:endParaRPr lang="en-US" altLang="zh-TW" baseline="-25000">
              <a:sym typeface="Symbol" pitchFamily="18" charset="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>
                <a:sym typeface="Symbol" pitchFamily="18" charset="2"/>
              </a:rPr>
              <a:t>	 30 = 6   5  +  0		</a:t>
            </a:r>
            <a:r>
              <a:rPr lang="en-US" altLang="zh-TW" i="1">
                <a:sym typeface="Symbol" pitchFamily="18" charset="2"/>
              </a:rPr>
              <a:t>r</a:t>
            </a:r>
            <a:r>
              <a:rPr lang="en-US" altLang="zh-TW" baseline="-25000">
                <a:sym typeface="Symbol" pitchFamily="18" charset="2"/>
              </a:rPr>
              <a:t>2</a:t>
            </a:r>
            <a:r>
              <a:rPr lang="en-US" altLang="zh-TW">
                <a:sym typeface="Symbol" pitchFamily="18" charset="2"/>
              </a:rPr>
              <a:t>   = </a:t>
            </a:r>
            <a:r>
              <a:rPr lang="en-US" altLang="zh-TW" i="1">
                <a:sym typeface="Symbol" pitchFamily="18" charset="2"/>
              </a:rPr>
              <a:t>q</a:t>
            </a:r>
            <a:r>
              <a:rPr lang="en-US" altLang="zh-TW" baseline="-25000">
                <a:sym typeface="Symbol" pitchFamily="18" charset="2"/>
              </a:rPr>
              <a:t>4</a:t>
            </a:r>
            <a:r>
              <a:rPr lang="en-US" altLang="zh-TW">
                <a:sym typeface="Symbol" pitchFamily="18" charset="2"/>
              </a:rPr>
              <a:t> </a:t>
            </a:r>
            <a:r>
              <a:rPr lang="en-US" altLang="zh-TW" i="1">
                <a:sym typeface="Symbol" pitchFamily="18" charset="2"/>
              </a:rPr>
              <a:t>r</a:t>
            </a:r>
            <a:r>
              <a:rPr lang="en-US" altLang="zh-TW" baseline="-25000">
                <a:sym typeface="Symbol" pitchFamily="18" charset="2"/>
              </a:rPr>
              <a:t>3</a:t>
            </a:r>
            <a:r>
              <a:rPr lang="en-US" altLang="zh-TW">
                <a:sym typeface="Symbol" pitchFamily="18" charset="2"/>
              </a:rPr>
              <a:t> + </a:t>
            </a:r>
            <a:r>
              <a:rPr lang="en-US" altLang="zh-TW" i="1">
                <a:sym typeface="Symbol" pitchFamily="18" charset="2"/>
              </a:rPr>
              <a:t>r</a:t>
            </a:r>
            <a:r>
              <a:rPr lang="en-US" altLang="zh-TW" baseline="-25000">
                <a:sym typeface="Symbol" pitchFamily="18" charset="2"/>
              </a:rPr>
              <a:t>4 </a:t>
            </a:r>
            <a:r>
              <a:rPr lang="en-US" altLang="zh-TW" sz="1200">
                <a:solidFill>
                  <a:srgbClr val="9900CC"/>
                </a:solidFill>
                <a:sym typeface="Symbol" pitchFamily="18" charset="2"/>
              </a:rPr>
              <a:t>[ =0 ]</a:t>
            </a:r>
            <a:r>
              <a:rPr lang="en-US" altLang="zh-TW" sz="2000">
                <a:sym typeface="Symbol" pitchFamily="18" charset="2"/>
              </a:rPr>
              <a:t> </a:t>
            </a:r>
            <a:endParaRPr lang="en-US" altLang="zh-TW" baseline="-25000">
              <a:sym typeface="Symbol" pitchFamily="18" charset="2"/>
            </a:endParaRPr>
          </a:p>
          <a:p>
            <a:pPr lvl="1" eaLnBrk="1" hangingPunct="1"/>
            <a:r>
              <a:rPr lang="en-US" altLang="zh-TW">
                <a:sym typeface="Symbol" pitchFamily="18" charset="2"/>
              </a:rPr>
              <a:t>gcd (100, 35) = 5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>
                <a:sym typeface="Symbol" pitchFamily="18" charset="2"/>
              </a:rPr>
              <a:t>				= 35  30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>
                <a:sym typeface="Symbol" pitchFamily="18" charset="2"/>
              </a:rPr>
              <a:t>				= 35  (100  </a:t>
            </a:r>
            <a:r>
              <a:rPr lang="en-US" altLang="zh-TW"/>
              <a:t>2 </a:t>
            </a:r>
            <a:r>
              <a:rPr lang="en-US" altLang="zh-TW">
                <a:sym typeface="Symbol" pitchFamily="18" charset="2"/>
              </a:rPr>
              <a:t> 35)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>
                <a:sym typeface="Symbol" pitchFamily="18" charset="2"/>
              </a:rPr>
              <a:t>				= </a:t>
            </a:r>
            <a:r>
              <a:rPr lang="en-US" altLang="zh-TW">
                <a:solidFill>
                  <a:srgbClr val="9900CC"/>
                </a:solidFill>
                <a:sym typeface="Symbol" pitchFamily="18" charset="2"/>
              </a:rPr>
              <a:t>(1)</a:t>
            </a:r>
            <a:r>
              <a:rPr lang="en-US" altLang="zh-TW">
                <a:sym typeface="Symbol" pitchFamily="18" charset="2"/>
              </a:rPr>
              <a:t>  100 + </a:t>
            </a:r>
            <a:r>
              <a:rPr lang="en-US" altLang="zh-TW">
                <a:solidFill>
                  <a:srgbClr val="9900CC"/>
                </a:solidFill>
                <a:sym typeface="Symbol" pitchFamily="18" charset="2"/>
              </a:rPr>
              <a:t>3</a:t>
            </a:r>
            <a:r>
              <a:rPr lang="en-US" altLang="zh-TW">
                <a:sym typeface="Symbol" pitchFamily="18" charset="2"/>
              </a:rPr>
              <a:t>  35</a:t>
            </a:r>
          </a:p>
          <a:p>
            <a:pPr lvl="1" eaLnBrk="1" hangingPunct="1"/>
            <a:r>
              <a:rPr lang="en-US" altLang="zh-TW">
                <a:sym typeface="Symbol" pitchFamily="18" charset="2"/>
              </a:rPr>
              <a:t>Hence  </a:t>
            </a:r>
            <a:r>
              <a:rPr lang="en-US" altLang="zh-TW" i="1">
                <a:sym typeface="Symbol" pitchFamily="18" charset="2"/>
              </a:rPr>
              <a:t>x</a:t>
            </a:r>
            <a:r>
              <a:rPr lang="en-US" altLang="zh-TW">
                <a:sym typeface="Symbol" pitchFamily="18" charset="2"/>
              </a:rPr>
              <a:t>  =  1,  </a:t>
            </a:r>
            <a:r>
              <a:rPr lang="en-US" altLang="zh-TW" i="1">
                <a:sym typeface="Symbol" pitchFamily="18" charset="2"/>
              </a:rPr>
              <a:t>y</a:t>
            </a:r>
            <a:r>
              <a:rPr lang="en-US" altLang="zh-TW">
                <a:sym typeface="Symbol" pitchFamily="18" charset="2"/>
              </a:rPr>
              <a:t>  = 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FA81055A-B6B8-4622-AF18-E500941CD8AF}" type="slidenum">
              <a:rPr kumimoji="0" lang="en-US" altLang="zh-TW" smtClean="0"/>
              <a:pPr eaLnBrk="1" hangingPunct="1"/>
              <a:t>16</a:t>
            </a:fld>
            <a:endParaRPr kumimoji="0" lang="en-US" altLang="zh-TW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Extended GCD Algorithm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075613" cy="4662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b="1" dirty="0"/>
              <a:t>Theorem</a:t>
            </a:r>
            <a:r>
              <a:rPr lang="en-US" altLang="zh-TW" sz="2400" dirty="0"/>
              <a:t>   Given</a:t>
            </a:r>
            <a:r>
              <a:rPr lang="en-US" altLang="zh-TW" sz="2400" baseline="-25000" dirty="0"/>
              <a:t>  </a:t>
            </a:r>
            <a:r>
              <a:rPr lang="en-US" altLang="zh-TW" sz="2400" i="1" dirty="0"/>
              <a:t>a</a:t>
            </a:r>
            <a:r>
              <a:rPr lang="en-US" altLang="zh-TW" sz="2400" dirty="0"/>
              <a:t>, </a:t>
            </a:r>
            <a:r>
              <a:rPr lang="en-US" altLang="zh-TW" sz="2400" i="1" dirty="0"/>
              <a:t>b</a:t>
            </a:r>
            <a:r>
              <a:rPr lang="en-US" altLang="zh-TW" sz="2400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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b="1" i="1" dirty="0">
                <a:sym typeface="Symbol" pitchFamily="18" charset="2"/>
              </a:rPr>
              <a:t>Z</a:t>
            </a:r>
            <a:r>
              <a:rPr lang="en-US" altLang="zh-TW" sz="2400" dirty="0">
                <a:sym typeface="Symbol" pitchFamily="18" charset="2"/>
              </a:rPr>
              <a:t>, there exist</a:t>
            </a:r>
            <a:r>
              <a:rPr lang="en-US" altLang="zh-TW" sz="2400" baseline="-25000" dirty="0">
                <a:sym typeface="Symbol" pitchFamily="18" charset="2"/>
              </a:rPr>
              <a:t>  </a:t>
            </a:r>
            <a:r>
              <a:rPr lang="en-US" altLang="zh-TW" sz="2400" i="1" dirty="0"/>
              <a:t>x</a:t>
            </a:r>
            <a:r>
              <a:rPr lang="en-US" altLang="zh-TW" sz="2400" dirty="0"/>
              <a:t>, </a:t>
            </a:r>
            <a:r>
              <a:rPr lang="en-US" altLang="zh-TW" sz="2400" i="1" dirty="0"/>
              <a:t>y</a:t>
            </a:r>
            <a:r>
              <a:rPr lang="en-US" altLang="zh-TW" sz="2400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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b="1" i="1" dirty="0">
                <a:sym typeface="Symbol" pitchFamily="18" charset="2"/>
              </a:rPr>
              <a:t>Z</a:t>
            </a:r>
            <a:r>
              <a:rPr lang="en-US" altLang="zh-TW" sz="2400" dirty="0">
                <a:sym typeface="Symbol" pitchFamily="18" charset="2"/>
              </a:rPr>
              <a:t>  for the </a:t>
            </a:r>
            <a:r>
              <a:rPr lang="en-US" altLang="zh-TW" sz="2400" b="1" dirty="0">
                <a:solidFill>
                  <a:srgbClr val="9900CC"/>
                </a:solidFill>
                <a:sym typeface="Symbol" pitchFamily="18" charset="2"/>
              </a:rPr>
              <a:t>linear combination</a:t>
            </a:r>
            <a:r>
              <a:rPr lang="en-US" altLang="zh-TW" sz="2400" i="1" dirty="0">
                <a:sym typeface="Symbol" pitchFamily="18" charset="2"/>
              </a:rPr>
              <a:t>  a</a:t>
            </a:r>
            <a:r>
              <a:rPr lang="en-US" altLang="zh-TW" sz="2400" dirty="0">
                <a:sym typeface="Symbol" pitchFamily="18" charset="2"/>
              </a:rPr>
              <a:t> </a:t>
            </a:r>
            <a:r>
              <a:rPr lang="en-US" altLang="zh-TW" sz="2400" i="1" dirty="0">
                <a:sym typeface="Symbol" pitchFamily="18" charset="2"/>
              </a:rPr>
              <a:t>x</a:t>
            </a:r>
            <a:r>
              <a:rPr lang="en-US" altLang="zh-TW" sz="2400" dirty="0">
                <a:sym typeface="Symbol" pitchFamily="18" charset="2"/>
              </a:rPr>
              <a:t> + </a:t>
            </a:r>
            <a:r>
              <a:rPr lang="en-US" altLang="zh-TW" sz="2400" i="1" dirty="0">
                <a:sym typeface="Symbol" pitchFamily="18" charset="2"/>
              </a:rPr>
              <a:t>b</a:t>
            </a:r>
            <a:r>
              <a:rPr lang="en-US" altLang="zh-TW" sz="2400" dirty="0">
                <a:sym typeface="Symbol" pitchFamily="18" charset="2"/>
              </a:rPr>
              <a:t> </a:t>
            </a:r>
            <a:r>
              <a:rPr lang="en-US" altLang="zh-TW" sz="2400" i="1" dirty="0">
                <a:sym typeface="Symbol" pitchFamily="18" charset="2"/>
              </a:rPr>
              <a:t>y</a:t>
            </a:r>
            <a:r>
              <a:rPr lang="en-US" altLang="zh-TW" sz="2400" dirty="0">
                <a:sym typeface="Symbol" pitchFamily="18" charset="2"/>
              </a:rPr>
              <a:t> = </a:t>
            </a:r>
            <a:r>
              <a:rPr lang="en-US" altLang="zh-TW" sz="2400" dirty="0" err="1">
                <a:sym typeface="Symbol" pitchFamily="18" charset="2"/>
              </a:rPr>
              <a:t>gcd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dirty="0">
                <a:sym typeface="Symbol" pitchFamily="18" charset="2"/>
              </a:rPr>
              <a:t>(</a:t>
            </a:r>
            <a:r>
              <a:rPr lang="en-US" altLang="zh-TW" sz="2400" i="1" dirty="0">
                <a:sym typeface="Symbol" pitchFamily="18" charset="2"/>
              </a:rPr>
              <a:t>a</a:t>
            </a:r>
            <a:r>
              <a:rPr lang="en-US" altLang="zh-TW" sz="2400" dirty="0">
                <a:sym typeface="Symbol" pitchFamily="18" charset="2"/>
              </a:rPr>
              <a:t>, </a:t>
            </a:r>
            <a:r>
              <a:rPr lang="en-US" altLang="zh-TW" sz="2400" i="1" dirty="0">
                <a:sym typeface="Symbol" pitchFamily="18" charset="2"/>
              </a:rPr>
              <a:t>b</a:t>
            </a:r>
            <a:r>
              <a:rPr lang="en-US" altLang="zh-TW" sz="2400" dirty="0">
                <a:sym typeface="Symbol" pitchFamily="18" charset="2"/>
              </a:rPr>
              <a:t>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200" b="1" dirty="0">
                <a:sym typeface="Symbol" pitchFamily="18" charset="2"/>
              </a:rPr>
              <a:t>Proof</a:t>
            </a:r>
            <a:r>
              <a:rPr lang="en-US" altLang="zh-TW" sz="2200" dirty="0">
                <a:sym typeface="Symbol" pitchFamily="18" charset="2"/>
              </a:rPr>
              <a:t>  Take  	</a:t>
            </a:r>
            <a:r>
              <a:rPr lang="en-US" altLang="zh-TW" sz="2200" i="1" dirty="0">
                <a:sym typeface="Symbol" pitchFamily="18" charset="2"/>
              </a:rPr>
              <a:t>r</a:t>
            </a:r>
            <a:r>
              <a:rPr lang="en-US" altLang="zh-TW" sz="2200" baseline="-25000" dirty="0">
                <a:sym typeface="Symbol" pitchFamily="18" charset="2"/>
              </a:rPr>
              <a:t>0</a:t>
            </a:r>
            <a:r>
              <a:rPr lang="en-US" altLang="zh-TW" sz="2200" dirty="0">
                <a:sym typeface="Symbol" pitchFamily="18" charset="2"/>
              </a:rPr>
              <a:t> =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 =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  1 </a:t>
            </a:r>
            <a:r>
              <a:rPr lang="en-US" altLang="zh-TW" sz="1400" dirty="0">
                <a:solidFill>
                  <a:srgbClr val="9900CC"/>
                </a:solidFill>
                <a:sym typeface="Symbol" pitchFamily="18" charset="2"/>
              </a:rPr>
              <a:t>[=</a:t>
            </a:r>
            <a:r>
              <a:rPr lang="en-US" altLang="zh-TW" sz="1400" i="1" dirty="0">
                <a:solidFill>
                  <a:srgbClr val="9900CC"/>
                </a:solidFill>
                <a:sym typeface="Symbol" pitchFamily="18" charset="2"/>
              </a:rPr>
              <a:t>x</a:t>
            </a:r>
            <a:r>
              <a:rPr lang="en-US" altLang="zh-TW" sz="1400" baseline="-25000" dirty="0">
                <a:solidFill>
                  <a:srgbClr val="9900CC"/>
                </a:solidFill>
                <a:sym typeface="Symbol" pitchFamily="18" charset="2"/>
              </a:rPr>
              <a:t>0</a:t>
            </a:r>
            <a:r>
              <a:rPr lang="en-US" altLang="zh-TW" sz="1400" dirty="0">
                <a:solidFill>
                  <a:srgbClr val="9900CC"/>
                </a:solidFill>
                <a:sym typeface="Symbol" pitchFamily="18" charset="2"/>
              </a:rPr>
              <a:t>]</a:t>
            </a:r>
            <a:r>
              <a:rPr lang="en-US" altLang="zh-TW" sz="2200" dirty="0">
                <a:sym typeface="Symbol" pitchFamily="18" charset="2"/>
              </a:rPr>
              <a:t> + </a:t>
            </a:r>
            <a:r>
              <a:rPr lang="en-US" altLang="zh-TW" sz="2200" i="1" dirty="0">
                <a:sym typeface="Symbol" pitchFamily="18" charset="2"/>
              </a:rPr>
              <a:t>b</a:t>
            </a:r>
            <a:r>
              <a:rPr lang="en-US" altLang="zh-TW" sz="2200" dirty="0">
                <a:sym typeface="Symbol" pitchFamily="18" charset="2"/>
              </a:rPr>
              <a:t>  0 </a:t>
            </a:r>
            <a:r>
              <a:rPr lang="en-US" altLang="zh-TW" sz="1400" dirty="0">
                <a:solidFill>
                  <a:srgbClr val="9900CC"/>
                </a:solidFill>
                <a:sym typeface="Symbol" pitchFamily="18" charset="2"/>
              </a:rPr>
              <a:t>[=</a:t>
            </a:r>
            <a:r>
              <a:rPr lang="en-US" altLang="zh-TW" sz="1400" i="1" dirty="0">
                <a:solidFill>
                  <a:srgbClr val="9900CC"/>
                </a:solidFill>
                <a:sym typeface="Symbol" pitchFamily="18" charset="2"/>
              </a:rPr>
              <a:t>y</a:t>
            </a:r>
            <a:r>
              <a:rPr lang="en-US" altLang="zh-TW" sz="1400" baseline="-25000" dirty="0">
                <a:solidFill>
                  <a:srgbClr val="9900CC"/>
                </a:solidFill>
                <a:sym typeface="Symbol" pitchFamily="18" charset="2"/>
              </a:rPr>
              <a:t>0</a:t>
            </a:r>
            <a:r>
              <a:rPr lang="en-US" altLang="zh-TW" sz="1400" dirty="0">
                <a:solidFill>
                  <a:srgbClr val="9900CC"/>
                </a:solidFill>
                <a:sym typeface="Symbol" pitchFamily="18" charset="2"/>
              </a:rPr>
              <a:t>]</a:t>
            </a:r>
            <a:r>
              <a:rPr lang="en-US" altLang="zh-TW" sz="2200" dirty="0">
                <a:sym typeface="Symbol" pitchFamily="18" charset="2"/>
              </a:rPr>
              <a:t> = </a:t>
            </a:r>
            <a:r>
              <a:rPr lang="en-US" altLang="zh-TW" sz="2200" i="1" dirty="0">
                <a:sym typeface="Symbol" pitchFamily="18" charset="2"/>
              </a:rPr>
              <a:t>ax</a:t>
            </a:r>
            <a:r>
              <a:rPr lang="en-US" altLang="zh-TW" sz="2200" baseline="-25000" dirty="0">
                <a:sym typeface="Symbol" pitchFamily="18" charset="2"/>
              </a:rPr>
              <a:t>0</a:t>
            </a:r>
            <a:r>
              <a:rPr lang="en-US" altLang="zh-TW" sz="2200" dirty="0">
                <a:sym typeface="Symbol" pitchFamily="18" charset="2"/>
              </a:rPr>
              <a:t> + </a:t>
            </a:r>
            <a:r>
              <a:rPr lang="en-US" altLang="zh-TW" sz="2200" i="1" dirty="0">
                <a:sym typeface="Symbol" pitchFamily="18" charset="2"/>
              </a:rPr>
              <a:t>by</a:t>
            </a:r>
            <a:r>
              <a:rPr lang="en-US" altLang="zh-TW" sz="2200" baseline="-25000" dirty="0">
                <a:sym typeface="Symbol" pitchFamily="18" charset="2"/>
              </a:rPr>
              <a:t>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200" dirty="0">
                <a:sym typeface="Symbol" pitchFamily="18" charset="2"/>
              </a:rPr>
              <a:t>			  	</a:t>
            </a:r>
            <a:r>
              <a:rPr lang="en-US" altLang="zh-TW" sz="2200" i="1" dirty="0">
                <a:sym typeface="Symbol" pitchFamily="18" charset="2"/>
              </a:rPr>
              <a:t>r</a:t>
            </a:r>
            <a:r>
              <a:rPr lang="en-US" altLang="zh-TW" sz="2200" baseline="-25000" dirty="0">
                <a:sym typeface="Symbol" pitchFamily="18" charset="2"/>
              </a:rPr>
              <a:t>1</a:t>
            </a:r>
            <a:r>
              <a:rPr lang="en-US" altLang="zh-TW" sz="2200" dirty="0">
                <a:sym typeface="Symbol" pitchFamily="18" charset="2"/>
              </a:rPr>
              <a:t> = </a:t>
            </a:r>
            <a:r>
              <a:rPr lang="en-US" altLang="zh-TW" sz="2200" i="1" dirty="0">
                <a:sym typeface="Symbol" pitchFamily="18" charset="2"/>
              </a:rPr>
              <a:t>b</a:t>
            </a:r>
            <a:r>
              <a:rPr lang="en-US" altLang="zh-TW" sz="2200" dirty="0">
                <a:sym typeface="Symbol" pitchFamily="18" charset="2"/>
              </a:rPr>
              <a:t> =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  0 </a:t>
            </a:r>
            <a:r>
              <a:rPr lang="en-US" altLang="zh-TW" sz="1400" dirty="0">
                <a:solidFill>
                  <a:srgbClr val="9900CC"/>
                </a:solidFill>
                <a:sym typeface="Symbol" pitchFamily="18" charset="2"/>
              </a:rPr>
              <a:t>[=</a:t>
            </a:r>
            <a:r>
              <a:rPr lang="en-US" altLang="zh-TW" sz="1400" i="1" dirty="0">
                <a:solidFill>
                  <a:srgbClr val="9900CC"/>
                </a:solidFill>
                <a:sym typeface="Symbol" pitchFamily="18" charset="2"/>
              </a:rPr>
              <a:t>x</a:t>
            </a:r>
            <a:r>
              <a:rPr lang="en-US" altLang="zh-TW" sz="1400" baseline="-25000" dirty="0">
                <a:solidFill>
                  <a:srgbClr val="9900CC"/>
                </a:solidFill>
                <a:sym typeface="Symbol" pitchFamily="18" charset="2"/>
              </a:rPr>
              <a:t>1</a:t>
            </a:r>
            <a:r>
              <a:rPr lang="en-US" altLang="zh-TW" sz="1400" dirty="0">
                <a:solidFill>
                  <a:srgbClr val="9900CC"/>
                </a:solidFill>
                <a:sym typeface="Symbol" pitchFamily="18" charset="2"/>
              </a:rPr>
              <a:t>]</a:t>
            </a:r>
            <a:r>
              <a:rPr lang="en-US" altLang="zh-TW" sz="2200" dirty="0">
                <a:sym typeface="Symbol" pitchFamily="18" charset="2"/>
              </a:rPr>
              <a:t> + </a:t>
            </a:r>
            <a:r>
              <a:rPr lang="en-US" altLang="zh-TW" sz="2200" i="1" dirty="0">
                <a:sym typeface="Symbol" pitchFamily="18" charset="2"/>
              </a:rPr>
              <a:t>b</a:t>
            </a:r>
            <a:r>
              <a:rPr lang="en-US" altLang="zh-TW" sz="2200" dirty="0">
                <a:sym typeface="Symbol" pitchFamily="18" charset="2"/>
              </a:rPr>
              <a:t>  1 </a:t>
            </a:r>
            <a:r>
              <a:rPr lang="en-US" altLang="zh-TW" sz="1400" dirty="0">
                <a:solidFill>
                  <a:srgbClr val="9900CC"/>
                </a:solidFill>
                <a:sym typeface="Symbol" pitchFamily="18" charset="2"/>
              </a:rPr>
              <a:t>[=</a:t>
            </a:r>
            <a:r>
              <a:rPr lang="en-US" altLang="zh-TW" sz="1400" i="1" dirty="0">
                <a:solidFill>
                  <a:srgbClr val="9900CC"/>
                </a:solidFill>
                <a:sym typeface="Symbol" pitchFamily="18" charset="2"/>
              </a:rPr>
              <a:t>y</a:t>
            </a:r>
            <a:r>
              <a:rPr lang="en-US" altLang="zh-TW" sz="1400" baseline="-25000" dirty="0">
                <a:solidFill>
                  <a:srgbClr val="9900CC"/>
                </a:solidFill>
                <a:sym typeface="Symbol" pitchFamily="18" charset="2"/>
              </a:rPr>
              <a:t>1</a:t>
            </a:r>
            <a:r>
              <a:rPr lang="en-US" altLang="zh-TW" sz="1400" dirty="0">
                <a:solidFill>
                  <a:srgbClr val="9900CC"/>
                </a:solidFill>
                <a:sym typeface="Symbol" pitchFamily="18" charset="2"/>
              </a:rPr>
              <a:t>]</a:t>
            </a:r>
            <a:r>
              <a:rPr lang="en-US" altLang="zh-TW" sz="2200" dirty="0">
                <a:sym typeface="Symbol" pitchFamily="18" charset="2"/>
              </a:rPr>
              <a:t> = </a:t>
            </a:r>
            <a:r>
              <a:rPr lang="en-US" altLang="zh-TW" sz="2200" i="1" dirty="0">
                <a:sym typeface="Symbol" pitchFamily="18" charset="2"/>
              </a:rPr>
              <a:t>ax</a:t>
            </a:r>
            <a:r>
              <a:rPr lang="en-US" altLang="zh-TW" sz="2200" baseline="-25000" dirty="0">
                <a:sym typeface="Symbol" pitchFamily="18" charset="2"/>
              </a:rPr>
              <a:t>1</a:t>
            </a:r>
            <a:r>
              <a:rPr lang="en-US" altLang="zh-TW" sz="2200" dirty="0">
                <a:sym typeface="Symbol" pitchFamily="18" charset="2"/>
              </a:rPr>
              <a:t> + </a:t>
            </a:r>
            <a:r>
              <a:rPr lang="en-US" altLang="zh-TW" sz="2200" i="1" dirty="0">
                <a:sym typeface="Symbol" pitchFamily="18" charset="2"/>
              </a:rPr>
              <a:t>by</a:t>
            </a:r>
            <a:r>
              <a:rPr lang="en-US" altLang="zh-TW" sz="2200" baseline="-25000" dirty="0">
                <a:sym typeface="Symbol" pitchFamily="18" charset="2"/>
              </a:rPr>
              <a:t>1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TW" sz="2600" dirty="0"/>
              <a:t>	</a:t>
            </a:r>
            <a:r>
              <a:rPr lang="en-US" altLang="zh-TW" sz="2200" dirty="0"/>
              <a:t>For  </a:t>
            </a:r>
            <a:r>
              <a:rPr lang="en-US" altLang="zh-TW" sz="2200" i="1" dirty="0" err="1"/>
              <a:t>i</a:t>
            </a:r>
            <a:r>
              <a:rPr lang="en-US" altLang="zh-TW" sz="2200" dirty="0"/>
              <a:t> &gt; 0, let</a:t>
            </a:r>
            <a:r>
              <a:rPr lang="en-US" altLang="zh-TW" sz="2600" dirty="0"/>
              <a:t> 	</a:t>
            </a:r>
            <a:r>
              <a:rPr lang="en-US" altLang="zh-TW" sz="2200" i="1" dirty="0"/>
              <a:t>q</a:t>
            </a:r>
            <a:r>
              <a:rPr lang="en-US" altLang="zh-TW" sz="2200" i="1" baseline="-25000" dirty="0"/>
              <a:t>i </a:t>
            </a:r>
            <a:r>
              <a:rPr lang="en-US" altLang="zh-TW" sz="2200" baseline="-25000" dirty="0"/>
              <a:t>+1</a:t>
            </a:r>
            <a:r>
              <a:rPr lang="en-US" altLang="zh-TW" sz="2200" dirty="0"/>
              <a:t> = </a:t>
            </a:r>
            <a:r>
              <a:rPr lang="en-US" altLang="zh-TW" sz="2200" dirty="0">
                <a:sym typeface="Symbol" pitchFamily="18" charset="2"/>
              </a:rPr>
              <a:t></a:t>
            </a:r>
            <a:r>
              <a:rPr lang="en-US" altLang="zh-TW" sz="2200" i="1" dirty="0" err="1">
                <a:sym typeface="Symbol" pitchFamily="18" charset="2"/>
              </a:rPr>
              <a:t>r</a:t>
            </a:r>
            <a:r>
              <a:rPr lang="en-US" altLang="zh-TW" sz="2200" i="1" baseline="-25000" dirty="0" err="1">
                <a:sym typeface="Symbol" pitchFamily="18" charset="2"/>
              </a:rPr>
              <a:t>i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baseline="-25000" dirty="0">
                <a:sym typeface="Symbol"/>
              </a:rPr>
              <a:t></a:t>
            </a:r>
            <a:r>
              <a:rPr lang="en-US" altLang="zh-TW" sz="2200" baseline="-25000" dirty="0">
                <a:sym typeface="Symbol" pitchFamily="18" charset="2"/>
              </a:rPr>
              <a:t>1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/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 err="1">
                <a:sym typeface="Symbol" pitchFamily="18" charset="2"/>
              </a:rPr>
              <a:t>r</a:t>
            </a:r>
            <a:r>
              <a:rPr lang="en-US" altLang="zh-TW" sz="2200" i="1" baseline="-25000" dirty="0" err="1">
                <a:sym typeface="Symbol" pitchFamily="18" charset="2"/>
              </a:rPr>
              <a:t>i</a:t>
            </a:r>
            <a:r>
              <a:rPr lang="en-US" altLang="zh-TW" sz="2200" i="1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		</a:t>
            </a:r>
            <a:r>
              <a:rPr lang="en-US" altLang="zh-TW" sz="2200" i="1" dirty="0">
                <a:sym typeface="Symbol" pitchFamily="18" charset="2"/>
              </a:rPr>
              <a:t>x</a:t>
            </a:r>
            <a:r>
              <a:rPr lang="en-US" altLang="zh-TW" sz="2200" i="1" baseline="-25000" dirty="0">
                <a:sym typeface="Symbol" pitchFamily="18" charset="2"/>
              </a:rPr>
              <a:t>i </a:t>
            </a:r>
            <a:r>
              <a:rPr lang="en-US" altLang="zh-TW" sz="2200" baseline="-25000" dirty="0">
                <a:sym typeface="Symbol" pitchFamily="18" charset="2"/>
              </a:rPr>
              <a:t>+1</a:t>
            </a:r>
            <a:r>
              <a:rPr lang="en-US" altLang="zh-TW" sz="2200" dirty="0">
                <a:sym typeface="Symbol" pitchFamily="18" charset="2"/>
              </a:rPr>
              <a:t> = </a:t>
            </a:r>
            <a:r>
              <a:rPr lang="en-US" altLang="zh-TW" sz="2200" i="1" dirty="0">
                <a:sym typeface="Symbol" pitchFamily="18" charset="2"/>
              </a:rPr>
              <a:t>x</a:t>
            </a:r>
            <a:r>
              <a:rPr lang="en-US" altLang="zh-TW" sz="2200" i="1" baseline="-25000" dirty="0">
                <a:sym typeface="Symbol" pitchFamily="18" charset="2"/>
              </a:rPr>
              <a:t>i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baseline="-25000" dirty="0">
                <a:solidFill>
                  <a:srgbClr val="000000"/>
                </a:solidFill>
                <a:sym typeface="Symbol"/>
              </a:rPr>
              <a:t></a:t>
            </a:r>
            <a:r>
              <a:rPr lang="en-US" altLang="zh-TW" sz="2200" baseline="-25000" dirty="0">
                <a:sym typeface="Symbol" pitchFamily="18" charset="2"/>
              </a:rPr>
              <a:t>1</a:t>
            </a:r>
            <a:r>
              <a:rPr lang="en-US" altLang="zh-TW" sz="2200" dirty="0">
                <a:sym typeface="Symbol" pitchFamily="18" charset="2"/>
              </a:rPr>
              <a:t>  </a:t>
            </a:r>
            <a:r>
              <a:rPr lang="en-US" altLang="zh-TW" sz="2200" i="1" dirty="0">
                <a:sym typeface="Symbol" pitchFamily="18" charset="2"/>
              </a:rPr>
              <a:t>x</a:t>
            </a:r>
            <a:r>
              <a:rPr lang="en-US" altLang="zh-TW" sz="2200" i="1" baseline="-25000" dirty="0">
                <a:sym typeface="Symbol" pitchFamily="18" charset="2"/>
              </a:rPr>
              <a:t>i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q</a:t>
            </a:r>
            <a:r>
              <a:rPr lang="en-US" altLang="zh-TW" sz="2200" i="1" baseline="-25000" dirty="0">
                <a:sym typeface="Symbol" pitchFamily="18" charset="2"/>
              </a:rPr>
              <a:t>i </a:t>
            </a:r>
            <a:r>
              <a:rPr lang="en-US" altLang="zh-TW" sz="2200" baseline="-25000" dirty="0">
                <a:sym typeface="Symbol" pitchFamily="18" charset="2"/>
              </a:rPr>
              <a:t>+1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TW" sz="2200" baseline="-25000" dirty="0">
                <a:sym typeface="Symbol" pitchFamily="18" charset="2"/>
              </a:rPr>
              <a:t>				 </a:t>
            </a:r>
            <a:r>
              <a:rPr lang="en-US" altLang="zh-TW" sz="2200" i="1" dirty="0" err="1"/>
              <a:t>r</a:t>
            </a:r>
            <a:r>
              <a:rPr lang="en-US" altLang="zh-TW" sz="2200" i="1" baseline="-25000" dirty="0" err="1"/>
              <a:t>i</a:t>
            </a:r>
            <a:r>
              <a:rPr lang="en-US" altLang="zh-TW" sz="2200" i="1" baseline="-25000" dirty="0"/>
              <a:t> </a:t>
            </a:r>
            <a:r>
              <a:rPr lang="en-US" altLang="zh-TW" sz="2200" baseline="-25000" dirty="0"/>
              <a:t>+1</a:t>
            </a:r>
            <a:r>
              <a:rPr lang="en-US" altLang="zh-TW" sz="2200" dirty="0"/>
              <a:t> = </a:t>
            </a:r>
            <a:r>
              <a:rPr lang="en-US" altLang="zh-TW" sz="2200" i="1" dirty="0" err="1"/>
              <a:t>r</a:t>
            </a:r>
            <a:r>
              <a:rPr lang="en-US" altLang="zh-TW" sz="2200" i="1" baseline="-25000" dirty="0" err="1"/>
              <a:t>i</a:t>
            </a:r>
            <a:r>
              <a:rPr lang="en-US" altLang="zh-TW" sz="2200" i="1" baseline="-25000" dirty="0"/>
              <a:t> </a:t>
            </a:r>
            <a:r>
              <a:rPr lang="en-US" altLang="zh-TW" sz="2200" baseline="-25000" dirty="0">
                <a:sym typeface="Symbol"/>
              </a:rPr>
              <a:t></a:t>
            </a:r>
            <a:r>
              <a:rPr lang="en-US" altLang="zh-TW" sz="2200" baseline="-25000" dirty="0"/>
              <a:t>1</a:t>
            </a:r>
            <a:r>
              <a:rPr lang="en-US" altLang="zh-TW" sz="2200" dirty="0">
                <a:sym typeface="Symbol" pitchFamily="18" charset="2"/>
              </a:rPr>
              <a:t>  </a:t>
            </a:r>
            <a:r>
              <a:rPr lang="en-US" altLang="zh-TW" sz="2200" i="1" dirty="0" err="1">
                <a:sym typeface="Symbol" pitchFamily="18" charset="2"/>
              </a:rPr>
              <a:t>r</a:t>
            </a:r>
            <a:r>
              <a:rPr lang="en-US" altLang="zh-TW" sz="2200" i="1" baseline="-25000" dirty="0" err="1">
                <a:sym typeface="Symbol" pitchFamily="18" charset="2"/>
              </a:rPr>
              <a:t>i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q</a:t>
            </a:r>
            <a:r>
              <a:rPr lang="en-US" altLang="zh-TW" sz="2200" i="1" baseline="-25000" dirty="0">
                <a:sym typeface="Symbol" pitchFamily="18" charset="2"/>
              </a:rPr>
              <a:t>i </a:t>
            </a:r>
            <a:r>
              <a:rPr lang="en-US" altLang="zh-TW" sz="2200" baseline="-25000" dirty="0">
                <a:sym typeface="Symbol" pitchFamily="18" charset="2"/>
              </a:rPr>
              <a:t>+1</a:t>
            </a:r>
            <a:r>
              <a:rPr lang="en-US" altLang="zh-TW" sz="2200" dirty="0"/>
              <a:t>	</a:t>
            </a:r>
            <a:r>
              <a:rPr lang="en-US" altLang="zh-TW" sz="2200" i="1" dirty="0" err="1">
                <a:sym typeface="Symbol" pitchFamily="18" charset="2"/>
              </a:rPr>
              <a:t>y</a:t>
            </a:r>
            <a:r>
              <a:rPr lang="en-US" altLang="zh-TW" sz="2200" i="1" baseline="-25000" dirty="0" err="1">
                <a:sym typeface="Symbol" pitchFamily="18" charset="2"/>
              </a:rPr>
              <a:t>i</a:t>
            </a:r>
            <a:r>
              <a:rPr lang="en-US" altLang="zh-TW" sz="2200" i="1" baseline="-25000" dirty="0">
                <a:sym typeface="Symbol" pitchFamily="18" charset="2"/>
              </a:rPr>
              <a:t> </a:t>
            </a:r>
            <a:r>
              <a:rPr lang="en-US" altLang="zh-TW" sz="2200" baseline="-25000" dirty="0">
                <a:sym typeface="Symbol" pitchFamily="18" charset="2"/>
              </a:rPr>
              <a:t>+1</a:t>
            </a:r>
            <a:r>
              <a:rPr lang="en-US" altLang="zh-TW" sz="2200" dirty="0">
                <a:sym typeface="Symbol" pitchFamily="18" charset="2"/>
              </a:rPr>
              <a:t> = </a:t>
            </a:r>
            <a:r>
              <a:rPr lang="en-US" altLang="zh-TW" sz="2200" i="1" dirty="0" err="1">
                <a:sym typeface="Symbol" pitchFamily="18" charset="2"/>
              </a:rPr>
              <a:t>y</a:t>
            </a:r>
            <a:r>
              <a:rPr lang="en-US" altLang="zh-TW" sz="2200" i="1" baseline="-25000" dirty="0" err="1">
                <a:sym typeface="Symbol" pitchFamily="18" charset="2"/>
              </a:rPr>
              <a:t>i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baseline="-25000" dirty="0">
                <a:solidFill>
                  <a:srgbClr val="000000"/>
                </a:solidFill>
                <a:sym typeface="Symbol"/>
              </a:rPr>
              <a:t></a:t>
            </a:r>
            <a:r>
              <a:rPr lang="en-US" altLang="zh-TW" sz="2200" baseline="-25000" dirty="0">
                <a:sym typeface="Symbol" pitchFamily="18" charset="2"/>
              </a:rPr>
              <a:t>1</a:t>
            </a:r>
            <a:r>
              <a:rPr lang="en-US" altLang="zh-TW" sz="2200" dirty="0">
                <a:sym typeface="Symbol" pitchFamily="18" charset="2"/>
              </a:rPr>
              <a:t>  </a:t>
            </a:r>
            <a:r>
              <a:rPr lang="en-US" altLang="zh-TW" sz="2200" i="1" dirty="0" err="1">
                <a:sym typeface="Symbol" pitchFamily="18" charset="2"/>
              </a:rPr>
              <a:t>y</a:t>
            </a:r>
            <a:r>
              <a:rPr lang="en-US" altLang="zh-TW" sz="2200" i="1" baseline="-25000" dirty="0" err="1">
                <a:sym typeface="Symbol" pitchFamily="18" charset="2"/>
              </a:rPr>
              <a:t>i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q</a:t>
            </a:r>
            <a:r>
              <a:rPr lang="en-US" altLang="zh-TW" sz="2200" i="1" baseline="-25000" dirty="0">
                <a:sym typeface="Symbol" pitchFamily="18" charset="2"/>
              </a:rPr>
              <a:t>i </a:t>
            </a:r>
            <a:r>
              <a:rPr lang="en-US" altLang="zh-TW" sz="2200" baseline="-25000" dirty="0">
                <a:sym typeface="Symbol" pitchFamily="18" charset="2"/>
              </a:rPr>
              <a:t>+1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TW" sz="2200" dirty="0"/>
              <a:t>	Assume  </a:t>
            </a:r>
            <a:r>
              <a:rPr lang="en-US" altLang="zh-TW" sz="2200" i="1" dirty="0" err="1"/>
              <a:t>r</a:t>
            </a:r>
            <a:r>
              <a:rPr lang="en-US" altLang="zh-TW" sz="2200" i="1" baseline="-25000" dirty="0" err="1"/>
              <a:t>i</a:t>
            </a:r>
            <a:r>
              <a:rPr lang="en-US" altLang="zh-TW" sz="2200" i="1" baseline="-25000" dirty="0"/>
              <a:t> </a:t>
            </a:r>
            <a:r>
              <a:rPr lang="en-US" altLang="zh-TW" sz="2200" baseline="-25000" dirty="0">
                <a:solidFill>
                  <a:srgbClr val="000000"/>
                </a:solidFill>
                <a:sym typeface="Symbol"/>
              </a:rPr>
              <a:t></a:t>
            </a:r>
            <a:r>
              <a:rPr lang="en-US" altLang="zh-TW" sz="2200" baseline="-25000" dirty="0"/>
              <a:t>1 </a:t>
            </a:r>
            <a:r>
              <a:rPr lang="en-US" altLang="zh-TW" sz="2200" dirty="0"/>
              <a:t>= </a:t>
            </a:r>
            <a:r>
              <a:rPr lang="en-US" altLang="zh-TW" sz="2200" i="1" dirty="0" err="1"/>
              <a:t>ax</a:t>
            </a:r>
            <a:r>
              <a:rPr lang="en-US" altLang="zh-TW" sz="2200" i="1" baseline="-25000" dirty="0" err="1"/>
              <a:t>i</a:t>
            </a:r>
            <a:r>
              <a:rPr lang="en-US" altLang="zh-TW" sz="2200" i="1" baseline="-25000" dirty="0"/>
              <a:t> </a:t>
            </a:r>
            <a:r>
              <a:rPr lang="en-US" altLang="zh-TW" sz="2200" baseline="-25000" dirty="0">
                <a:solidFill>
                  <a:srgbClr val="000000"/>
                </a:solidFill>
                <a:sym typeface="Symbol"/>
              </a:rPr>
              <a:t></a:t>
            </a:r>
            <a:r>
              <a:rPr lang="en-US" altLang="zh-TW" sz="2200" baseline="-25000" dirty="0"/>
              <a:t>1</a:t>
            </a:r>
            <a:r>
              <a:rPr lang="en-US" altLang="zh-TW" sz="2200" dirty="0"/>
              <a:t> + </a:t>
            </a:r>
            <a:r>
              <a:rPr lang="en-US" altLang="zh-TW" sz="2200" i="1" dirty="0" err="1"/>
              <a:t>by</a:t>
            </a:r>
            <a:r>
              <a:rPr lang="en-US" altLang="zh-TW" sz="2200" i="1" baseline="-25000" dirty="0" err="1"/>
              <a:t>i</a:t>
            </a:r>
            <a:r>
              <a:rPr lang="en-US" altLang="zh-TW" sz="2200" i="1" baseline="-25000" dirty="0"/>
              <a:t> </a:t>
            </a:r>
            <a:r>
              <a:rPr lang="en-US" altLang="zh-TW" sz="2200" baseline="-25000" dirty="0">
                <a:solidFill>
                  <a:srgbClr val="000000"/>
                </a:solidFill>
                <a:sym typeface="Symbol"/>
              </a:rPr>
              <a:t></a:t>
            </a:r>
            <a:r>
              <a:rPr lang="en-US" altLang="zh-TW" sz="2200" baseline="-25000" dirty="0"/>
              <a:t>1</a:t>
            </a:r>
            <a:r>
              <a:rPr lang="en-US" altLang="zh-TW" sz="2200" dirty="0"/>
              <a:t>  and  </a:t>
            </a:r>
            <a:r>
              <a:rPr lang="en-US" altLang="zh-TW" sz="2200" i="1" dirty="0" err="1"/>
              <a:t>r</a:t>
            </a:r>
            <a:r>
              <a:rPr lang="en-US" altLang="zh-TW" sz="2200" i="1" baseline="-25000" dirty="0" err="1"/>
              <a:t>i</a:t>
            </a:r>
            <a:r>
              <a:rPr lang="en-US" altLang="zh-TW" sz="2200" dirty="0"/>
              <a:t> = </a:t>
            </a:r>
            <a:r>
              <a:rPr lang="en-US" altLang="zh-TW" sz="2200" i="1" dirty="0" err="1"/>
              <a:t>ax</a:t>
            </a:r>
            <a:r>
              <a:rPr lang="en-US" altLang="zh-TW" sz="2200" i="1" baseline="-25000" dirty="0" err="1"/>
              <a:t>i</a:t>
            </a:r>
            <a:r>
              <a:rPr lang="en-US" altLang="zh-TW" sz="2200" dirty="0"/>
              <a:t> + </a:t>
            </a:r>
            <a:r>
              <a:rPr lang="en-US" altLang="zh-TW" sz="2200" i="1" dirty="0" err="1"/>
              <a:t>by</a:t>
            </a:r>
            <a:r>
              <a:rPr lang="en-US" altLang="zh-TW" sz="2200" i="1" baseline="-25000" dirty="0" err="1"/>
              <a:t>i</a:t>
            </a:r>
            <a:r>
              <a:rPr lang="en-US" altLang="zh-TW" sz="2200" i="1" baseline="-25000" dirty="0"/>
              <a:t> </a:t>
            </a:r>
            <a:endParaRPr lang="en-US" altLang="zh-TW" sz="22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TW" sz="2200" dirty="0"/>
              <a:t>	Then  </a:t>
            </a:r>
            <a:r>
              <a:rPr lang="en-US" altLang="zh-TW" sz="2200" i="1" dirty="0" err="1">
                <a:solidFill>
                  <a:srgbClr val="9900CC"/>
                </a:solidFill>
              </a:rPr>
              <a:t>r</a:t>
            </a:r>
            <a:r>
              <a:rPr lang="en-US" altLang="zh-TW" sz="2200" i="1" baseline="-25000" dirty="0" err="1">
                <a:solidFill>
                  <a:srgbClr val="9900CC"/>
                </a:solidFill>
              </a:rPr>
              <a:t>i</a:t>
            </a:r>
            <a:r>
              <a:rPr lang="en-US" altLang="zh-TW" sz="2200" baseline="-25000" dirty="0">
                <a:solidFill>
                  <a:srgbClr val="9900CC"/>
                </a:solidFill>
              </a:rPr>
              <a:t> +1</a:t>
            </a:r>
            <a:r>
              <a:rPr lang="en-US" altLang="zh-TW" sz="2200" dirty="0"/>
              <a:t>  =  </a:t>
            </a:r>
            <a:r>
              <a:rPr lang="en-US" altLang="zh-TW" sz="2200" i="1" dirty="0" err="1"/>
              <a:t>r</a:t>
            </a:r>
            <a:r>
              <a:rPr lang="en-US" altLang="zh-TW" sz="2200" i="1" baseline="-25000" dirty="0" err="1"/>
              <a:t>i</a:t>
            </a:r>
            <a:r>
              <a:rPr lang="en-US" altLang="zh-TW" sz="2200" i="1" baseline="-25000" dirty="0"/>
              <a:t> </a:t>
            </a:r>
            <a:r>
              <a:rPr lang="en-US" altLang="zh-TW" sz="2200" baseline="-25000" dirty="0">
                <a:solidFill>
                  <a:srgbClr val="000000"/>
                </a:solidFill>
                <a:sym typeface="Symbol"/>
              </a:rPr>
              <a:t></a:t>
            </a:r>
            <a:r>
              <a:rPr lang="en-US" altLang="zh-TW" sz="2200" baseline="-25000" dirty="0"/>
              <a:t>1</a:t>
            </a:r>
            <a:r>
              <a:rPr lang="en-US" altLang="zh-TW" sz="2200" dirty="0">
                <a:sym typeface="Symbol" pitchFamily="18" charset="2"/>
              </a:rPr>
              <a:t>  </a:t>
            </a:r>
            <a:r>
              <a:rPr lang="en-US" altLang="zh-TW" sz="2200" i="1" dirty="0" err="1">
                <a:sym typeface="Symbol" pitchFamily="18" charset="2"/>
              </a:rPr>
              <a:t>r</a:t>
            </a:r>
            <a:r>
              <a:rPr lang="en-US" altLang="zh-TW" sz="2200" i="1" baseline="-25000" dirty="0" err="1">
                <a:sym typeface="Symbol" pitchFamily="18" charset="2"/>
              </a:rPr>
              <a:t>i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q</a:t>
            </a:r>
            <a:r>
              <a:rPr lang="en-US" altLang="zh-TW" sz="2200" i="1" baseline="-25000" dirty="0">
                <a:sym typeface="Symbol" pitchFamily="18" charset="2"/>
              </a:rPr>
              <a:t>i </a:t>
            </a:r>
            <a:r>
              <a:rPr lang="en-US" altLang="zh-TW" sz="2200" baseline="-25000" dirty="0">
                <a:sym typeface="Symbol" pitchFamily="18" charset="2"/>
              </a:rPr>
              <a:t>+1  </a:t>
            </a:r>
            <a:r>
              <a:rPr lang="en-US" altLang="zh-TW" sz="2200" i="1" dirty="0"/>
              <a:t>=  </a:t>
            </a:r>
            <a:r>
              <a:rPr lang="en-US" altLang="zh-TW" sz="2200" dirty="0"/>
              <a:t>(</a:t>
            </a:r>
            <a:r>
              <a:rPr lang="en-US" altLang="zh-TW" sz="2200" i="1" dirty="0" err="1"/>
              <a:t>ax</a:t>
            </a:r>
            <a:r>
              <a:rPr lang="en-US" altLang="zh-TW" sz="2200" i="1" baseline="-25000" dirty="0" err="1"/>
              <a:t>i</a:t>
            </a:r>
            <a:r>
              <a:rPr lang="en-US" altLang="zh-TW" sz="2200" i="1" baseline="-25000" dirty="0"/>
              <a:t> </a:t>
            </a:r>
            <a:r>
              <a:rPr lang="en-US" altLang="zh-TW" sz="2200" baseline="-25000" dirty="0">
                <a:solidFill>
                  <a:srgbClr val="000000"/>
                </a:solidFill>
                <a:sym typeface="Symbol"/>
              </a:rPr>
              <a:t></a:t>
            </a:r>
            <a:r>
              <a:rPr lang="en-US" altLang="zh-TW" sz="2200" baseline="-25000" dirty="0"/>
              <a:t>1</a:t>
            </a:r>
            <a:r>
              <a:rPr lang="en-US" altLang="zh-TW" sz="2200" dirty="0"/>
              <a:t> + </a:t>
            </a:r>
            <a:r>
              <a:rPr lang="en-US" altLang="zh-TW" sz="2200" i="1" dirty="0" err="1"/>
              <a:t>by</a:t>
            </a:r>
            <a:r>
              <a:rPr lang="en-US" altLang="zh-TW" sz="2200" i="1" baseline="-25000" dirty="0" err="1"/>
              <a:t>i</a:t>
            </a:r>
            <a:r>
              <a:rPr lang="en-US" altLang="zh-TW" sz="2200" i="1" baseline="-25000" dirty="0"/>
              <a:t> </a:t>
            </a:r>
            <a:r>
              <a:rPr lang="en-US" altLang="zh-TW" sz="2200" baseline="-25000" dirty="0">
                <a:solidFill>
                  <a:srgbClr val="000000"/>
                </a:solidFill>
                <a:sym typeface="Symbol"/>
              </a:rPr>
              <a:t></a:t>
            </a:r>
            <a:r>
              <a:rPr lang="en-US" altLang="zh-TW" sz="2200" baseline="-25000" dirty="0"/>
              <a:t>1</a:t>
            </a:r>
            <a:r>
              <a:rPr lang="en-US" altLang="zh-TW" sz="2200" dirty="0"/>
              <a:t>) </a:t>
            </a:r>
            <a:r>
              <a:rPr lang="en-US" altLang="zh-TW" sz="2200" dirty="0">
                <a:sym typeface="Symbol" pitchFamily="18" charset="2"/>
              </a:rPr>
              <a:t> </a:t>
            </a:r>
            <a:r>
              <a:rPr lang="en-US" altLang="zh-TW" sz="2200" dirty="0"/>
              <a:t>(</a:t>
            </a:r>
            <a:r>
              <a:rPr lang="en-US" altLang="zh-TW" sz="2200" i="1" dirty="0" err="1"/>
              <a:t>ax</a:t>
            </a:r>
            <a:r>
              <a:rPr lang="en-US" altLang="zh-TW" sz="2200" i="1" baseline="-25000" dirty="0" err="1"/>
              <a:t>i</a:t>
            </a:r>
            <a:r>
              <a:rPr lang="en-US" altLang="zh-TW" sz="2200" dirty="0"/>
              <a:t> + </a:t>
            </a:r>
            <a:r>
              <a:rPr lang="en-US" altLang="zh-TW" sz="2200" i="1" dirty="0" err="1"/>
              <a:t>by</a:t>
            </a:r>
            <a:r>
              <a:rPr lang="en-US" altLang="zh-TW" sz="2200" i="1" baseline="-25000" dirty="0" err="1"/>
              <a:t>i</a:t>
            </a:r>
            <a:r>
              <a:rPr lang="en-US" altLang="zh-TW" sz="2200" i="1" baseline="-25000" dirty="0"/>
              <a:t> </a:t>
            </a:r>
            <a:r>
              <a:rPr lang="en-US" altLang="zh-TW" sz="2200" dirty="0"/>
              <a:t>)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q</a:t>
            </a:r>
            <a:r>
              <a:rPr lang="en-US" altLang="zh-TW" sz="2200" i="1" baseline="-25000" dirty="0">
                <a:sym typeface="Symbol" pitchFamily="18" charset="2"/>
              </a:rPr>
              <a:t>i </a:t>
            </a:r>
            <a:r>
              <a:rPr lang="en-US" altLang="zh-TW" sz="2200" baseline="-25000" dirty="0">
                <a:sym typeface="Symbol" pitchFamily="18" charset="2"/>
              </a:rPr>
              <a:t>+1</a:t>
            </a:r>
            <a:endParaRPr lang="en-US" altLang="zh-TW" sz="22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TW" sz="2200" dirty="0"/>
              <a:t>		=  </a:t>
            </a:r>
            <a:r>
              <a:rPr lang="en-US" altLang="zh-TW" sz="2200" i="1" dirty="0"/>
              <a:t>a</a:t>
            </a:r>
            <a:r>
              <a:rPr lang="en-US" altLang="zh-TW" sz="2200" dirty="0"/>
              <a:t> (</a:t>
            </a:r>
            <a:r>
              <a:rPr lang="en-US" altLang="zh-TW" sz="2200" i="1" dirty="0">
                <a:sym typeface="Symbol" pitchFamily="18" charset="2"/>
              </a:rPr>
              <a:t>x</a:t>
            </a:r>
            <a:r>
              <a:rPr lang="en-US" altLang="zh-TW" sz="2200" i="1" baseline="-25000" dirty="0">
                <a:sym typeface="Symbol" pitchFamily="18" charset="2"/>
              </a:rPr>
              <a:t>i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baseline="-25000" dirty="0">
                <a:solidFill>
                  <a:srgbClr val="000000"/>
                </a:solidFill>
                <a:sym typeface="Symbol"/>
              </a:rPr>
              <a:t></a:t>
            </a:r>
            <a:r>
              <a:rPr lang="en-US" altLang="zh-TW" sz="2200" baseline="-25000" dirty="0">
                <a:sym typeface="Symbol" pitchFamily="18" charset="2"/>
              </a:rPr>
              <a:t>1</a:t>
            </a:r>
            <a:r>
              <a:rPr lang="en-US" altLang="zh-TW" sz="2200" dirty="0">
                <a:sym typeface="Symbol" pitchFamily="18" charset="2"/>
              </a:rPr>
              <a:t>  </a:t>
            </a:r>
            <a:r>
              <a:rPr lang="en-US" altLang="zh-TW" sz="2200" i="1" dirty="0">
                <a:sym typeface="Symbol" pitchFamily="18" charset="2"/>
              </a:rPr>
              <a:t>x</a:t>
            </a:r>
            <a:r>
              <a:rPr lang="en-US" altLang="zh-TW" sz="2200" i="1" baseline="-25000" dirty="0">
                <a:sym typeface="Symbol" pitchFamily="18" charset="2"/>
              </a:rPr>
              <a:t>i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q</a:t>
            </a:r>
            <a:r>
              <a:rPr lang="en-US" altLang="zh-TW" sz="2200" i="1" baseline="-25000" dirty="0">
                <a:sym typeface="Symbol" pitchFamily="18" charset="2"/>
              </a:rPr>
              <a:t>i </a:t>
            </a:r>
            <a:r>
              <a:rPr lang="en-US" altLang="zh-TW" sz="2200" baseline="-25000" dirty="0">
                <a:sym typeface="Symbol" pitchFamily="18" charset="2"/>
              </a:rPr>
              <a:t>+1</a:t>
            </a:r>
            <a:r>
              <a:rPr lang="en-US" altLang="zh-TW" sz="2200" dirty="0"/>
              <a:t>) + </a:t>
            </a:r>
            <a:r>
              <a:rPr lang="en-US" altLang="zh-TW" sz="2200" i="1" dirty="0"/>
              <a:t>b</a:t>
            </a:r>
            <a:r>
              <a:rPr lang="en-US" altLang="zh-TW" sz="2200" dirty="0"/>
              <a:t> (</a:t>
            </a:r>
            <a:r>
              <a:rPr lang="en-US" altLang="zh-TW" sz="2200" i="1" dirty="0" err="1">
                <a:sym typeface="Symbol" pitchFamily="18" charset="2"/>
              </a:rPr>
              <a:t>y</a:t>
            </a:r>
            <a:r>
              <a:rPr lang="en-US" altLang="zh-TW" sz="2200" i="1" baseline="-25000" dirty="0" err="1">
                <a:sym typeface="Symbol" pitchFamily="18" charset="2"/>
              </a:rPr>
              <a:t>i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baseline="-25000" dirty="0">
                <a:solidFill>
                  <a:srgbClr val="000000"/>
                </a:solidFill>
                <a:sym typeface="Symbol"/>
              </a:rPr>
              <a:t></a:t>
            </a:r>
            <a:r>
              <a:rPr lang="en-US" altLang="zh-TW" sz="2200" baseline="-25000" dirty="0">
                <a:sym typeface="Symbol" pitchFamily="18" charset="2"/>
              </a:rPr>
              <a:t>1</a:t>
            </a:r>
            <a:r>
              <a:rPr lang="en-US" altLang="zh-TW" sz="2200" dirty="0">
                <a:sym typeface="Symbol" pitchFamily="18" charset="2"/>
              </a:rPr>
              <a:t>  </a:t>
            </a:r>
            <a:r>
              <a:rPr lang="en-US" altLang="zh-TW" sz="2200" i="1" dirty="0" err="1">
                <a:sym typeface="Symbol" pitchFamily="18" charset="2"/>
              </a:rPr>
              <a:t>y</a:t>
            </a:r>
            <a:r>
              <a:rPr lang="en-US" altLang="zh-TW" sz="2200" i="1" baseline="-25000" dirty="0" err="1">
                <a:sym typeface="Symbol" pitchFamily="18" charset="2"/>
              </a:rPr>
              <a:t>i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q</a:t>
            </a:r>
            <a:r>
              <a:rPr lang="en-US" altLang="zh-TW" sz="2200" i="1" baseline="-25000" dirty="0">
                <a:sym typeface="Symbol" pitchFamily="18" charset="2"/>
              </a:rPr>
              <a:t>i </a:t>
            </a:r>
            <a:r>
              <a:rPr lang="en-US" altLang="zh-TW" sz="2200" baseline="-25000" dirty="0">
                <a:sym typeface="Symbol" pitchFamily="18" charset="2"/>
              </a:rPr>
              <a:t>+1</a:t>
            </a:r>
            <a:r>
              <a:rPr lang="en-US" altLang="zh-TW" sz="2200" dirty="0"/>
              <a:t>)  =  </a:t>
            </a:r>
            <a:r>
              <a:rPr lang="en-US" altLang="zh-TW" sz="2200" i="1" dirty="0">
                <a:solidFill>
                  <a:srgbClr val="9900CC"/>
                </a:solidFill>
              </a:rPr>
              <a:t>a</a:t>
            </a:r>
            <a:r>
              <a:rPr lang="en-US" altLang="zh-TW" sz="2200" dirty="0">
                <a:solidFill>
                  <a:srgbClr val="9900CC"/>
                </a:solidFill>
              </a:rPr>
              <a:t> </a:t>
            </a:r>
            <a:r>
              <a:rPr lang="en-US" altLang="zh-TW" sz="2200" i="1" dirty="0">
                <a:solidFill>
                  <a:srgbClr val="9900CC"/>
                </a:solidFill>
                <a:sym typeface="Symbol" pitchFamily="18" charset="2"/>
              </a:rPr>
              <a:t>x</a:t>
            </a:r>
            <a:r>
              <a:rPr lang="en-US" altLang="zh-TW" sz="2200" i="1" baseline="-25000" dirty="0">
                <a:solidFill>
                  <a:srgbClr val="9900CC"/>
                </a:solidFill>
                <a:sym typeface="Symbol" pitchFamily="18" charset="2"/>
              </a:rPr>
              <a:t>i </a:t>
            </a:r>
            <a:r>
              <a:rPr lang="en-US" altLang="zh-TW" sz="2200" baseline="-25000" dirty="0">
                <a:solidFill>
                  <a:srgbClr val="9900CC"/>
                </a:solidFill>
                <a:sym typeface="Symbol" pitchFamily="18" charset="2"/>
              </a:rPr>
              <a:t>+1</a:t>
            </a:r>
            <a:r>
              <a:rPr lang="en-US" altLang="zh-TW" sz="2200" dirty="0">
                <a:solidFill>
                  <a:srgbClr val="9900CC"/>
                </a:solidFill>
              </a:rPr>
              <a:t> + </a:t>
            </a:r>
            <a:r>
              <a:rPr lang="en-US" altLang="zh-TW" sz="2200" i="1" dirty="0">
                <a:solidFill>
                  <a:srgbClr val="9900CC"/>
                </a:solidFill>
              </a:rPr>
              <a:t>b</a:t>
            </a:r>
            <a:r>
              <a:rPr lang="en-US" altLang="zh-TW" sz="2200" dirty="0">
                <a:solidFill>
                  <a:srgbClr val="9900CC"/>
                </a:solidFill>
              </a:rPr>
              <a:t> </a:t>
            </a:r>
            <a:r>
              <a:rPr lang="en-US" altLang="zh-TW" sz="2200" i="1" dirty="0" err="1">
                <a:solidFill>
                  <a:srgbClr val="9900CC"/>
                </a:solidFill>
                <a:sym typeface="Symbol" pitchFamily="18" charset="2"/>
              </a:rPr>
              <a:t>y</a:t>
            </a:r>
            <a:r>
              <a:rPr lang="en-US" altLang="zh-TW" sz="2200" i="1" baseline="-25000" dirty="0" err="1">
                <a:solidFill>
                  <a:srgbClr val="9900CC"/>
                </a:solidFill>
                <a:sym typeface="Symbol" pitchFamily="18" charset="2"/>
              </a:rPr>
              <a:t>i</a:t>
            </a:r>
            <a:r>
              <a:rPr lang="en-US" altLang="zh-TW" sz="2200" i="1" baseline="-25000" dirty="0">
                <a:solidFill>
                  <a:srgbClr val="9900CC"/>
                </a:solidFill>
                <a:sym typeface="Symbol" pitchFamily="18" charset="2"/>
              </a:rPr>
              <a:t> </a:t>
            </a:r>
            <a:r>
              <a:rPr lang="en-US" altLang="zh-TW" sz="2200" baseline="-25000" dirty="0">
                <a:solidFill>
                  <a:srgbClr val="9900CC"/>
                </a:solidFill>
                <a:sym typeface="Symbol" pitchFamily="18" charset="2"/>
              </a:rPr>
              <a:t>+1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200" baseline="-25000" dirty="0">
                <a:solidFill>
                  <a:srgbClr val="9900CC"/>
                </a:solidFill>
                <a:sym typeface="Symbol" pitchFamily="18" charset="2"/>
              </a:rPr>
              <a:t>	</a:t>
            </a:r>
            <a:r>
              <a:rPr lang="en-US" altLang="zh-TW" sz="2200" dirty="0"/>
              <a:t>By mathematical induction  </a:t>
            </a:r>
            <a:r>
              <a:rPr lang="en-US" altLang="zh-TW" sz="2200" i="1" dirty="0" err="1"/>
              <a:t>r</a:t>
            </a:r>
            <a:r>
              <a:rPr lang="en-US" altLang="zh-TW" sz="2200" i="1" baseline="-25000" dirty="0" err="1"/>
              <a:t>k</a:t>
            </a:r>
            <a:r>
              <a:rPr lang="en-US" altLang="zh-TW" sz="2200" dirty="0"/>
              <a:t> = </a:t>
            </a:r>
            <a:r>
              <a:rPr lang="en-US" altLang="zh-TW" sz="2200" i="1" dirty="0" err="1"/>
              <a:t>ax</a:t>
            </a:r>
            <a:r>
              <a:rPr lang="en-US" altLang="zh-TW" sz="2200" i="1" baseline="-25000" dirty="0" err="1"/>
              <a:t>k</a:t>
            </a:r>
            <a:r>
              <a:rPr lang="en-US" altLang="zh-TW" sz="2200" dirty="0"/>
              <a:t> + </a:t>
            </a:r>
            <a:r>
              <a:rPr lang="en-US" altLang="zh-TW" sz="2200" i="1" dirty="0" err="1"/>
              <a:t>by</a:t>
            </a:r>
            <a:r>
              <a:rPr lang="en-US" altLang="zh-TW" sz="2200" i="1" baseline="-25000" dirty="0" err="1"/>
              <a:t>k</a:t>
            </a:r>
            <a:r>
              <a:rPr lang="en-US" altLang="zh-TW" sz="2200" dirty="0"/>
              <a:t>  for each  </a:t>
            </a:r>
            <a:r>
              <a:rPr lang="en-US" altLang="zh-TW" sz="2200" i="1" dirty="0"/>
              <a:t>k</a:t>
            </a:r>
            <a:r>
              <a:rPr lang="en-US" altLang="zh-TW" sz="2200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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b="1" i="1" dirty="0">
                <a:sym typeface="Symbol" pitchFamily="18" charset="2"/>
              </a:rPr>
              <a:t>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b="1" i="1" dirty="0">
                <a:sym typeface="Symbol" pitchFamily="18" charset="2"/>
              </a:rPr>
              <a:t>	</a:t>
            </a:r>
            <a:r>
              <a:rPr lang="en-US" altLang="zh-TW" sz="2200" dirty="0">
                <a:sym typeface="Symbol" pitchFamily="18" charset="2"/>
              </a:rPr>
              <a:t>Eventually  </a:t>
            </a:r>
            <a:r>
              <a:rPr lang="en-US" altLang="zh-TW" sz="2200" i="1" dirty="0" err="1"/>
              <a:t>r</a:t>
            </a:r>
            <a:r>
              <a:rPr lang="en-US" altLang="zh-TW" sz="2200" i="1" baseline="-25000" dirty="0" err="1"/>
              <a:t>n</a:t>
            </a:r>
            <a:r>
              <a:rPr lang="en-US" altLang="zh-TW" sz="2200" i="1" baseline="-25000" dirty="0"/>
              <a:t> </a:t>
            </a:r>
            <a:r>
              <a:rPr lang="en-US" altLang="zh-TW" sz="2200" baseline="-25000" dirty="0"/>
              <a:t>+1</a:t>
            </a:r>
            <a:r>
              <a:rPr lang="en-US" altLang="zh-TW" sz="2200" dirty="0"/>
              <a:t> = 0  and  </a:t>
            </a:r>
            <a:r>
              <a:rPr lang="en-US" altLang="zh-TW" sz="2200" i="1" dirty="0" err="1"/>
              <a:t>r</a:t>
            </a:r>
            <a:r>
              <a:rPr lang="en-US" altLang="zh-TW" sz="2200" i="1" baseline="-25000" dirty="0" err="1"/>
              <a:t>n</a:t>
            </a:r>
            <a:r>
              <a:rPr lang="en-US" altLang="zh-TW" sz="2200" dirty="0"/>
              <a:t> = </a:t>
            </a:r>
            <a:r>
              <a:rPr lang="en-US" altLang="zh-TW" sz="2200" dirty="0" err="1"/>
              <a:t>gcd</a:t>
            </a:r>
            <a:r>
              <a:rPr lang="en-US" altLang="zh-TW" sz="2200" dirty="0"/>
              <a:t> (</a:t>
            </a:r>
            <a:r>
              <a:rPr lang="en-US" altLang="zh-TW" sz="2200" i="1" dirty="0"/>
              <a:t>a</a:t>
            </a:r>
            <a:r>
              <a:rPr lang="en-US" altLang="zh-TW" sz="2200" dirty="0"/>
              <a:t>, </a:t>
            </a:r>
            <a:r>
              <a:rPr lang="en-US" altLang="zh-TW" sz="2200" i="1" dirty="0"/>
              <a:t>b</a:t>
            </a:r>
            <a:r>
              <a:rPr lang="en-US" altLang="zh-TW" sz="2200" dirty="0"/>
              <a:t>) = </a:t>
            </a:r>
            <a:r>
              <a:rPr lang="en-US" altLang="zh-TW" sz="2200" i="1" dirty="0" err="1"/>
              <a:t>ax</a:t>
            </a:r>
            <a:r>
              <a:rPr lang="en-US" altLang="zh-TW" sz="2200" i="1" baseline="-25000" dirty="0" err="1"/>
              <a:t>n</a:t>
            </a:r>
            <a:r>
              <a:rPr lang="en-US" altLang="zh-TW" sz="2200" dirty="0"/>
              <a:t> + </a:t>
            </a:r>
            <a:r>
              <a:rPr lang="en-US" altLang="zh-TW" sz="2200" i="1" dirty="0" err="1"/>
              <a:t>by</a:t>
            </a:r>
            <a:r>
              <a:rPr lang="en-US" altLang="zh-TW" sz="2200" i="1" baseline="-25000" dirty="0" err="1"/>
              <a:t>n</a:t>
            </a:r>
            <a:endParaRPr lang="en-US" altLang="zh-TW" sz="2200" i="1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1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1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1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1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投影片編號版面配置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1F996BAD-FCFE-4565-85B1-96A3F9D9DEF3}" type="slidenum">
              <a:rPr kumimoji="0" lang="en-US" altLang="zh-TW" smtClean="0"/>
              <a:pPr eaLnBrk="1" hangingPunct="1"/>
              <a:t>17</a:t>
            </a:fld>
            <a:endParaRPr kumimoji="0" lang="en-US" altLang="zh-TW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Extended GCD Algorithm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18488" cy="4411662"/>
          </a:xfrm>
        </p:spPr>
        <p:txBody>
          <a:bodyPr/>
          <a:lstStyle/>
          <a:p>
            <a:pPr eaLnBrk="1" hangingPunct="1"/>
            <a:r>
              <a:rPr lang="en-US" altLang="zh-TW" sz="2600" b="1"/>
              <a:t>Example</a:t>
            </a:r>
            <a:r>
              <a:rPr lang="en-US" altLang="zh-TW" sz="2600"/>
              <a:t>  </a:t>
            </a:r>
            <a:r>
              <a:rPr lang="en-US" altLang="zh-TW" sz="2600" i="1"/>
              <a:t>a</a:t>
            </a:r>
            <a:r>
              <a:rPr lang="en-US" altLang="zh-TW" sz="2600"/>
              <a:t> = 100,  </a:t>
            </a:r>
            <a:r>
              <a:rPr lang="en-US" altLang="zh-TW" sz="2600" i="1"/>
              <a:t>b</a:t>
            </a:r>
            <a:r>
              <a:rPr lang="en-US" altLang="zh-TW" sz="2600"/>
              <a:t> = 35</a:t>
            </a:r>
          </a:p>
          <a:p>
            <a:pPr lvl="1" eaLnBrk="1" hangingPunct="1"/>
            <a:r>
              <a:rPr lang="en-US" altLang="zh-TW" sz="2400"/>
              <a:t>100 = 2 </a:t>
            </a:r>
            <a:r>
              <a:rPr lang="en-US" altLang="zh-TW" sz="2400">
                <a:sym typeface="Symbol" pitchFamily="18" charset="2"/>
              </a:rPr>
              <a:t> 35 + 30		</a:t>
            </a:r>
            <a:r>
              <a:rPr lang="en-US" altLang="zh-TW" sz="2400" i="1">
                <a:sym typeface="Symbol" pitchFamily="18" charset="2"/>
              </a:rPr>
              <a:t>r</a:t>
            </a:r>
            <a:r>
              <a:rPr lang="en-US" altLang="zh-TW" sz="2400" baseline="-25000">
                <a:sym typeface="Symbol" pitchFamily="18" charset="2"/>
              </a:rPr>
              <a:t>0</a:t>
            </a:r>
            <a:r>
              <a:rPr lang="en-US" altLang="zh-TW" sz="2400">
                <a:sym typeface="Symbol" pitchFamily="18" charset="2"/>
              </a:rPr>
              <a:t> </a:t>
            </a:r>
            <a:r>
              <a:rPr lang="en-US" altLang="zh-TW" sz="1200">
                <a:solidFill>
                  <a:srgbClr val="9900CC"/>
                </a:solidFill>
                <a:sym typeface="Symbol" pitchFamily="18" charset="2"/>
              </a:rPr>
              <a:t>[ =</a:t>
            </a:r>
            <a:r>
              <a:rPr lang="en-US" altLang="zh-TW" sz="1200" i="1">
                <a:solidFill>
                  <a:srgbClr val="9900CC"/>
                </a:solidFill>
                <a:sym typeface="Symbol" pitchFamily="18" charset="2"/>
              </a:rPr>
              <a:t>a </a:t>
            </a:r>
            <a:r>
              <a:rPr lang="en-US" altLang="zh-TW" sz="1200">
                <a:solidFill>
                  <a:srgbClr val="9900CC"/>
                </a:solidFill>
                <a:sym typeface="Symbol" pitchFamily="18" charset="2"/>
              </a:rPr>
              <a:t>]</a:t>
            </a:r>
            <a:r>
              <a:rPr lang="en-US" altLang="zh-TW" sz="2400">
                <a:sym typeface="Symbol" pitchFamily="18" charset="2"/>
              </a:rPr>
              <a:t> = </a:t>
            </a:r>
            <a:r>
              <a:rPr lang="en-US" altLang="zh-TW" sz="2400" i="1">
                <a:sym typeface="Symbol" pitchFamily="18" charset="2"/>
              </a:rPr>
              <a:t>q</a:t>
            </a:r>
            <a:r>
              <a:rPr lang="en-US" altLang="zh-TW" sz="2400" baseline="-25000">
                <a:sym typeface="Symbol" pitchFamily="18" charset="2"/>
              </a:rPr>
              <a:t>2</a:t>
            </a:r>
            <a:r>
              <a:rPr lang="en-US" altLang="zh-TW" sz="2400">
                <a:sym typeface="Symbol" pitchFamily="18" charset="2"/>
              </a:rPr>
              <a:t> </a:t>
            </a:r>
            <a:r>
              <a:rPr lang="en-US" altLang="zh-TW" sz="2400" i="1">
                <a:sym typeface="Symbol" pitchFamily="18" charset="2"/>
              </a:rPr>
              <a:t>r</a:t>
            </a:r>
            <a:r>
              <a:rPr lang="en-US" altLang="zh-TW" sz="2400" baseline="-25000">
                <a:sym typeface="Symbol" pitchFamily="18" charset="2"/>
              </a:rPr>
              <a:t>1</a:t>
            </a:r>
            <a:r>
              <a:rPr lang="en-US" altLang="zh-TW" sz="2400">
                <a:sym typeface="Symbol" pitchFamily="18" charset="2"/>
              </a:rPr>
              <a:t> </a:t>
            </a:r>
            <a:r>
              <a:rPr lang="en-US" altLang="zh-TW" sz="1200">
                <a:solidFill>
                  <a:srgbClr val="9900CC"/>
                </a:solidFill>
                <a:sym typeface="Symbol" pitchFamily="18" charset="2"/>
              </a:rPr>
              <a:t>[ =</a:t>
            </a:r>
            <a:r>
              <a:rPr lang="en-US" altLang="zh-TW" sz="1200" i="1">
                <a:solidFill>
                  <a:srgbClr val="9900CC"/>
                </a:solidFill>
                <a:sym typeface="Symbol" pitchFamily="18" charset="2"/>
              </a:rPr>
              <a:t>b </a:t>
            </a:r>
            <a:r>
              <a:rPr lang="en-US" altLang="zh-TW" sz="1200">
                <a:solidFill>
                  <a:srgbClr val="9900CC"/>
                </a:solidFill>
                <a:sym typeface="Symbol" pitchFamily="18" charset="2"/>
              </a:rPr>
              <a:t>]</a:t>
            </a:r>
            <a:r>
              <a:rPr lang="en-US" altLang="zh-TW" sz="2400">
                <a:sym typeface="Symbol" pitchFamily="18" charset="2"/>
              </a:rPr>
              <a:t> + </a:t>
            </a:r>
            <a:r>
              <a:rPr lang="en-US" altLang="zh-TW" sz="2400" i="1">
                <a:sym typeface="Symbol" pitchFamily="18" charset="2"/>
              </a:rPr>
              <a:t>r</a:t>
            </a:r>
            <a:r>
              <a:rPr lang="en-US" altLang="zh-TW" sz="2400" baseline="-25000">
                <a:sym typeface="Symbol" pitchFamily="18" charset="2"/>
              </a:rPr>
              <a:t>2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>
                <a:sym typeface="Symbol" pitchFamily="18" charset="2"/>
              </a:rPr>
              <a:t>	 35 = 1  30 +  5		</a:t>
            </a:r>
            <a:r>
              <a:rPr lang="en-US" altLang="zh-TW" sz="2400" i="1">
                <a:sym typeface="Symbol" pitchFamily="18" charset="2"/>
              </a:rPr>
              <a:t>r</a:t>
            </a:r>
            <a:r>
              <a:rPr lang="en-US" altLang="zh-TW" sz="2400" baseline="-25000">
                <a:sym typeface="Symbol" pitchFamily="18" charset="2"/>
              </a:rPr>
              <a:t>1</a:t>
            </a:r>
            <a:r>
              <a:rPr lang="en-US" altLang="zh-TW" sz="2400">
                <a:sym typeface="Symbol" pitchFamily="18" charset="2"/>
              </a:rPr>
              <a:t>   = </a:t>
            </a:r>
            <a:r>
              <a:rPr lang="en-US" altLang="zh-TW" sz="2400" i="1">
                <a:sym typeface="Symbol" pitchFamily="18" charset="2"/>
              </a:rPr>
              <a:t>q</a:t>
            </a:r>
            <a:r>
              <a:rPr lang="en-US" altLang="zh-TW" sz="2400" baseline="-25000">
                <a:sym typeface="Symbol" pitchFamily="18" charset="2"/>
              </a:rPr>
              <a:t>3</a:t>
            </a:r>
            <a:r>
              <a:rPr lang="en-US" altLang="zh-TW" sz="2400">
                <a:sym typeface="Symbol" pitchFamily="18" charset="2"/>
              </a:rPr>
              <a:t> </a:t>
            </a:r>
            <a:r>
              <a:rPr lang="en-US" altLang="zh-TW" sz="2400" i="1">
                <a:sym typeface="Symbol" pitchFamily="18" charset="2"/>
              </a:rPr>
              <a:t>r</a:t>
            </a:r>
            <a:r>
              <a:rPr lang="en-US" altLang="zh-TW" sz="2400" baseline="-25000">
                <a:sym typeface="Symbol" pitchFamily="18" charset="2"/>
              </a:rPr>
              <a:t>2</a:t>
            </a:r>
            <a:r>
              <a:rPr lang="en-US" altLang="zh-TW" sz="2400">
                <a:sym typeface="Symbol" pitchFamily="18" charset="2"/>
              </a:rPr>
              <a:t> + </a:t>
            </a:r>
            <a:r>
              <a:rPr lang="en-US" altLang="zh-TW" sz="2400" i="1">
                <a:sym typeface="Symbol" pitchFamily="18" charset="2"/>
              </a:rPr>
              <a:t>r</a:t>
            </a:r>
            <a:r>
              <a:rPr lang="en-US" altLang="zh-TW" sz="2400" baseline="-25000">
                <a:sym typeface="Symbol" pitchFamily="18" charset="2"/>
              </a:rPr>
              <a:t>3 </a:t>
            </a:r>
            <a:r>
              <a:rPr lang="en-US" altLang="zh-TW" sz="1200">
                <a:solidFill>
                  <a:srgbClr val="9900CC"/>
                </a:solidFill>
                <a:sym typeface="Symbol" pitchFamily="18" charset="2"/>
              </a:rPr>
              <a:t>[ = gcd ]</a:t>
            </a:r>
            <a:r>
              <a:rPr lang="en-US" altLang="zh-TW" sz="2400">
                <a:sym typeface="Symbol" pitchFamily="18" charset="2"/>
              </a:rPr>
              <a:t> </a:t>
            </a:r>
            <a:endParaRPr lang="en-US" altLang="zh-TW" sz="2400" baseline="-25000">
              <a:sym typeface="Symbol" pitchFamily="18" charset="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>
                <a:sym typeface="Symbol" pitchFamily="18" charset="2"/>
              </a:rPr>
              <a:t>	 30 = 6   5  +  0		</a:t>
            </a:r>
            <a:r>
              <a:rPr lang="en-US" altLang="zh-TW" sz="2400" i="1">
                <a:sym typeface="Symbol" pitchFamily="18" charset="2"/>
              </a:rPr>
              <a:t>r</a:t>
            </a:r>
            <a:r>
              <a:rPr lang="en-US" altLang="zh-TW" sz="2400" baseline="-25000">
                <a:sym typeface="Symbol" pitchFamily="18" charset="2"/>
              </a:rPr>
              <a:t>2</a:t>
            </a:r>
            <a:r>
              <a:rPr lang="en-US" altLang="zh-TW" sz="2400">
                <a:sym typeface="Symbol" pitchFamily="18" charset="2"/>
              </a:rPr>
              <a:t>   = </a:t>
            </a:r>
            <a:r>
              <a:rPr lang="en-US" altLang="zh-TW" sz="2400" i="1">
                <a:sym typeface="Symbol" pitchFamily="18" charset="2"/>
              </a:rPr>
              <a:t>q</a:t>
            </a:r>
            <a:r>
              <a:rPr lang="en-US" altLang="zh-TW" sz="2400" baseline="-25000">
                <a:sym typeface="Symbol" pitchFamily="18" charset="2"/>
              </a:rPr>
              <a:t>4</a:t>
            </a:r>
            <a:r>
              <a:rPr lang="en-US" altLang="zh-TW" sz="2400">
                <a:sym typeface="Symbol" pitchFamily="18" charset="2"/>
              </a:rPr>
              <a:t> </a:t>
            </a:r>
            <a:r>
              <a:rPr lang="en-US" altLang="zh-TW" sz="2400" i="1">
                <a:sym typeface="Symbol" pitchFamily="18" charset="2"/>
              </a:rPr>
              <a:t>r</a:t>
            </a:r>
            <a:r>
              <a:rPr lang="en-US" altLang="zh-TW" sz="2400" baseline="-25000">
                <a:sym typeface="Symbol" pitchFamily="18" charset="2"/>
              </a:rPr>
              <a:t>3</a:t>
            </a:r>
            <a:r>
              <a:rPr lang="en-US" altLang="zh-TW" sz="2400">
                <a:sym typeface="Symbol" pitchFamily="18" charset="2"/>
              </a:rPr>
              <a:t> + </a:t>
            </a:r>
            <a:r>
              <a:rPr lang="en-US" altLang="zh-TW" sz="2400" i="1">
                <a:sym typeface="Symbol" pitchFamily="18" charset="2"/>
              </a:rPr>
              <a:t>r</a:t>
            </a:r>
            <a:r>
              <a:rPr lang="en-US" altLang="zh-TW" sz="2400" baseline="-25000">
                <a:sym typeface="Symbol" pitchFamily="18" charset="2"/>
              </a:rPr>
              <a:t>4 </a:t>
            </a:r>
            <a:r>
              <a:rPr lang="en-US" altLang="zh-TW" sz="1200">
                <a:solidFill>
                  <a:srgbClr val="9900CC"/>
                </a:solidFill>
                <a:sym typeface="Symbol" pitchFamily="18" charset="2"/>
              </a:rPr>
              <a:t>[ =0 ]</a:t>
            </a:r>
            <a:r>
              <a:rPr lang="en-US" altLang="zh-TW" sz="1400">
                <a:sym typeface="Symbol" pitchFamily="18" charset="2"/>
              </a:rPr>
              <a:t> </a:t>
            </a:r>
            <a:endParaRPr lang="en-US" altLang="zh-TW" sz="1400" baseline="-25000">
              <a:sym typeface="Symbol" pitchFamily="18" charset="2"/>
            </a:endParaRPr>
          </a:p>
          <a:p>
            <a:pPr lvl="1" eaLnBrk="1" hangingPunct="1"/>
            <a:r>
              <a:rPr lang="en-US" altLang="zh-TW" sz="2400" i="1">
                <a:sym typeface="Symbol" pitchFamily="18" charset="2"/>
              </a:rPr>
              <a:t>x</a:t>
            </a:r>
            <a:r>
              <a:rPr lang="en-US" altLang="zh-TW" sz="2400" baseline="-25000">
                <a:sym typeface="Symbol" pitchFamily="18" charset="2"/>
              </a:rPr>
              <a:t>0</a:t>
            </a:r>
            <a:r>
              <a:rPr lang="en-US" altLang="zh-TW" sz="2400">
                <a:sym typeface="Symbol" pitchFamily="18" charset="2"/>
              </a:rPr>
              <a:t> = 1,   </a:t>
            </a:r>
            <a:r>
              <a:rPr lang="en-US" altLang="zh-TW" sz="2400" i="1">
                <a:sym typeface="Symbol" pitchFamily="18" charset="2"/>
              </a:rPr>
              <a:t>y</a:t>
            </a:r>
            <a:r>
              <a:rPr lang="en-US" altLang="zh-TW" sz="2400" baseline="-25000">
                <a:sym typeface="Symbol" pitchFamily="18" charset="2"/>
              </a:rPr>
              <a:t>0</a:t>
            </a:r>
            <a:r>
              <a:rPr lang="en-US" altLang="zh-TW" sz="2400">
                <a:sym typeface="Symbol" pitchFamily="18" charset="2"/>
              </a:rPr>
              <a:t> = 0,   </a:t>
            </a:r>
            <a:r>
              <a:rPr lang="en-US" altLang="zh-TW" sz="2400" i="1">
                <a:sym typeface="Symbol" pitchFamily="18" charset="2"/>
              </a:rPr>
              <a:t>x</a:t>
            </a:r>
            <a:r>
              <a:rPr lang="en-US" altLang="zh-TW" sz="2400" baseline="-25000">
                <a:sym typeface="Symbol" pitchFamily="18" charset="2"/>
              </a:rPr>
              <a:t>1</a:t>
            </a:r>
            <a:r>
              <a:rPr lang="en-US" altLang="zh-TW" sz="2400">
                <a:sym typeface="Symbol" pitchFamily="18" charset="2"/>
              </a:rPr>
              <a:t> = 0,   </a:t>
            </a:r>
            <a:r>
              <a:rPr lang="en-US" altLang="zh-TW" sz="2400" i="1">
                <a:sym typeface="Symbol" pitchFamily="18" charset="2"/>
              </a:rPr>
              <a:t>y</a:t>
            </a:r>
            <a:r>
              <a:rPr lang="en-US" altLang="zh-TW" sz="2400" baseline="-25000">
                <a:sym typeface="Symbol" pitchFamily="18" charset="2"/>
              </a:rPr>
              <a:t>1</a:t>
            </a:r>
            <a:r>
              <a:rPr lang="en-US" altLang="zh-TW" sz="2400">
                <a:sym typeface="Symbol" pitchFamily="18" charset="2"/>
              </a:rPr>
              <a:t> = 1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zh-TW" sz="2400" i="1">
                <a:sym typeface="Symbol" pitchFamily="18" charset="2"/>
              </a:rPr>
              <a:t>x</a:t>
            </a:r>
            <a:r>
              <a:rPr lang="en-US" altLang="zh-TW" sz="2400" baseline="-25000">
                <a:sym typeface="Symbol" pitchFamily="18" charset="2"/>
              </a:rPr>
              <a:t>2</a:t>
            </a:r>
            <a:r>
              <a:rPr lang="en-US" altLang="zh-TW" sz="2400">
                <a:sym typeface="Symbol" pitchFamily="18" charset="2"/>
              </a:rPr>
              <a:t> = </a:t>
            </a:r>
            <a:r>
              <a:rPr lang="en-US" altLang="zh-TW" sz="2400" i="1">
                <a:sym typeface="Symbol" pitchFamily="18" charset="2"/>
              </a:rPr>
              <a:t>x</a:t>
            </a:r>
            <a:r>
              <a:rPr lang="en-US" altLang="zh-TW" sz="2400" baseline="-25000">
                <a:sym typeface="Symbol" pitchFamily="18" charset="2"/>
              </a:rPr>
              <a:t>0</a:t>
            </a:r>
            <a:r>
              <a:rPr lang="en-US" altLang="zh-TW" sz="2400">
                <a:sym typeface="Symbol" pitchFamily="18" charset="2"/>
              </a:rPr>
              <a:t>  </a:t>
            </a:r>
            <a:r>
              <a:rPr lang="en-US" altLang="zh-TW" sz="2400" i="1">
                <a:sym typeface="Symbol" pitchFamily="18" charset="2"/>
              </a:rPr>
              <a:t>x</a:t>
            </a:r>
            <a:r>
              <a:rPr lang="en-US" altLang="zh-TW" sz="2400" baseline="-25000">
                <a:sym typeface="Symbol" pitchFamily="18" charset="2"/>
              </a:rPr>
              <a:t>1</a:t>
            </a:r>
            <a:r>
              <a:rPr lang="en-US" altLang="zh-TW" sz="2400">
                <a:sym typeface="Symbol" pitchFamily="18" charset="2"/>
              </a:rPr>
              <a:t> </a:t>
            </a:r>
            <a:r>
              <a:rPr lang="en-US" altLang="zh-TW" sz="2400" i="1">
                <a:sym typeface="Symbol" pitchFamily="18" charset="2"/>
              </a:rPr>
              <a:t>q</a:t>
            </a:r>
            <a:r>
              <a:rPr lang="en-US" altLang="zh-TW" sz="2400" baseline="-25000">
                <a:sym typeface="Symbol" pitchFamily="18" charset="2"/>
              </a:rPr>
              <a:t>2</a:t>
            </a:r>
            <a:r>
              <a:rPr lang="en-US" altLang="zh-TW" sz="2400">
                <a:sym typeface="Symbol" pitchFamily="18" charset="2"/>
              </a:rPr>
              <a:t> = 1  0  2 = 1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zh-TW" sz="2400" i="1">
                <a:sym typeface="Symbol" pitchFamily="18" charset="2"/>
              </a:rPr>
              <a:t>y</a:t>
            </a:r>
            <a:r>
              <a:rPr lang="en-US" altLang="zh-TW" sz="2400" baseline="-25000">
                <a:sym typeface="Symbol" pitchFamily="18" charset="2"/>
              </a:rPr>
              <a:t>2</a:t>
            </a:r>
            <a:r>
              <a:rPr lang="en-US" altLang="zh-TW" sz="2400">
                <a:sym typeface="Symbol" pitchFamily="18" charset="2"/>
              </a:rPr>
              <a:t> = </a:t>
            </a:r>
            <a:r>
              <a:rPr lang="en-US" altLang="zh-TW" sz="2400" i="1">
                <a:sym typeface="Symbol" pitchFamily="18" charset="2"/>
              </a:rPr>
              <a:t>y</a:t>
            </a:r>
            <a:r>
              <a:rPr lang="en-US" altLang="zh-TW" sz="2400" baseline="-25000">
                <a:sym typeface="Symbol" pitchFamily="18" charset="2"/>
              </a:rPr>
              <a:t>0</a:t>
            </a:r>
            <a:r>
              <a:rPr lang="en-US" altLang="zh-TW" sz="2400">
                <a:sym typeface="Symbol" pitchFamily="18" charset="2"/>
              </a:rPr>
              <a:t>  </a:t>
            </a:r>
            <a:r>
              <a:rPr lang="en-US" altLang="zh-TW" sz="2400" i="1">
                <a:sym typeface="Symbol" pitchFamily="18" charset="2"/>
              </a:rPr>
              <a:t>y</a:t>
            </a:r>
            <a:r>
              <a:rPr lang="en-US" altLang="zh-TW" sz="2400" baseline="-25000">
                <a:sym typeface="Symbol" pitchFamily="18" charset="2"/>
              </a:rPr>
              <a:t>1</a:t>
            </a:r>
            <a:r>
              <a:rPr lang="en-US" altLang="zh-TW" sz="2400">
                <a:sym typeface="Symbol" pitchFamily="18" charset="2"/>
              </a:rPr>
              <a:t> </a:t>
            </a:r>
            <a:r>
              <a:rPr lang="en-US" altLang="zh-TW" sz="2400" i="1">
                <a:sym typeface="Symbol" pitchFamily="18" charset="2"/>
              </a:rPr>
              <a:t>q</a:t>
            </a:r>
            <a:r>
              <a:rPr lang="en-US" altLang="zh-TW" sz="2400" baseline="-25000">
                <a:sym typeface="Symbol" pitchFamily="18" charset="2"/>
              </a:rPr>
              <a:t>2</a:t>
            </a:r>
            <a:r>
              <a:rPr lang="en-US" altLang="zh-TW" sz="2400">
                <a:sym typeface="Symbol" pitchFamily="18" charset="2"/>
              </a:rPr>
              <a:t> = 0  1  2 = -2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zh-TW" sz="2400" i="1">
                <a:sym typeface="Symbol" pitchFamily="18" charset="2"/>
              </a:rPr>
              <a:t>x</a:t>
            </a:r>
            <a:r>
              <a:rPr lang="en-US" altLang="zh-TW" sz="2400" baseline="-25000">
                <a:sym typeface="Symbol" pitchFamily="18" charset="2"/>
              </a:rPr>
              <a:t>3</a:t>
            </a:r>
            <a:r>
              <a:rPr lang="en-US" altLang="zh-TW" sz="2400">
                <a:sym typeface="Symbol" pitchFamily="18" charset="2"/>
              </a:rPr>
              <a:t> = </a:t>
            </a:r>
            <a:r>
              <a:rPr lang="en-US" altLang="zh-TW" sz="2400" i="1">
                <a:sym typeface="Symbol" pitchFamily="18" charset="2"/>
              </a:rPr>
              <a:t>x</a:t>
            </a:r>
            <a:r>
              <a:rPr lang="en-US" altLang="zh-TW" sz="2400" baseline="-25000">
                <a:sym typeface="Symbol" pitchFamily="18" charset="2"/>
              </a:rPr>
              <a:t>1</a:t>
            </a:r>
            <a:r>
              <a:rPr lang="en-US" altLang="zh-TW" sz="2400">
                <a:sym typeface="Symbol" pitchFamily="18" charset="2"/>
              </a:rPr>
              <a:t>  </a:t>
            </a:r>
            <a:r>
              <a:rPr lang="en-US" altLang="zh-TW" sz="2400" i="1">
                <a:sym typeface="Symbol" pitchFamily="18" charset="2"/>
              </a:rPr>
              <a:t>x</a:t>
            </a:r>
            <a:r>
              <a:rPr lang="en-US" altLang="zh-TW" sz="2400" baseline="-25000">
                <a:sym typeface="Symbol" pitchFamily="18" charset="2"/>
              </a:rPr>
              <a:t>2</a:t>
            </a:r>
            <a:r>
              <a:rPr lang="en-US" altLang="zh-TW" sz="2400">
                <a:sym typeface="Symbol" pitchFamily="18" charset="2"/>
              </a:rPr>
              <a:t> </a:t>
            </a:r>
            <a:r>
              <a:rPr lang="en-US" altLang="zh-TW" sz="2400" i="1">
                <a:sym typeface="Symbol" pitchFamily="18" charset="2"/>
              </a:rPr>
              <a:t>q</a:t>
            </a:r>
            <a:r>
              <a:rPr lang="en-US" altLang="zh-TW" sz="2400" baseline="-25000">
                <a:sym typeface="Symbol" pitchFamily="18" charset="2"/>
              </a:rPr>
              <a:t>3</a:t>
            </a:r>
            <a:r>
              <a:rPr lang="en-US" altLang="zh-TW" sz="2400">
                <a:sym typeface="Symbol" pitchFamily="18" charset="2"/>
              </a:rPr>
              <a:t> = 0  1  1 = -1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zh-TW" sz="2400" i="1">
                <a:sym typeface="Symbol" pitchFamily="18" charset="2"/>
              </a:rPr>
              <a:t>y</a:t>
            </a:r>
            <a:r>
              <a:rPr lang="en-US" altLang="zh-TW" sz="2400" baseline="-25000">
                <a:sym typeface="Symbol" pitchFamily="18" charset="2"/>
              </a:rPr>
              <a:t>3</a:t>
            </a:r>
            <a:r>
              <a:rPr lang="en-US" altLang="zh-TW" sz="2400">
                <a:sym typeface="Symbol" pitchFamily="18" charset="2"/>
              </a:rPr>
              <a:t> = </a:t>
            </a:r>
            <a:r>
              <a:rPr lang="en-US" altLang="zh-TW" sz="2400" i="1">
                <a:sym typeface="Symbol" pitchFamily="18" charset="2"/>
              </a:rPr>
              <a:t>y</a:t>
            </a:r>
            <a:r>
              <a:rPr lang="en-US" altLang="zh-TW" sz="2400" baseline="-25000">
                <a:sym typeface="Symbol" pitchFamily="18" charset="2"/>
              </a:rPr>
              <a:t>1</a:t>
            </a:r>
            <a:r>
              <a:rPr lang="en-US" altLang="zh-TW" sz="2400">
                <a:sym typeface="Symbol" pitchFamily="18" charset="2"/>
              </a:rPr>
              <a:t>  </a:t>
            </a:r>
            <a:r>
              <a:rPr lang="en-US" altLang="zh-TW" sz="2400" i="1">
                <a:sym typeface="Symbol" pitchFamily="18" charset="2"/>
              </a:rPr>
              <a:t>y</a:t>
            </a:r>
            <a:r>
              <a:rPr lang="en-US" altLang="zh-TW" sz="2400" baseline="-25000">
                <a:sym typeface="Symbol" pitchFamily="18" charset="2"/>
              </a:rPr>
              <a:t>2</a:t>
            </a:r>
            <a:r>
              <a:rPr lang="en-US" altLang="zh-TW" sz="2400">
                <a:sym typeface="Symbol" pitchFamily="18" charset="2"/>
              </a:rPr>
              <a:t> </a:t>
            </a:r>
            <a:r>
              <a:rPr lang="en-US" altLang="zh-TW" sz="2400" i="1">
                <a:sym typeface="Symbol" pitchFamily="18" charset="2"/>
              </a:rPr>
              <a:t>q</a:t>
            </a:r>
            <a:r>
              <a:rPr lang="en-US" altLang="zh-TW" sz="2400" baseline="-25000">
                <a:sym typeface="Symbol" pitchFamily="18" charset="2"/>
              </a:rPr>
              <a:t>3</a:t>
            </a:r>
            <a:r>
              <a:rPr lang="en-US" altLang="zh-TW" sz="2400">
                <a:sym typeface="Symbol" pitchFamily="18" charset="2"/>
              </a:rPr>
              <a:t> = 1  (-2)  1 = 3</a:t>
            </a:r>
          </a:p>
          <a:p>
            <a:pPr lvl="1" eaLnBrk="1" hangingPunct="1"/>
            <a:r>
              <a:rPr lang="en-US" altLang="zh-TW" sz="2400"/>
              <a:t>gcd (</a:t>
            </a:r>
            <a:r>
              <a:rPr lang="en-US" altLang="zh-TW" sz="2400" i="1"/>
              <a:t>a, b</a:t>
            </a:r>
            <a:r>
              <a:rPr lang="en-US" altLang="zh-TW" sz="2400"/>
              <a:t>)</a:t>
            </a:r>
            <a:r>
              <a:rPr lang="en-US" altLang="zh-TW" sz="2400" i="1"/>
              <a:t>  =  r</a:t>
            </a:r>
            <a:r>
              <a:rPr lang="en-US" altLang="zh-TW" sz="2400" baseline="-25000"/>
              <a:t>3</a:t>
            </a:r>
            <a:r>
              <a:rPr lang="en-US" altLang="zh-TW" sz="2400"/>
              <a:t>  =  </a:t>
            </a:r>
            <a:r>
              <a:rPr lang="en-US" altLang="zh-TW" sz="2400" i="1"/>
              <a:t>a x</a:t>
            </a:r>
            <a:r>
              <a:rPr lang="en-US" altLang="zh-TW" sz="2400" baseline="-25000"/>
              <a:t>3</a:t>
            </a:r>
            <a:r>
              <a:rPr lang="en-US" altLang="zh-TW" sz="2400"/>
              <a:t> + </a:t>
            </a:r>
            <a:r>
              <a:rPr lang="en-US" altLang="zh-TW" sz="2400" i="1"/>
              <a:t>b y</a:t>
            </a:r>
            <a:r>
              <a:rPr lang="en-US" altLang="zh-TW" sz="2400" baseline="-25000"/>
              <a:t>3</a:t>
            </a:r>
            <a:r>
              <a:rPr lang="en-US" altLang="zh-TW" sz="2400" i="1" baseline="-25000"/>
              <a:t> </a:t>
            </a:r>
          </a:p>
        </p:txBody>
      </p:sp>
      <p:graphicFrame>
        <p:nvGraphicFramePr>
          <p:cNvPr id="132273" name="Group 177"/>
          <p:cNvGraphicFramePr>
            <a:graphicFrameLocks noGrp="1"/>
          </p:cNvGraphicFramePr>
          <p:nvPr>
            <p:ph sz="half" idx="2"/>
          </p:nvPr>
        </p:nvGraphicFramePr>
        <p:xfrm>
          <a:off x="5795963" y="3716338"/>
          <a:ext cx="2447925" cy="2378076"/>
        </p:xfrm>
        <a:graphic>
          <a:graphicData uri="http://schemas.openxmlformats.org/drawingml/2006/table">
            <a:tbl>
              <a:tblPr/>
              <a:tblGrid>
                <a:gridCol w="50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k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r</a:t>
                      </a:r>
                      <a:r>
                        <a:rPr kumimoji="1" lang="en-US" altLang="zh-TW" sz="2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k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q</a:t>
                      </a:r>
                      <a:r>
                        <a:rPr kumimoji="1" lang="en-US" altLang="zh-TW" sz="2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k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x</a:t>
                      </a:r>
                      <a:r>
                        <a:rPr kumimoji="1" lang="en-US" altLang="zh-TW" sz="2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k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y</a:t>
                      </a:r>
                      <a:r>
                        <a:rPr kumimoji="1" lang="en-US" altLang="zh-TW" sz="2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k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100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-1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32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1322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13227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132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132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投影片編號版面配置區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D9B850EC-648E-4CA9-BD9D-489AE3C9296C}" type="slidenum">
              <a:rPr kumimoji="0" lang="en-US" altLang="zh-TW" smtClean="0"/>
              <a:pPr eaLnBrk="1" hangingPunct="1"/>
              <a:t>18</a:t>
            </a:fld>
            <a:endParaRPr kumimoji="0" lang="en-US" altLang="zh-TW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Extended GCD Algorithm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18488" cy="4411662"/>
          </a:xfrm>
        </p:spPr>
        <p:txBody>
          <a:bodyPr/>
          <a:lstStyle/>
          <a:p>
            <a:pPr eaLnBrk="1" hangingPunct="1"/>
            <a:r>
              <a:rPr lang="en-US" altLang="zh-TW" sz="2400" b="1" u="sng" dirty="0"/>
              <a:t>Algorithm</a:t>
            </a:r>
            <a:r>
              <a:rPr lang="en-US" altLang="zh-TW" sz="2400" dirty="0"/>
              <a:t>  Extended Euclidean algorithm</a:t>
            </a:r>
          </a:p>
          <a:p>
            <a:pPr eaLnBrk="1" hangingPunct="1"/>
            <a:r>
              <a:rPr lang="en-US" altLang="zh-TW" sz="2400" b="1" u="sng" dirty="0"/>
              <a:t>Algorithm</a:t>
            </a:r>
            <a:r>
              <a:rPr lang="en-US" altLang="zh-TW" sz="2400" dirty="0"/>
              <a:t>  [matrix version]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b="1" dirty="0"/>
              <a:t>	Input</a:t>
            </a:r>
            <a:r>
              <a:rPr lang="en-US" altLang="zh-TW" sz="2400" dirty="0"/>
              <a:t>: </a:t>
            </a:r>
            <a:r>
              <a:rPr lang="en-US" altLang="zh-TW" sz="2400" i="1" dirty="0"/>
              <a:t>a</a:t>
            </a:r>
            <a:r>
              <a:rPr lang="en-US" altLang="zh-TW" sz="2400" dirty="0"/>
              <a:t>, </a:t>
            </a:r>
            <a:r>
              <a:rPr lang="en-US" altLang="zh-TW" sz="2400" i="1" dirty="0"/>
              <a:t>b</a:t>
            </a:r>
            <a:r>
              <a:rPr lang="en-US" altLang="zh-TW" sz="2400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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b="1" i="1" dirty="0">
                <a:sym typeface="Symbol" pitchFamily="18" charset="2"/>
              </a:rPr>
              <a:t>Z</a:t>
            </a:r>
            <a:r>
              <a:rPr lang="en-US" altLang="zh-TW" sz="2400" dirty="0">
                <a:sym typeface="Symbol" pitchFamily="18" charset="2"/>
              </a:rPr>
              <a:t>, </a:t>
            </a:r>
            <a:r>
              <a:rPr lang="en-US" altLang="zh-TW" sz="2400" i="1" dirty="0">
                <a:sym typeface="Symbol" pitchFamily="18" charset="2"/>
              </a:rPr>
              <a:t>a</a:t>
            </a:r>
            <a:r>
              <a:rPr lang="en-US" altLang="zh-TW" sz="2400" dirty="0">
                <a:sym typeface="Symbol" pitchFamily="18" charset="2"/>
              </a:rPr>
              <a:t>  0 or </a:t>
            </a:r>
            <a:r>
              <a:rPr lang="en-US" altLang="zh-TW" sz="2400" i="1" dirty="0">
                <a:sym typeface="Symbol" pitchFamily="18" charset="2"/>
              </a:rPr>
              <a:t>b</a:t>
            </a:r>
            <a:r>
              <a:rPr lang="en-US" altLang="zh-TW" sz="2400" dirty="0">
                <a:sym typeface="Symbol" pitchFamily="18" charset="2"/>
              </a:rPr>
              <a:t>  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b="1" dirty="0"/>
              <a:t>	Output</a:t>
            </a:r>
            <a:r>
              <a:rPr lang="en-US" altLang="zh-TW" sz="2400" dirty="0"/>
              <a:t>: </a:t>
            </a:r>
            <a:r>
              <a:rPr lang="en-US" altLang="zh-TW" sz="2400" i="1" dirty="0"/>
              <a:t>d</a:t>
            </a:r>
            <a:r>
              <a:rPr lang="en-US" altLang="zh-TW" sz="2400" dirty="0"/>
              <a:t>, </a:t>
            </a:r>
            <a:r>
              <a:rPr lang="en-US" altLang="zh-TW" sz="2400" i="1" dirty="0"/>
              <a:t>x</a:t>
            </a:r>
            <a:r>
              <a:rPr lang="en-US" altLang="zh-TW" sz="2400" dirty="0"/>
              <a:t>, </a:t>
            </a:r>
            <a:r>
              <a:rPr lang="en-US" altLang="zh-TW" sz="2400" i="1" dirty="0"/>
              <a:t>y</a:t>
            </a:r>
            <a:r>
              <a:rPr lang="en-US" altLang="zh-TW" sz="2400" dirty="0"/>
              <a:t>, where </a:t>
            </a:r>
            <a:r>
              <a:rPr lang="en-US" altLang="zh-TW" sz="2400" i="1" dirty="0"/>
              <a:t>d</a:t>
            </a:r>
            <a:r>
              <a:rPr lang="en-US" altLang="zh-TW" sz="2400" dirty="0"/>
              <a:t> = </a:t>
            </a:r>
            <a:r>
              <a:rPr lang="en-US" altLang="zh-TW" sz="2400" dirty="0" err="1"/>
              <a:t>gcd</a:t>
            </a:r>
            <a:r>
              <a:rPr lang="en-US" altLang="zh-TW" sz="2400" baseline="-25000" dirty="0"/>
              <a:t> </a:t>
            </a:r>
            <a:r>
              <a:rPr lang="en-US" altLang="zh-TW" sz="2400" dirty="0"/>
              <a:t>(</a:t>
            </a:r>
            <a:r>
              <a:rPr lang="en-US" altLang="zh-TW" sz="2400" i="1" dirty="0"/>
              <a:t>a</a:t>
            </a:r>
            <a:r>
              <a:rPr lang="en-US" altLang="zh-TW" sz="2400" dirty="0"/>
              <a:t>, </a:t>
            </a:r>
            <a:r>
              <a:rPr lang="en-US" altLang="zh-TW" sz="2400" i="1" dirty="0"/>
              <a:t>b</a:t>
            </a:r>
            <a:r>
              <a:rPr lang="en-US" altLang="zh-TW" sz="2400" dirty="0"/>
              <a:t>) = </a:t>
            </a:r>
            <a:r>
              <a:rPr lang="en-US" altLang="zh-TW" sz="2400" i="1" dirty="0"/>
              <a:t>ax</a:t>
            </a:r>
            <a:r>
              <a:rPr lang="en-US" altLang="zh-TW" sz="2400" baseline="-25000" dirty="0"/>
              <a:t> </a:t>
            </a:r>
            <a:r>
              <a:rPr lang="en-US" altLang="zh-TW" sz="2400" dirty="0"/>
              <a:t>+</a:t>
            </a:r>
            <a:r>
              <a:rPr lang="en-US" altLang="zh-TW" sz="2400" baseline="-25000" dirty="0"/>
              <a:t> </a:t>
            </a:r>
            <a:r>
              <a:rPr lang="en-US" altLang="zh-TW" sz="2400" i="1" dirty="0"/>
              <a:t>by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b="1" dirty="0"/>
              <a:t>	Set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TW" sz="1200" b="1" dirty="0"/>
          </a:p>
          <a:p>
            <a:pPr lvl="2" eaLnBrk="1" hangingPunct="1">
              <a:buFont typeface="Wingdings" pitchFamily="2" charset="2"/>
              <a:buNone/>
            </a:pPr>
            <a:r>
              <a:rPr lang="en-US" altLang="zh-TW" sz="2400" b="1" dirty="0"/>
              <a:t>While</a:t>
            </a:r>
            <a:r>
              <a:rPr lang="en-US" altLang="zh-TW" sz="2400" dirty="0"/>
              <a:t>  </a:t>
            </a:r>
            <a:r>
              <a:rPr lang="en-US" altLang="zh-TW" sz="2400" i="1" dirty="0"/>
              <a:t>r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 </a:t>
            </a:r>
            <a:r>
              <a:rPr lang="en-US" altLang="zh-TW" sz="2400" dirty="0">
                <a:sym typeface="Symbol" pitchFamily="18" charset="2"/>
              </a:rPr>
              <a:t> 0  </a:t>
            </a:r>
            <a:r>
              <a:rPr lang="en-US" altLang="zh-TW" sz="2400" b="1" dirty="0">
                <a:sym typeface="Symbol" pitchFamily="18" charset="2"/>
              </a:rPr>
              <a:t>do</a:t>
            </a:r>
          </a:p>
          <a:p>
            <a:pPr lvl="3" eaLnBrk="1" hangingPunct="1">
              <a:buFont typeface="Wingdings" pitchFamily="2" charset="2"/>
              <a:buNone/>
            </a:pPr>
            <a:r>
              <a:rPr lang="en-US" altLang="zh-TW" sz="2400" b="1" dirty="0">
                <a:sym typeface="Symbol" pitchFamily="18" charset="2"/>
              </a:rPr>
              <a:t>Set</a:t>
            </a:r>
            <a:r>
              <a:rPr lang="en-US" altLang="zh-TW" sz="2400" dirty="0">
                <a:sym typeface="Symbol" pitchFamily="18" charset="2"/>
              </a:rPr>
              <a:t> </a:t>
            </a:r>
          </a:p>
          <a:p>
            <a:pPr lvl="3" eaLnBrk="1" hangingPunct="1">
              <a:buFont typeface="Wingdings" pitchFamily="2" charset="2"/>
              <a:buNone/>
            </a:pPr>
            <a:endParaRPr lang="en-US" altLang="zh-TW" sz="1200" i="1" dirty="0">
              <a:sym typeface="Symbol" pitchFamily="18" charset="2"/>
            </a:endParaRPr>
          </a:p>
          <a:p>
            <a:pPr lvl="2" eaLnBrk="1" hangingPunct="1">
              <a:buFont typeface="Wingdings" pitchFamily="2" charset="2"/>
              <a:buNone/>
            </a:pPr>
            <a:r>
              <a:rPr lang="en-US" altLang="zh-TW" sz="2400" b="1" dirty="0">
                <a:sym typeface="Symbol" pitchFamily="18" charset="2"/>
              </a:rPr>
              <a:t>End While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b="1" dirty="0">
                <a:sym typeface="Symbol" pitchFamily="18" charset="2"/>
              </a:rPr>
              <a:t>	Return</a:t>
            </a:r>
            <a:r>
              <a:rPr lang="en-US" altLang="zh-TW" sz="2400" dirty="0">
                <a:sym typeface="Symbol" pitchFamily="18" charset="2"/>
              </a:rPr>
              <a:t>  [</a:t>
            </a:r>
            <a:r>
              <a:rPr lang="en-US" altLang="zh-TW" sz="2400" i="1" dirty="0">
                <a:sym typeface="Symbol" pitchFamily="18" charset="2"/>
              </a:rPr>
              <a:t>d</a:t>
            </a:r>
            <a:r>
              <a:rPr lang="en-US" altLang="zh-TW" sz="2400" dirty="0">
                <a:sym typeface="Symbol" pitchFamily="18" charset="2"/>
              </a:rPr>
              <a:t>, </a:t>
            </a:r>
            <a:r>
              <a:rPr lang="en-US" altLang="zh-TW" sz="2400" i="1" dirty="0">
                <a:sym typeface="Symbol" pitchFamily="18" charset="2"/>
              </a:rPr>
              <a:t>x</a:t>
            </a:r>
            <a:r>
              <a:rPr lang="en-US" altLang="zh-TW" sz="2400" dirty="0">
                <a:sym typeface="Symbol" pitchFamily="18" charset="2"/>
              </a:rPr>
              <a:t>, </a:t>
            </a:r>
            <a:r>
              <a:rPr lang="en-US" altLang="zh-TW" sz="2400" i="1" dirty="0">
                <a:sym typeface="Symbol" pitchFamily="18" charset="2"/>
              </a:rPr>
              <a:t>y</a:t>
            </a:r>
            <a:r>
              <a:rPr lang="en-US" altLang="zh-TW" sz="2400" dirty="0">
                <a:sym typeface="Symbol" pitchFamily="18" charset="2"/>
              </a:rPr>
              <a:t>] = [</a:t>
            </a:r>
            <a:r>
              <a:rPr lang="en-US" altLang="zh-TW" sz="2400" i="1" dirty="0">
                <a:sym typeface="Symbol" pitchFamily="18" charset="2"/>
              </a:rPr>
              <a:t>r</a:t>
            </a:r>
            <a:r>
              <a:rPr lang="en-US" altLang="zh-TW" sz="2400" baseline="-25000" dirty="0">
                <a:sym typeface="Symbol" pitchFamily="18" charset="2"/>
              </a:rPr>
              <a:t>0</a:t>
            </a:r>
            <a:r>
              <a:rPr lang="en-US" altLang="zh-TW" sz="2400" dirty="0">
                <a:sym typeface="Symbol" pitchFamily="18" charset="2"/>
              </a:rPr>
              <a:t>, </a:t>
            </a:r>
            <a:r>
              <a:rPr lang="en-US" altLang="zh-TW" sz="2400" i="1" dirty="0">
                <a:sym typeface="Symbol" pitchFamily="18" charset="2"/>
              </a:rPr>
              <a:t>x</a:t>
            </a:r>
            <a:r>
              <a:rPr lang="en-US" altLang="zh-TW" sz="2400" baseline="-25000" dirty="0">
                <a:sym typeface="Symbol" pitchFamily="18" charset="2"/>
              </a:rPr>
              <a:t>0</a:t>
            </a:r>
            <a:r>
              <a:rPr lang="en-US" altLang="zh-TW" sz="2400" dirty="0">
                <a:sym typeface="Symbol" pitchFamily="18" charset="2"/>
              </a:rPr>
              <a:t>, </a:t>
            </a:r>
            <a:r>
              <a:rPr lang="en-US" altLang="zh-TW" sz="2400" i="1" dirty="0">
                <a:sym typeface="Symbol" pitchFamily="18" charset="2"/>
              </a:rPr>
              <a:t>y</a:t>
            </a:r>
            <a:r>
              <a:rPr lang="en-US" altLang="zh-TW" sz="2400" baseline="-25000" dirty="0">
                <a:sym typeface="Symbol" pitchFamily="18" charset="2"/>
              </a:rPr>
              <a:t>0</a:t>
            </a:r>
            <a:r>
              <a:rPr lang="en-US" altLang="zh-TW" sz="2400" dirty="0">
                <a:sym typeface="Symbol" pitchFamily="18" charset="2"/>
              </a:rPr>
              <a:t>] </a:t>
            </a:r>
            <a:endParaRPr lang="en-US" altLang="zh-TW" sz="2400" dirty="0"/>
          </a:p>
        </p:txBody>
      </p:sp>
      <p:graphicFrame>
        <p:nvGraphicFramePr>
          <p:cNvPr id="175110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908175" y="3429000"/>
          <a:ext cx="2808288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752600" imgH="482600" progId="Equation.3">
                  <p:embed/>
                </p:oleObj>
              </mc:Choice>
              <mc:Fallback>
                <p:oleObj name="方程式" r:id="rId2" imgW="1752600" imgH="48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429000"/>
                        <a:ext cx="2808288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3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124075" y="4508500"/>
          <a:ext cx="46196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2857500" imgH="482600" progId="Equation.3">
                  <p:embed/>
                </p:oleObj>
              </mc:Choice>
              <mc:Fallback>
                <p:oleObj name="方程式" r:id="rId4" imgW="2857500" imgH="482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508500"/>
                        <a:ext cx="461962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DB75F845-0547-49C4-BA9E-775E194BF89B}" type="slidenum">
              <a:rPr kumimoji="0" lang="en-US" altLang="zh-TW" smtClean="0"/>
              <a:pPr eaLnBrk="1" hangingPunct="1"/>
              <a:t>19</a:t>
            </a:fld>
            <a:endParaRPr kumimoji="0" lang="en-US" altLang="zh-TW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Stein’s GCD Algorithm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435975" cy="4411662"/>
          </a:xfrm>
        </p:spPr>
        <p:txBody>
          <a:bodyPr/>
          <a:lstStyle/>
          <a:p>
            <a:pPr marL="571500" indent="-571500" eaLnBrk="1" hangingPunct="1"/>
            <a:r>
              <a:rPr lang="en-US" altLang="zh-TW" dirty="0"/>
              <a:t>Three least-significant-bit GCD properties</a:t>
            </a:r>
          </a:p>
          <a:p>
            <a:pPr marL="839788" lvl="1" indent="-495300" eaLnBrk="1" hangingPunct="1">
              <a:buFont typeface="Wingdings" pitchFamily="2" charset="2"/>
              <a:buAutoNum type="arabicParenR"/>
            </a:pPr>
            <a:r>
              <a:rPr lang="en-US" altLang="zh-TW" baseline="-25000" dirty="0"/>
              <a:t> </a:t>
            </a:r>
            <a:r>
              <a:rPr lang="en-US" altLang="zh-TW" i="1" dirty="0"/>
              <a:t>a</a:t>
            </a:r>
            <a:r>
              <a:rPr lang="en-US" altLang="zh-TW" dirty="0"/>
              <a:t>, </a:t>
            </a:r>
            <a:r>
              <a:rPr lang="en-US" altLang="zh-TW" i="1" dirty="0"/>
              <a:t>b</a:t>
            </a:r>
            <a:r>
              <a:rPr lang="en-US" altLang="zh-TW" baseline="-25000" dirty="0"/>
              <a:t>  </a:t>
            </a:r>
            <a:r>
              <a:rPr lang="en-US" altLang="zh-TW" dirty="0"/>
              <a:t>both even  </a:t>
            </a:r>
            <a:r>
              <a:rPr lang="en-US" altLang="zh-TW" dirty="0">
                <a:sym typeface="Symbol" pitchFamily="18" charset="2"/>
              </a:rPr>
              <a:t></a:t>
            </a:r>
            <a:r>
              <a:rPr lang="en-US" altLang="zh-TW" dirty="0"/>
              <a:t>  </a:t>
            </a:r>
            <a:r>
              <a:rPr lang="en-US" altLang="zh-TW" dirty="0" err="1"/>
              <a:t>gcd</a:t>
            </a:r>
            <a:r>
              <a:rPr lang="en-US" altLang="zh-TW" baseline="-25000" dirty="0"/>
              <a:t> </a:t>
            </a:r>
            <a:r>
              <a:rPr lang="en-US" altLang="zh-TW" dirty="0"/>
              <a:t>(</a:t>
            </a:r>
            <a:r>
              <a:rPr lang="en-US" altLang="zh-TW" i="1" dirty="0"/>
              <a:t>a</a:t>
            </a:r>
            <a:r>
              <a:rPr lang="en-US" altLang="zh-TW" dirty="0"/>
              <a:t>, </a:t>
            </a:r>
            <a:r>
              <a:rPr lang="en-US" altLang="zh-TW" i="1" dirty="0"/>
              <a:t>b</a:t>
            </a:r>
            <a:r>
              <a:rPr lang="en-US" altLang="zh-TW" dirty="0"/>
              <a:t>) = 2 </a:t>
            </a:r>
            <a:r>
              <a:rPr lang="en-US" altLang="zh-TW" dirty="0" err="1"/>
              <a:t>gcd</a:t>
            </a:r>
            <a:r>
              <a:rPr lang="en-US" altLang="zh-TW" baseline="-25000" dirty="0"/>
              <a:t> </a:t>
            </a:r>
            <a:r>
              <a:rPr lang="en-US" altLang="zh-TW" dirty="0"/>
              <a:t>(</a:t>
            </a:r>
            <a:r>
              <a:rPr lang="en-US" altLang="zh-TW" i="1" dirty="0"/>
              <a:t>a</a:t>
            </a:r>
            <a:r>
              <a:rPr lang="en-US" altLang="zh-TW" i="1" baseline="-25000" dirty="0"/>
              <a:t> </a:t>
            </a:r>
            <a:r>
              <a:rPr lang="en-US" altLang="zh-TW" i="1" dirty="0"/>
              <a:t>/</a:t>
            </a:r>
            <a:r>
              <a:rPr lang="en-US" altLang="zh-TW" i="1" baseline="-25000" dirty="0"/>
              <a:t> </a:t>
            </a:r>
            <a:r>
              <a:rPr lang="en-US" altLang="zh-TW" dirty="0"/>
              <a:t>2, 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 </a:t>
            </a:r>
            <a:r>
              <a:rPr lang="en-US" altLang="zh-TW" i="1" dirty="0"/>
              <a:t>/</a:t>
            </a:r>
            <a:r>
              <a:rPr lang="en-US" altLang="zh-TW" i="1" baseline="-25000" dirty="0"/>
              <a:t> </a:t>
            </a:r>
            <a:r>
              <a:rPr lang="en-US" altLang="zh-TW" dirty="0"/>
              <a:t>2)</a:t>
            </a:r>
          </a:p>
          <a:p>
            <a:pPr marL="839788" lvl="1" indent="-495300" eaLnBrk="1" hangingPunct="1">
              <a:buFont typeface="Wingdings" pitchFamily="2" charset="2"/>
              <a:buAutoNum type="arabicParenR"/>
            </a:pPr>
            <a:r>
              <a:rPr lang="en-US" altLang="zh-TW" baseline="-25000" dirty="0"/>
              <a:t> </a:t>
            </a:r>
            <a:r>
              <a:rPr lang="en-US" altLang="zh-TW" i="1" dirty="0"/>
              <a:t>a</a:t>
            </a:r>
            <a:r>
              <a:rPr lang="en-US" altLang="zh-TW" baseline="-25000" dirty="0"/>
              <a:t>  </a:t>
            </a:r>
            <a:r>
              <a:rPr lang="en-US" altLang="zh-TW" dirty="0"/>
              <a:t>is even,</a:t>
            </a:r>
            <a:r>
              <a:rPr lang="en-US" altLang="zh-TW" baseline="-25000" dirty="0"/>
              <a:t>  </a:t>
            </a:r>
            <a:r>
              <a:rPr lang="en-US" altLang="zh-TW" i="1" dirty="0"/>
              <a:t>b</a:t>
            </a:r>
            <a:r>
              <a:rPr lang="en-US" altLang="zh-TW" baseline="-25000" dirty="0"/>
              <a:t>  </a:t>
            </a:r>
            <a:r>
              <a:rPr lang="en-US" altLang="zh-TW" dirty="0"/>
              <a:t>is odd  </a:t>
            </a:r>
            <a:r>
              <a:rPr lang="en-US" altLang="zh-TW" dirty="0">
                <a:sym typeface="Symbol" pitchFamily="18" charset="2"/>
              </a:rPr>
              <a:t></a:t>
            </a:r>
            <a:r>
              <a:rPr lang="en-US" altLang="zh-TW" dirty="0"/>
              <a:t>  </a:t>
            </a:r>
            <a:r>
              <a:rPr lang="en-US" altLang="zh-TW" dirty="0" err="1"/>
              <a:t>gcd</a:t>
            </a:r>
            <a:r>
              <a:rPr lang="en-US" altLang="zh-TW" baseline="-25000" dirty="0"/>
              <a:t> </a:t>
            </a:r>
            <a:r>
              <a:rPr lang="en-US" altLang="zh-TW" dirty="0"/>
              <a:t>(</a:t>
            </a:r>
            <a:r>
              <a:rPr lang="en-US" altLang="zh-TW" i="1" dirty="0"/>
              <a:t>a</a:t>
            </a:r>
            <a:r>
              <a:rPr lang="en-US" altLang="zh-TW" dirty="0"/>
              <a:t>, </a:t>
            </a:r>
            <a:r>
              <a:rPr lang="en-US" altLang="zh-TW" i="1" dirty="0"/>
              <a:t>b</a:t>
            </a:r>
            <a:r>
              <a:rPr lang="en-US" altLang="zh-TW" dirty="0"/>
              <a:t>) = </a:t>
            </a:r>
            <a:r>
              <a:rPr lang="en-US" altLang="zh-TW" dirty="0" err="1"/>
              <a:t>gcd</a:t>
            </a:r>
            <a:r>
              <a:rPr lang="en-US" altLang="zh-TW" baseline="-25000" dirty="0"/>
              <a:t> </a:t>
            </a:r>
            <a:r>
              <a:rPr lang="en-US" altLang="zh-TW" dirty="0"/>
              <a:t>(</a:t>
            </a:r>
            <a:r>
              <a:rPr lang="en-US" altLang="zh-TW" i="1" dirty="0"/>
              <a:t>a</a:t>
            </a:r>
            <a:r>
              <a:rPr lang="en-US" altLang="zh-TW" i="1" baseline="-25000" dirty="0"/>
              <a:t> </a:t>
            </a:r>
            <a:r>
              <a:rPr lang="en-US" altLang="zh-TW" i="1" dirty="0"/>
              <a:t>/</a:t>
            </a:r>
            <a:r>
              <a:rPr lang="en-US" altLang="zh-TW" i="1" baseline="-25000" dirty="0"/>
              <a:t> </a:t>
            </a:r>
            <a:r>
              <a:rPr lang="en-US" altLang="zh-TW" dirty="0"/>
              <a:t>2, </a:t>
            </a:r>
            <a:r>
              <a:rPr lang="en-US" altLang="zh-TW" i="1" dirty="0"/>
              <a:t>b</a:t>
            </a:r>
            <a:r>
              <a:rPr lang="en-US" altLang="zh-TW" dirty="0"/>
              <a:t>)</a:t>
            </a:r>
          </a:p>
          <a:p>
            <a:pPr marL="839788" lvl="1" indent="-495300" eaLnBrk="1" hangingPunct="1">
              <a:buFont typeface="Wingdings" pitchFamily="2" charset="2"/>
              <a:buAutoNum type="arabicParenR"/>
            </a:pPr>
            <a:r>
              <a:rPr lang="en-US" altLang="zh-TW" baseline="-25000" dirty="0"/>
              <a:t> </a:t>
            </a:r>
            <a:r>
              <a:rPr lang="en-US" altLang="zh-TW" i="1" dirty="0"/>
              <a:t>a</a:t>
            </a:r>
            <a:r>
              <a:rPr lang="en-US" altLang="zh-TW" dirty="0"/>
              <a:t>, </a:t>
            </a:r>
            <a:r>
              <a:rPr lang="en-US" altLang="zh-TW" i="1" dirty="0"/>
              <a:t>b</a:t>
            </a:r>
            <a:r>
              <a:rPr lang="en-US" altLang="zh-TW" baseline="-25000" dirty="0"/>
              <a:t>  </a:t>
            </a:r>
            <a:r>
              <a:rPr lang="en-US" altLang="zh-TW" dirty="0"/>
              <a:t>both odd  </a:t>
            </a:r>
            <a:r>
              <a:rPr lang="en-US" altLang="zh-TW" dirty="0">
                <a:sym typeface="Symbol" pitchFamily="18" charset="2"/>
              </a:rPr>
              <a:t></a:t>
            </a:r>
            <a:r>
              <a:rPr lang="en-US" altLang="zh-TW" dirty="0"/>
              <a:t>  </a:t>
            </a:r>
            <a:r>
              <a:rPr lang="en-US" altLang="zh-TW" dirty="0" err="1"/>
              <a:t>gcd</a:t>
            </a:r>
            <a:r>
              <a:rPr lang="en-US" altLang="zh-TW" baseline="-25000" dirty="0"/>
              <a:t> </a:t>
            </a:r>
            <a:r>
              <a:rPr lang="en-US" altLang="zh-TW" dirty="0"/>
              <a:t>(</a:t>
            </a:r>
            <a:r>
              <a:rPr lang="en-US" altLang="zh-TW" i="1" dirty="0"/>
              <a:t>a</a:t>
            </a:r>
            <a:r>
              <a:rPr lang="en-US" altLang="zh-TW" dirty="0"/>
              <a:t>, </a:t>
            </a:r>
            <a:r>
              <a:rPr lang="en-US" altLang="zh-TW" i="1" dirty="0"/>
              <a:t>b</a:t>
            </a:r>
            <a:r>
              <a:rPr lang="en-US" altLang="zh-TW" dirty="0"/>
              <a:t>) = </a:t>
            </a:r>
            <a:r>
              <a:rPr lang="en-US" altLang="zh-TW" dirty="0" err="1"/>
              <a:t>gcd</a:t>
            </a:r>
            <a:r>
              <a:rPr lang="en-US" altLang="zh-TW" baseline="-25000" dirty="0"/>
              <a:t> </a:t>
            </a:r>
            <a:r>
              <a:rPr lang="en-US" altLang="zh-TW" dirty="0"/>
              <a:t>((</a:t>
            </a:r>
            <a:r>
              <a:rPr lang="en-US" altLang="zh-TW" i="1" dirty="0"/>
              <a:t>a</a:t>
            </a:r>
            <a:r>
              <a:rPr lang="en-US" altLang="zh-TW" i="1" baseline="-25000" dirty="0"/>
              <a:t> </a:t>
            </a:r>
            <a:r>
              <a:rPr lang="en-US" altLang="zh-TW" i="1" dirty="0">
                <a:sym typeface="Symbol" pitchFamily="18" charset="2"/>
              </a:rPr>
              <a:t></a:t>
            </a:r>
            <a:r>
              <a:rPr lang="en-US" altLang="zh-TW" i="1" baseline="-25000" dirty="0">
                <a:sym typeface="Symbol" pitchFamily="18" charset="2"/>
              </a:rPr>
              <a:t> </a:t>
            </a:r>
            <a:r>
              <a:rPr lang="en-US" altLang="zh-TW" i="1" dirty="0"/>
              <a:t>b</a:t>
            </a:r>
            <a:r>
              <a:rPr lang="en-US" altLang="zh-TW" dirty="0"/>
              <a:t>) </a:t>
            </a:r>
            <a:r>
              <a:rPr lang="en-US" altLang="zh-TW" i="1" dirty="0"/>
              <a:t>/ </a:t>
            </a:r>
            <a:r>
              <a:rPr lang="en-US" altLang="zh-TW" dirty="0"/>
              <a:t>2, </a:t>
            </a:r>
            <a:r>
              <a:rPr lang="en-US" altLang="zh-TW" i="1" dirty="0"/>
              <a:t>b</a:t>
            </a:r>
            <a:r>
              <a:rPr lang="en-US" altLang="zh-TW" dirty="0"/>
              <a:t>)</a:t>
            </a:r>
          </a:p>
          <a:p>
            <a:pPr marL="1131888" lvl="2" indent="-438150" eaLnBrk="1" hangingPunct="1"/>
            <a:r>
              <a:rPr lang="en-US" altLang="zh-TW" sz="2200" dirty="0"/>
              <a:t>Stein’s Recursion</a:t>
            </a:r>
          </a:p>
          <a:p>
            <a:pPr marL="1131888" lvl="2" indent="-438150" eaLnBrk="1" hangingPunct="1"/>
            <a:r>
              <a:rPr lang="en-US" altLang="zh-TW" sz="2200" b="1" dirty="0"/>
              <a:t>Proof</a:t>
            </a:r>
            <a:r>
              <a:rPr lang="en-US" altLang="zh-TW" sz="2200" dirty="0"/>
              <a:t>  </a:t>
            </a:r>
            <a:r>
              <a:rPr lang="en-US" altLang="zh-TW" sz="2200" dirty="0" err="1"/>
              <a:t>gcd</a:t>
            </a:r>
            <a:r>
              <a:rPr lang="en-US" altLang="zh-TW" sz="2200" baseline="-25000" dirty="0"/>
              <a:t> </a:t>
            </a:r>
            <a:r>
              <a:rPr lang="en-US" altLang="zh-TW" sz="2200" dirty="0"/>
              <a:t>(</a:t>
            </a:r>
            <a:r>
              <a:rPr lang="en-US" altLang="zh-TW" sz="2200" i="1" dirty="0"/>
              <a:t>a</a:t>
            </a:r>
            <a:r>
              <a:rPr lang="en-US" altLang="zh-TW" sz="2200" dirty="0"/>
              <a:t>, </a:t>
            </a:r>
            <a:r>
              <a:rPr lang="en-US" altLang="zh-TW" sz="2200" i="1" dirty="0"/>
              <a:t>b</a:t>
            </a:r>
            <a:r>
              <a:rPr lang="en-US" altLang="zh-TW" sz="2200" dirty="0"/>
              <a:t>) = </a:t>
            </a:r>
            <a:r>
              <a:rPr lang="en-US" altLang="zh-TW" sz="2200" dirty="0" err="1"/>
              <a:t>gcd</a:t>
            </a:r>
            <a:r>
              <a:rPr lang="en-US" altLang="zh-TW" sz="2200" baseline="-25000" dirty="0"/>
              <a:t> </a:t>
            </a:r>
            <a:r>
              <a:rPr lang="en-US" altLang="zh-TW" sz="2200" dirty="0"/>
              <a:t>(</a:t>
            </a:r>
            <a:r>
              <a:rPr lang="en-US" altLang="zh-TW" sz="2200" i="1" dirty="0"/>
              <a:t>a</a:t>
            </a:r>
            <a:r>
              <a:rPr lang="en-US" altLang="zh-TW" sz="2200" i="1" baseline="-25000" dirty="0"/>
              <a:t> </a:t>
            </a:r>
            <a:r>
              <a:rPr lang="en-US" altLang="zh-TW" sz="2200" i="1" dirty="0">
                <a:sym typeface="Symbol" pitchFamily="18" charset="2"/>
              </a:rPr>
              <a:t></a:t>
            </a:r>
            <a:r>
              <a:rPr lang="en-US" altLang="zh-TW" sz="2200" i="1" baseline="-25000" dirty="0">
                <a:sym typeface="Symbol" pitchFamily="18" charset="2"/>
              </a:rPr>
              <a:t> </a:t>
            </a:r>
            <a:r>
              <a:rPr lang="en-US" altLang="zh-TW" sz="2200" i="1" dirty="0"/>
              <a:t>b</a:t>
            </a:r>
            <a:r>
              <a:rPr lang="en-US" altLang="zh-TW" sz="2200" dirty="0"/>
              <a:t>, </a:t>
            </a:r>
            <a:r>
              <a:rPr lang="en-US" altLang="zh-TW" sz="2200" i="1" dirty="0"/>
              <a:t>b</a:t>
            </a:r>
            <a:r>
              <a:rPr lang="en-US" altLang="zh-TW" sz="2200" dirty="0"/>
              <a:t>) = </a:t>
            </a:r>
            <a:r>
              <a:rPr lang="en-US" altLang="zh-TW" sz="2200" dirty="0" err="1"/>
              <a:t>gcd</a:t>
            </a:r>
            <a:r>
              <a:rPr lang="en-US" altLang="zh-TW" sz="2200" baseline="-25000" dirty="0"/>
              <a:t> </a:t>
            </a:r>
            <a:r>
              <a:rPr lang="en-US" altLang="zh-TW" sz="2200" dirty="0"/>
              <a:t>((</a:t>
            </a:r>
            <a:r>
              <a:rPr lang="en-US" altLang="zh-TW" sz="2200" i="1" dirty="0"/>
              <a:t>a</a:t>
            </a:r>
            <a:r>
              <a:rPr lang="en-US" altLang="zh-TW" sz="2200" i="1" baseline="-25000" dirty="0"/>
              <a:t> </a:t>
            </a:r>
            <a:r>
              <a:rPr lang="en-US" altLang="zh-TW" sz="2200" i="1" dirty="0">
                <a:sym typeface="Symbol" pitchFamily="18" charset="2"/>
              </a:rPr>
              <a:t></a:t>
            </a:r>
            <a:r>
              <a:rPr lang="en-US" altLang="zh-TW" sz="2200" i="1" baseline="-25000" dirty="0">
                <a:sym typeface="Symbol" pitchFamily="18" charset="2"/>
              </a:rPr>
              <a:t> </a:t>
            </a:r>
            <a:r>
              <a:rPr lang="en-US" altLang="zh-TW" sz="2200" i="1" dirty="0"/>
              <a:t>b</a:t>
            </a:r>
            <a:r>
              <a:rPr lang="en-US" altLang="zh-TW" sz="2200" dirty="0"/>
              <a:t>) </a:t>
            </a:r>
            <a:r>
              <a:rPr lang="en-US" altLang="zh-TW" sz="2200" i="1" dirty="0"/>
              <a:t>/ </a:t>
            </a:r>
            <a:r>
              <a:rPr lang="en-US" altLang="zh-TW" sz="2200" dirty="0"/>
              <a:t>2, </a:t>
            </a:r>
            <a:r>
              <a:rPr lang="en-US" altLang="zh-TW" sz="2200" i="1" dirty="0"/>
              <a:t>b</a:t>
            </a:r>
            <a:r>
              <a:rPr lang="en-US" altLang="zh-TW" sz="2200" dirty="0"/>
              <a:t>) by </a:t>
            </a:r>
            <a:r>
              <a:rPr lang="en-US" altLang="zh-TW" sz="2200" dirty="0">
                <a:solidFill>
                  <a:schemeClr val="hlink"/>
                </a:solidFill>
              </a:rPr>
              <a:t>2)</a:t>
            </a:r>
          </a:p>
          <a:p>
            <a:pPr marL="839788" lvl="1" indent="-495300" eaLnBrk="1" hangingPunct="1"/>
            <a:r>
              <a:rPr lang="en-US" altLang="zh-TW" dirty="0"/>
              <a:t>Dividing an even integer by 2 is a simple </a:t>
            </a:r>
            <a:r>
              <a:rPr lang="en-US" altLang="zh-TW" u="sng" dirty="0"/>
              <a:t>shift</a:t>
            </a:r>
            <a:r>
              <a:rPr lang="en-US" altLang="zh-TW" dirty="0"/>
              <a:t> in binary arithmetic</a:t>
            </a:r>
            <a:endParaRPr lang="en-US" altLang="zh-TW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6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76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76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7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76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76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投影片編號版面配置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EF4D01DF-EBF0-4044-A690-AB47E77A072C}" type="slidenum">
              <a:rPr kumimoji="0" lang="en-US" altLang="zh-TW" smtClean="0"/>
              <a:pPr eaLnBrk="1" hangingPunct="1"/>
              <a:t>20</a:t>
            </a:fld>
            <a:endParaRPr kumimoji="0" lang="en-US" altLang="zh-TW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Stein’s GCD Algorithm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3538538" cy="44116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000" b="1" dirty="0"/>
              <a:t>Example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dirty="0"/>
              <a:t>	   </a:t>
            </a:r>
            <a:r>
              <a:rPr lang="en-US" altLang="zh-TW" sz="1800" dirty="0" err="1"/>
              <a:t>gcd</a:t>
            </a:r>
            <a:r>
              <a:rPr lang="en-US" altLang="zh-TW" sz="1800" baseline="-25000" dirty="0"/>
              <a:t> </a:t>
            </a:r>
            <a:r>
              <a:rPr lang="en-US" altLang="zh-TW" sz="1800" dirty="0"/>
              <a:t>(325, 234)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dirty="0"/>
              <a:t>	= </a:t>
            </a:r>
            <a:r>
              <a:rPr lang="en-US" altLang="zh-TW" sz="1800" dirty="0" err="1"/>
              <a:t>gcd</a:t>
            </a:r>
            <a:r>
              <a:rPr lang="en-US" altLang="zh-TW" sz="1800" baseline="-25000" dirty="0"/>
              <a:t> </a:t>
            </a:r>
            <a:r>
              <a:rPr lang="en-US" altLang="zh-TW" sz="1800" dirty="0"/>
              <a:t>(325, 117)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dirty="0"/>
              <a:t>	= </a:t>
            </a:r>
            <a:r>
              <a:rPr lang="en-US" altLang="zh-TW" sz="1800" dirty="0" err="1"/>
              <a:t>gcd</a:t>
            </a:r>
            <a:r>
              <a:rPr lang="en-US" altLang="zh-TW" sz="1800" baseline="-25000" dirty="0"/>
              <a:t> </a:t>
            </a:r>
            <a:r>
              <a:rPr lang="en-US" altLang="zh-TW" sz="1800" dirty="0"/>
              <a:t>((325</a:t>
            </a:r>
            <a:r>
              <a:rPr lang="en-US" altLang="zh-TW" sz="1800" dirty="0">
                <a:sym typeface="Symbol" pitchFamily="18" charset="2"/>
              </a:rPr>
              <a:t></a:t>
            </a:r>
            <a:r>
              <a:rPr lang="en-US" altLang="zh-TW" sz="1800" dirty="0"/>
              <a:t>117)/2, 117)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dirty="0"/>
              <a:t>	= </a:t>
            </a:r>
            <a:r>
              <a:rPr lang="en-US" altLang="zh-TW" sz="1800" dirty="0" err="1"/>
              <a:t>gcd</a:t>
            </a:r>
            <a:r>
              <a:rPr lang="en-US" altLang="zh-TW" sz="1800" baseline="-25000" dirty="0"/>
              <a:t> </a:t>
            </a:r>
            <a:r>
              <a:rPr lang="en-US" altLang="zh-TW" sz="1800" dirty="0"/>
              <a:t>(104, 117)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dirty="0"/>
              <a:t>	= </a:t>
            </a:r>
            <a:r>
              <a:rPr lang="en-US" altLang="zh-TW" sz="1800" dirty="0" err="1"/>
              <a:t>gcd</a:t>
            </a:r>
            <a:r>
              <a:rPr lang="en-US" altLang="zh-TW" sz="1800" baseline="-25000" dirty="0"/>
              <a:t> </a:t>
            </a:r>
            <a:r>
              <a:rPr lang="en-US" altLang="zh-TW" sz="1800" dirty="0"/>
              <a:t>(52, 117)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dirty="0"/>
              <a:t>	= </a:t>
            </a:r>
            <a:r>
              <a:rPr lang="en-US" altLang="zh-TW" sz="1800" dirty="0" err="1"/>
              <a:t>gcd</a:t>
            </a:r>
            <a:r>
              <a:rPr lang="en-US" altLang="zh-TW" sz="1800" baseline="-25000" dirty="0"/>
              <a:t> </a:t>
            </a:r>
            <a:r>
              <a:rPr lang="en-US" altLang="zh-TW" sz="1800" dirty="0"/>
              <a:t>(26, 117)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dirty="0"/>
              <a:t>	= </a:t>
            </a:r>
            <a:r>
              <a:rPr lang="en-US" altLang="zh-TW" sz="1800" dirty="0" err="1"/>
              <a:t>gcd</a:t>
            </a:r>
            <a:r>
              <a:rPr lang="en-US" altLang="zh-TW" sz="1800" baseline="-25000" dirty="0"/>
              <a:t> </a:t>
            </a:r>
            <a:r>
              <a:rPr lang="en-US" altLang="zh-TW" sz="1800" dirty="0"/>
              <a:t>(13, 117)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dirty="0"/>
              <a:t>	= </a:t>
            </a:r>
            <a:r>
              <a:rPr lang="en-US" altLang="zh-TW" sz="1800" dirty="0" err="1"/>
              <a:t>gcd</a:t>
            </a:r>
            <a:r>
              <a:rPr lang="en-US" altLang="zh-TW" sz="1800" baseline="-25000" dirty="0"/>
              <a:t> </a:t>
            </a:r>
            <a:r>
              <a:rPr lang="en-US" altLang="zh-TW" sz="1800" dirty="0"/>
              <a:t>(13, (117</a:t>
            </a:r>
            <a:r>
              <a:rPr lang="en-US" altLang="zh-TW" sz="1800" dirty="0">
                <a:sym typeface="Symbol" pitchFamily="18" charset="2"/>
              </a:rPr>
              <a:t>1</a:t>
            </a:r>
            <a:r>
              <a:rPr lang="en-US" altLang="zh-TW" sz="1800" dirty="0"/>
              <a:t>3)/2)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dirty="0"/>
              <a:t>	= </a:t>
            </a:r>
            <a:r>
              <a:rPr lang="en-US" altLang="zh-TW" sz="1800" dirty="0" err="1"/>
              <a:t>gcd</a:t>
            </a:r>
            <a:r>
              <a:rPr lang="en-US" altLang="zh-TW" sz="1800" baseline="-25000" dirty="0"/>
              <a:t> </a:t>
            </a:r>
            <a:r>
              <a:rPr lang="en-US" altLang="zh-TW" sz="1800" dirty="0"/>
              <a:t>(13, 52)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dirty="0"/>
              <a:t>	= </a:t>
            </a:r>
            <a:r>
              <a:rPr lang="en-US" altLang="zh-TW" sz="1800" dirty="0" err="1"/>
              <a:t>gcd</a:t>
            </a:r>
            <a:r>
              <a:rPr lang="en-US" altLang="zh-TW" sz="1800" baseline="-25000" dirty="0"/>
              <a:t> </a:t>
            </a:r>
            <a:r>
              <a:rPr lang="en-US" altLang="zh-TW" sz="1800" dirty="0"/>
              <a:t>(13, 26)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dirty="0"/>
              <a:t>	= </a:t>
            </a:r>
            <a:r>
              <a:rPr lang="en-US" altLang="zh-TW" sz="1800" dirty="0" err="1"/>
              <a:t>gcd</a:t>
            </a:r>
            <a:r>
              <a:rPr lang="en-US" altLang="zh-TW" sz="1800" baseline="-25000" dirty="0"/>
              <a:t> </a:t>
            </a:r>
            <a:r>
              <a:rPr lang="en-US" altLang="zh-TW" sz="1800" dirty="0"/>
              <a:t>(13, 13)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dirty="0"/>
              <a:t>	= </a:t>
            </a:r>
            <a:r>
              <a:rPr lang="en-US" altLang="zh-TW" sz="1800" dirty="0" err="1"/>
              <a:t>gcd</a:t>
            </a:r>
            <a:r>
              <a:rPr lang="en-US" altLang="zh-TW" sz="1800" baseline="-25000" dirty="0"/>
              <a:t> </a:t>
            </a:r>
            <a:r>
              <a:rPr lang="en-US" altLang="zh-TW" sz="1800" dirty="0"/>
              <a:t>(13, (13</a:t>
            </a:r>
            <a:r>
              <a:rPr lang="en-US" altLang="zh-TW" sz="1800" dirty="0">
                <a:sym typeface="Symbol" pitchFamily="18" charset="2"/>
              </a:rPr>
              <a:t>1</a:t>
            </a:r>
            <a:r>
              <a:rPr lang="en-US" altLang="zh-TW" sz="1800" dirty="0"/>
              <a:t>3)/2)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dirty="0"/>
              <a:t>	= </a:t>
            </a:r>
            <a:r>
              <a:rPr lang="en-US" altLang="zh-TW" sz="1800" dirty="0" err="1"/>
              <a:t>gcd</a:t>
            </a:r>
            <a:r>
              <a:rPr lang="en-US" altLang="zh-TW" sz="1800" baseline="-25000" dirty="0"/>
              <a:t> </a:t>
            </a:r>
            <a:r>
              <a:rPr lang="en-US" altLang="zh-TW" sz="1800" dirty="0"/>
              <a:t>(13, 0)  = 13</a:t>
            </a:r>
          </a:p>
        </p:txBody>
      </p:sp>
      <p:sp>
        <p:nvSpPr>
          <p:cNvPr id="17715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851275" y="1719263"/>
            <a:ext cx="4897438" cy="4411662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TW" sz="2600"/>
              <a:t>Stein’s gcd algorithm is the fastest gcd algorithm known for computer implementation!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/>
              <a:t>It is called “Algorithm B” (B for </a:t>
            </a:r>
            <a:r>
              <a:rPr lang="en-US" altLang="zh-TW" i="1"/>
              <a:t>Binary</a:t>
            </a:r>
            <a:r>
              <a:rPr lang="en-US" altLang="zh-TW"/>
              <a:t>) in Knuth, Vol. II.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TW" sz="1800"/>
              <a:t>D. E. Knuth, </a:t>
            </a:r>
            <a:r>
              <a:rPr lang="en-US" altLang="zh-TW" sz="1800" i="1"/>
              <a:t>The Art of Computer Programming</a:t>
            </a:r>
            <a:r>
              <a:rPr lang="en-US" altLang="zh-TW" sz="1800"/>
              <a:t> (2nd Ed.), vol. 2. </a:t>
            </a:r>
            <a:r>
              <a:rPr lang="en-US" altLang="zh-TW" sz="1800" i="1"/>
              <a:t>Seminumerical Algorithms,</a:t>
            </a:r>
            <a:r>
              <a:rPr lang="en-US" altLang="zh-TW" sz="1800"/>
              <a:t> 1981.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600"/>
              <a:t>Stein’s extended gcd algorithm also exists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17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5" dur="500"/>
                                        <p:tgtEl>
                                          <p:spTgt spid="17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0" dur="500"/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500"/>
                                        <p:tgtEl>
                                          <p:spTgt spid="177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" dur="500"/>
                                        <p:tgtEl>
                                          <p:spTgt spid="177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1" dur="500"/>
                                        <p:tgtEl>
                                          <p:spTgt spid="177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4" dur="500"/>
                                        <p:tgtEl>
                                          <p:spTgt spid="177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9" dur="500"/>
                                        <p:tgtEl>
                                          <p:spTgt spid="177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4" dur="500"/>
                                        <p:tgtEl>
                                          <p:spTgt spid="177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7" dur="500"/>
                                        <p:tgtEl>
                                          <p:spTgt spid="177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0" dur="500"/>
                                        <p:tgtEl>
                                          <p:spTgt spid="177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3" dur="500"/>
                                        <p:tgtEl>
                                          <p:spTgt spid="1771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6" dur="500"/>
                                        <p:tgtEl>
                                          <p:spTgt spid="1771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1" dur="500"/>
                                        <p:tgtEl>
                                          <p:spTgt spid="177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6" dur="500"/>
                                        <p:tgtEl>
                                          <p:spTgt spid="177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1" dur="500"/>
                                        <p:tgtEl>
                                          <p:spTgt spid="177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6" dur="500"/>
                                        <p:tgtEl>
                                          <p:spTgt spid="177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55BE6CCF-54D6-4503-B5A7-FEFE93DB3E71}" type="slidenum">
              <a:rPr kumimoji="0" lang="en-US" altLang="zh-TW" smtClean="0"/>
              <a:pPr eaLnBrk="1" hangingPunct="1"/>
              <a:t>21</a:t>
            </a:fld>
            <a:endParaRPr kumimoji="0" lang="en-US" altLang="zh-TW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Arithmetic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Modular Function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GCD and Euclidean Algorithm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Extended GCD Algorithm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b="1" dirty="0"/>
              <a:t>Fundamental Theorem of Arithmetic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Modular Arithmetic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Chinese Remainder Theorem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Theorems of Fermat and Euler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0678FCF7-8C70-4BCD-A1E4-71B703FE0CB1}" type="slidenum">
              <a:rPr kumimoji="0" lang="en-US" altLang="zh-TW" smtClean="0"/>
              <a:pPr eaLnBrk="1" hangingPunct="1"/>
              <a:t>22</a:t>
            </a:fld>
            <a:endParaRPr kumimoji="0" lang="en-US" altLang="zh-TW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dirty="0"/>
              <a:t>Relatively Prime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435975" cy="4411662"/>
          </a:xfrm>
        </p:spPr>
        <p:txBody>
          <a:bodyPr/>
          <a:lstStyle/>
          <a:p>
            <a:pPr eaLnBrk="1" hangingPunct="1"/>
            <a:r>
              <a:rPr lang="en-US" altLang="zh-TW" b="1" dirty="0"/>
              <a:t>Theorem</a:t>
            </a:r>
            <a:r>
              <a:rPr lang="en-US" altLang="zh-TW" dirty="0"/>
              <a:t>  </a:t>
            </a:r>
            <a:r>
              <a:rPr lang="en-US" altLang="zh-TW" sz="2600" dirty="0" err="1"/>
              <a:t>gcd</a:t>
            </a:r>
            <a:r>
              <a:rPr lang="en-US" altLang="zh-TW" sz="2600" baseline="-25000" dirty="0"/>
              <a:t> </a:t>
            </a:r>
            <a:r>
              <a:rPr lang="en-US" altLang="zh-TW" sz="2600" dirty="0"/>
              <a:t>(</a:t>
            </a:r>
            <a:r>
              <a:rPr lang="en-US" altLang="zh-TW" sz="2600" i="1" dirty="0"/>
              <a:t>a</a:t>
            </a:r>
            <a:r>
              <a:rPr lang="en-US" altLang="zh-TW" sz="2600" dirty="0"/>
              <a:t>, </a:t>
            </a:r>
            <a:r>
              <a:rPr lang="en-US" altLang="zh-TW" sz="2600" i="1" dirty="0"/>
              <a:t>b</a:t>
            </a:r>
            <a:r>
              <a:rPr lang="en-US" altLang="zh-TW" sz="2600" dirty="0"/>
              <a:t>) is the smallest positive integer that can be written as  </a:t>
            </a:r>
            <a:r>
              <a:rPr lang="en-US" altLang="zh-TW" sz="2600" i="1" dirty="0"/>
              <a:t>d</a:t>
            </a:r>
            <a:r>
              <a:rPr lang="en-US" altLang="zh-TW" sz="2600" dirty="0"/>
              <a:t> = </a:t>
            </a:r>
            <a:r>
              <a:rPr lang="en-US" altLang="zh-TW" sz="2600" i="1" dirty="0"/>
              <a:t>ax</a:t>
            </a:r>
            <a:r>
              <a:rPr lang="en-US" altLang="zh-TW" sz="2600" baseline="-25000" dirty="0"/>
              <a:t> </a:t>
            </a:r>
            <a:r>
              <a:rPr lang="en-US" altLang="zh-TW" sz="2600" dirty="0"/>
              <a:t>+</a:t>
            </a:r>
            <a:r>
              <a:rPr lang="en-US" altLang="zh-TW" sz="2600" baseline="-25000" dirty="0"/>
              <a:t> </a:t>
            </a:r>
            <a:r>
              <a:rPr lang="en-US" altLang="zh-TW" sz="2600" i="1" dirty="0"/>
              <a:t>by</a:t>
            </a:r>
            <a:r>
              <a:rPr lang="en-US" altLang="zh-TW" sz="2600" dirty="0"/>
              <a:t>  where  </a:t>
            </a:r>
            <a:r>
              <a:rPr lang="en-US" altLang="zh-TW" sz="2800" i="1" dirty="0"/>
              <a:t>x</a:t>
            </a:r>
            <a:r>
              <a:rPr lang="en-US" altLang="zh-TW" sz="2800" dirty="0"/>
              <a:t>, </a:t>
            </a:r>
            <a:r>
              <a:rPr lang="en-US" altLang="zh-TW" sz="2800" i="1" dirty="0"/>
              <a:t>y</a:t>
            </a:r>
            <a:r>
              <a:rPr lang="en-US" altLang="zh-TW" sz="2800" baseline="-25000" dirty="0"/>
              <a:t> </a:t>
            </a:r>
            <a:r>
              <a:rPr lang="en-US" altLang="zh-TW" sz="2800" dirty="0">
                <a:sym typeface="Symbol" pitchFamily="18" charset="2"/>
              </a:rPr>
              <a:t></a:t>
            </a:r>
            <a:r>
              <a:rPr lang="en-US" altLang="zh-TW" sz="2800" baseline="-25000" dirty="0">
                <a:sym typeface="Symbol" pitchFamily="18" charset="2"/>
              </a:rPr>
              <a:t> </a:t>
            </a:r>
            <a:r>
              <a:rPr lang="en-US" altLang="zh-TW" sz="2800" b="1" i="1" dirty="0">
                <a:sym typeface="Symbol" pitchFamily="18" charset="2"/>
              </a:rPr>
              <a:t>Z</a:t>
            </a:r>
            <a:endParaRPr lang="en-US" altLang="zh-TW" sz="2600" dirty="0"/>
          </a:p>
          <a:p>
            <a:pPr eaLnBrk="1" hangingPunct="1"/>
            <a:r>
              <a:rPr lang="en-US" altLang="zh-TW" b="1" dirty="0"/>
              <a:t>Definition</a:t>
            </a:r>
            <a:r>
              <a:rPr lang="en-US" altLang="zh-TW" dirty="0"/>
              <a:t>  </a:t>
            </a:r>
            <a:r>
              <a:rPr lang="en-US" altLang="zh-TW" i="1" dirty="0"/>
              <a:t>a</a:t>
            </a:r>
            <a:r>
              <a:rPr lang="en-US" altLang="zh-TW" baseline="-25000" dirty="0"/>
              <a:t>  </a:t>
            </a:r>
            <a:r>
              <a:rPr lang="en-US" altLang="zh-TW" dirty="0"/>
              <a:t>and</a:t>
            </a:r>
            <a:r>
              <a:rPr lang="en-US" altLang="zh-TW" baseline="-25000" dirty="0"/>
              <a:t>  </a:t>
            </a:r>
            <a:r>
              <a:rPr lang="en-US" altLang="zh-TW" i="1" dirty="0"/>
              <a:t>b</a:t>
            </a:r>
            <a:r>
              <a:rPr lang="en-US" altLang="zh-TW" baseline="-25000" dirty="0"/>
              <a:t>  </a:t>
            </a:r>
            <a:r>
              <a:rPr lang="en-US" altLang="zh-TW" dirty="0"/>
              <a:t>are </a:t>
            </a:r>
            <a:r>
              <a:rPr lang="en-US" altLang="zh-TW" b="1" dirty="0">
                <a:solidFill>
                  <a:srgbClr val="9900CC"/>
                </a:solidFill>
              </a:rPr>
              <a:t>relatively prime</a:t>
            </a:r>
            <a:r>
              <a:rPr lang="en-US" altLang="zh-TW" dirty="0"/>
              <a:t> </a:t>
            </a:r>
            <a:r>
              <a:rPr lang="en-US" altLang="zh-TW" sz="2600" dirty="0"/>
              <a:t>(denoted as  </a:t>
            </a:r>
            <a:r>
              <a:rPr lang="en-US" altLang="zh-TW" sz="2600" i="1" dirty="0"/>
              <a:t>a</a:t>
            </a:r>
            <a:r>
              <a:rPr lang="en-US" altLang="zh-TW" sz="2600" dirty="0"/>
              <a:t> </a:t>
            </a:r>
            <a:r>
              <a:rPr lang="en-US" altLang="zh-TW" sz="2600" dirty="0">
                <a:sym typeface="Symbol" pitchFamily="18" charset="2"/>
              </a:rPr>
              <a:t></a:t>
            </a:r>
            <a:r>
              <a:rPr lang="en-US" altLang="zh-TW" sz="2600" dirty="0"/>
              <a:t> </a:t>
            </a:r>
            <a:r>
              <a:rPr lang="en-US" altLang="zh-TW" sz="2600" i="1" dirty="0"/>
              <a:t>b</a:t>
            </a:r>
            <a:r>
              <a:rPr lang="en-US" altLang="zh-TW" sz="2600" dirty="0"/>
              <a:t>)  </a:t>
            </a:r>
            <a:r>
              <a:rPr lang="en-US" altLang="zh-TW" dirty="0"/>
              <a:t>if  </a:t>
            </a:r>
            <a:r>
              <a:rPr lang="en-US" altLang="zh-TW" dirty="0" err="1"/>
              <a:t>gcd</a:t>
            </a:r>
            <a:r>
              <a:rPr lang="en-US" altLang="zh-TW" baseline="-25000" dirty="0"/>
              <a:t> </a:t>
            </a:r>
            <a:r>
              <a:rPr lang="en-US" altLang="zh-TW" dirty="0"/>
              <a:t>(</a:t>
            </a:r>
            <a:r>
              <a:rPr lang="en-US" altLang="zh-TW" i="1" dirty="0"/>
              <a:t>a</a:t>
            </a:r>
            <a:r>
              <a:rPr lang="en-US" altLang="zh-TW" dirty="0"/>
              <a:t>, </a:t>
            </a:r>
            <a:r>
              <a:rPr lang="en-US" altLang="zh-TW" i="1" dirty="0"/>
              <a:t>b</a:t>
            </a:r>
            <a:r>
              <a:rPr lang="en-US" altLang="zh-TW" dirty="0"/>
              <a:t>) = 1  </a:t>
            </a:r>
          </a:p>
          <a:p>
            <a:pPr eaLnBrk="1" hangingPunct="1"/>
            <a:r>
              <a:rPr lang="en-US" altLang="zh-TW" b="1" dirty="0"/>
              <a:t>Theorem</a:t>
            </a:r>
            <a:r>
              <a:rPr lang="en-US" altLang="zh-TW" dirty="0"/>
              <a:t>  If  </a:t>
            </a:r>
            <a:r>
              <a:rPr lang="en-US" altLang="zh-TW" i="1" dirty="0"/>
              <a:t>a</a:t>
            </a:r>
            <a:r>
              <a:rPr lang="en-US" altLang="zh-TW" dirty="0"/>
              <a:t> | (</a:t>
            </a:r>
            <a:r>
              <a:rPr lang="en-US" altLang="zh-TW" i="1" dirty="0" err="1"/>
              <a:t>bc</a:t>
            </a:r>
            <a:r>
              <a:rPr lang="en-US" altLang="zh-TW" dirty="0"/>
              <a:t>)  and  </a:t>
            </a:r>
            <a:r>
              <a:rPr lang="en-US" altLang="zh-TW" i="1" dirty="0"/>
              <a:t>a</a:t>
            </a:r>
            <a:r>
              <a:rPr lang="en-US" altLang="zh-TW" dirty="0"/>
              <a:t> </a:t>
            </a:r>
            <a:r>
              <a:rPr lang="en-US" altLang="zh-TW" dirty="0">
                <a:sym typeface="Symbol" pitchFamily="18" charset="2"/>
              </a:rPr>
              <a:t></a:t>
            </a:r>
            <a:r>
              <a:rPr lang="en-US" altLang="zh-TW" dirty="0"/>
              <a:t> </a:t>
            </a:r>
            <a:r>
              <a:rPr lang="en-US" altLang="zh-TW" i="1" dirty="0"/>
              <a:t>b</a:t>
            </a:r>
            <a:r>
              <a:rPr lang="en-US" altLang="zh-TW" dirty="0"/>
              <a:t>,  then  </a:t>
            </a:r>
            <a:r>
              <a:rPr lang="en-US" altLang="zh-TW" i="1" dirty="0"/>
              <a:t>a</a:t>
            </a:r>
            <a:r>
              <a:rPr lang="en-US" altLang="zh-TW" dirty="0"/>
              <a:t> | </a:t>
            </a:r>
            <a:r>
              <a:rPr lang="en-US" altLang="zh-TW" i="1" dirty="0"/>
              <a:t>c</a:t>
            </a:r>
            <a:endParaRPr lang="en-US" altLang="zh-TW" dirty="0"/>
          </a:p>
          <a:p>
            <a:pPr lvl="1" eaLnBrk="1" hangingPunct="1"/>
            <a:r>
              <a:rPr lang="en-US" altLang="zh-TW" b="1" dirty="0"/>
              <a:t>Proof</a:t>
            </a:r>
            <a:r>
              <a:rPr lang="en-US" altLang="zh-TW" dirty="0"/>
              <a:t>  	a </a:t>
            </a:r>
            <a:r>
              <a:rPr lang="en-US" altLang="zh-TW" dirty="0">
                <a:sym typeface="Symbol" pitchFamily="18" charset="2"/>
              </a:rPr>
              <a:t> </a:t>
            </a:r>
            <a:r>
              <a:rPr lang="en-US" altLang="zh-TW" dirty="0"/>
              <a:t>b  </a:t>
            </a:r>
            <a:r>
              <a:rPr lang="en-US" altLang="zh-TW" dirty="0">
                <a:sym typeface="Symbol" pitchFamily="18" charset="2"/>
              </a:rPr>
              <a:t></a:t>
            </a:r>
            <a:r>
              <a:rPr lang="en-US" altLang="zh-TW" dirty="0"/>
              <a:t>  </a:t>
            </a:r>
            <a:r>
              <a:rPr lang="en-US" altLang="zh-TW" i="1" dirty="0"/>
              <a:t>ax</a:t>
            </a:r>
            <a:r>
              <a:rPr lang="en-US" altLang="zh-TW" dirty="0"/>
              <a:t> + </a:t>
            </a:r>
            <a:r>
              <a:rPr lang="en-US" altLang="zh-TW" i="1" dirty="0"/>
              <a:t>by</a:t>
            </a:r>
            <a:r>
              <a:rPr lang="en-US" altLang="zh-TW" dirty="0"/>
              <a:t> = 1  for some  </a:t>
            </a:r>
            <a:r>
              <a:rPr lang="en-US" altLang="zh-TW" sz="2800" i="1" dirty="0"/>
              <a:t>x</a:t>
            </a:r>
            <a:r>
              <a:rPr lang="en-US" altLang="zh-TW" sz="2800" dirty="0"/>
              <a:t>, </a:t>
            </a:r>
            <a:r>
              <a:rPr lang="en-US" altLang="zh-TW" sz="2800" i="1" dirty="0"/>
              <a:t>y</a:t>
            </a:r>
            <a:r>
              <a:rPr lang="en-US" altLang="zh-TW" sz="2800" baseline="-25000" dirty="0"/>
              <a:t> </a:t>
            </a:r>
            <a:r>
              <a:rPr lang="en-US" altLang="zh-TW" sz="2800" dirty="0">
                <a:sym typeface="Symbol" pitchFamily="18" charset="2"/>
              </a:rPr>
              <a:t></a:t>
            </a:r>
            <a:r>
              <a:rPr lang="en-US" altLang="zh-TW" sz="2800" baseline="-25000" dirty="0">
                <a:sym typeface="Symbol" pitchFamily="18" charset="2"/>
              </a:rPr>
              <a:t> </a:t>
            </a:r>
            <a:r>
              <a:rPr lang="en-US" altLang="zh-TW" sz="2800" b="1" i="1" dirty="0">
                <a:sym typeface="Symbol" pitchFamily="18" charset="2"/>
              </a:rPr>
              <a:t>Z</a:t>
            </a:r>
            <a:endParaRPr lang="en-US" altLang="zh-TW" dirty="0"/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dirty="0"/>
              <a:t>			Multiply by  </a:t>
            </a:r>
            <a:r>
              <a:rPr lang="en-US" altLang="zh-TW" i="1" dirty="0"/>
              <a:t>c</a:t>
            </a:r>
            <a:r>
              <a:rPr lang="en-US" altLang="zh-TW" dirty="0"/>
              <a:t>  </a:t>
            </a:r>
            <a:r>
              <a:rPr lang="en-US" altLang="zh-TW" dirty="0">
                <a:sym typeface="Symbol" pitchFamily="18" charset="2"/>
              </a:rPr>
              <a:t></a:t>
            </a:r>
            <a:r>
              <a:rPr lang="en-US" altLang="zh-TW" dirty="0"/>
              <a:t>  </a:t>
            </a:r>
            <a:r>
              <a:rPr lang="en-US" altLang="zh-TW" i="1" dirty="0" err="1"/>
              <a:t>acx</a:t>
            </a:r>
            <a:r>
              <a:rPr lang="en-US" altLang="zh-TW" dirty="0"/>
              <a:t> + </a:t>
            </a:r>
            <a:r>
              <a:rPr lang="en-US" altLang="zh-TW" i="1" dirty="0" err="1"/>
              <a:t>bcy</a:t>
            </a:r>
            <a:r>
              <a:rPr lang="en-US" altLang="zh-TW" i="1" dirty="0"/>
              <a:t> = c</a:t>
            </a:r>
            <a:endParaRPr lang="en-US" altLang="zh-TW" dirty="0"/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dirty="0"/>
              <a:t>			</a:t>
            </a:r>
            <a:r>
              <a:rPr lang="en-US" altLang="zh-TW" i="1" dirty="0"/>
              <a:t>a</a:t>
            </a:r>
            <a:r>
              <a:rPr lang="en-US" altLang="zh-TW" dirty="0"/>
              <a:t> | (</a:t>
            </a:r>
            <a:r>
              <a:rPr lang="en-US" altLang="zh-TW" i="1" dirty="0" err="1"/>
              <a:t>bc</a:t>
            </a:r>
            <a:r>
              <a:rPr lang="en-US" altLang="zh-TW" dirty="0"/>
              <a:t>)  </a:t>
            </a:r>
            <a:r>
              <a:rPr lang="en-US" altLang="zh-TW" dirty="0">
                <a:sym typeface="Symbol" pitchFamily="18" charset="2"/>
              </a:rPr>
              <a:t></a:t>
            </a:r>
            <a:r>
              <a:rPr lang="en-US" altLang="zh-TW" dirty="0"/>
              <a:t>  </a:t>
            </a:r>
            <a:r>
              <a:rPr lang="en-US" altLang="zh-TW" i="1" dirty="0"/>
              <a:t>a</a:t>
            </a:r>
            <a:r>
              <a:rPr lang="en-US" altLang="zh-TW" dirty="0"/>
              <a:t> | (</a:t>
            </a:r>
            <a:r>
              <a:rPr lang="en-US" altLang="zh-TW" i="1" dirty="0" err="1"/>
              <a:t>bcy</a:t>
            </a:r>
            <a:r>
              <a:rPr lang="en-US" altLang="zh-TW" dirty="0"/>
              <a:t>)  </a:t>
            </a:r>
            <a:r>
              <a:rPr lang="en-US" altLang="zh-TW" dirty="0">
                <a:sym typeface="Symbol" pitchFamily="18" charset="2"/>
              </a:rPr>
              <a:t></a:t>
            </a:r>
            <a:r>
              <a:rPr lang="en-US" altLang="zh-TW" dirty="0"/>
              <a:t>  </a:t>
            </a:r>
            <a:r>
              <a:rPr lang="en-US" altLang="zh-TW" i="1" dirty="0"/>
              <a:t>a</a:t>
            </a:r>
            <a:r>
              <a:rPr lang="en-US" altLang="zh-TW" dirty="0"/>
              <a:t> | (</a:t>
            </a:r>
            <a:r>
              <a:rPr lang="en-US" altLang="zh-TW" i="1" dirty="0" err="1"/>
              <a:t>acx</a:t>
            </a:r>
            <a:r>
              <a:rPr lang="en-US" altLang="zh-TW" i="1" dirty="0"/>
              <a:t> </a:t>
            </a:r>
            <a:r>
              <a:rPr lang="en-US" altLang="zh-TW" dirty="0"/>
              <a:t>+ </a:t>
            </a:r>
            <a:r>
              <a:rPr lang="en-US" altLang="zh-TW" i="1" dirty="0" err="1"/>
              <a:t>bcy</a:t>
            </a:r>
            <a:r>
              <a:rPr lang="en-US" altLang="zh-TW" dirty="0"/>
              <a:t>) = 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68933D20-8BB1-4C1E-8081-F5DD4C8B55EF}" type="slidenum">
              <a:rPr kumimoji="0" lang="en-US" altLang="zh-TW" smtClean="0"/>
              <a:pPr eaLnBrk="1" hangingPunct="1"/>
              <a:t>23</a:t>
            </a:fld>
            <a:endParaRPr kumimoji="0" lang="en-US" altLang="zh-TW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Relatively Prime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600" b="1" dirty="0"/>
              <a:t>Corollary</a:t>
            </a:r>
            <a:r>
              <a:rPr lang="en-US" altLang="zh-TW" sz="2600" dirty="0"/>
              <a:t>  </a:t>
            </a:r>
            <a:r>
              <a:rPr lang="en-US" altLang="zh-TW" sz="2600" i="1" dirty="0"/>
              <a:t>p</a:t>
            </a:r>
            <a:r>
              <a:rPr lang="en-US" altLang="zh-TW" sz="2600" dirty="0"/>
              <a:t>  is a prime and  </a:t>
            </a:r>
            <a:r>
              <a:rPr lang="en-US" altLang="zh-TW" sz="2600" i="1" dirty="0"/>
              <a:t>p</a:t>
            </a:r>
            <a:r>
              <a:rPr lang="en-US" altLang="zh-TW" sz="2600" dirty="0"/>
              <a:t>|(</a:t>
            </a:r>
            <a:r>
              <a:rPr lang="en-US" altLang="zh-TW" sz="2600" i="1" dirty="0" err="1"/>
              <a:t>ab</a:t>
            </a:r>
            <a:r>
              <a:rPr lang="en-US" altLang="zh-TW" sz="2600" dirty="0"/>
              <a:t>), then </a:t>
            </a:r>
            <a:r>
              <a:rPr lang="en-US" altLang="zh-TW" sz="2600" i="1" dirty="0" err="1"/>
              <a:t>p</a:t>
            </a:r>
            <a:r>
              <a:rPr lang="en-US" altLang="zh-TW" sz="2600" dirty="0" err="1"/>
              <a:t>|</a:t>
            </a:r>
            <a:r>
              <a:rPr lang="en-US" altLang="zh-TW" sz="2600" i="1" dirty="0" err="1"/>
              <a:t>a</a:t>
            </a:r>
            <a:r>
              <a:rPr lang="en-US" altLang="zh-TW" sz="2600" dirty="0"/>
              <a:t> or </a:t>
            </a:r>
            <a:r>
              <a:rPr lang="en-US" altLang="zh-TW" sz="2600" i="1" dirty="0" err="1"/>
              <a:t>p</a:t>
            </a:r>
            <a:r>
              <a:rPr lang="en-US" altLang="zh-TW" sz="2600" dirty="0" err="1"/>
              <a:t>|</a:t>
            </a:r>
            <a:r>
              <a:rPr lang="en-US" altLang="zh-TW" sz="2600" i="1" dirty="0" err="1"/>
              <a:t>b</a:t>
            </a:r>
            <a:endParaRPr lang="en-US" altLang="zh-TW" sz="2600" dirty="0"/>
          </a:p>
          <a:p>
            <a:pPr lvl="1" eaLnBrk="1" hangingPunct="1"/>
            <a:r>
              <a:rPr lang="en-US" altLang="zh-TW" sz="2200" b="1" dirty="0"/>
              <a:t>Proof</a:t>
            </a:r>
            <a:r>
              <a:rPr lang="en-US" altLang="zh-TW" sz="2200" dirty="0"/>
              <a:t>  	</a:t>
            </a:r>
            <a:r>
              <a:rPr lang="en-US" altLang="zh-TW" sz="2200" i="1" dirty="0"/>
              <a:t>p</a:t>
            </a:r>
            <a:r>
              <a:rPr lang="en-US" altLang="zh-TW" sz="2200" dirty="0"/>
              <a:t> | </a:t>
            </a:r>
            <a:r>
              <a:rPr lang="en-US" altLang="zh-TW" sz="2200" i="1" dirty="0"/>
              <a:t>a</a:t>
            </a:r>
            <a:r>
              <a:rPr lang="en-US" altLang="zh-TW" sz="2200" dirty="0"/>
              <a:t>  </a:t>
            </a:r>
            <a:r>
              <a:rPr lang="en-US" altLang="zh-TW" sz="2200" dirty="0">
                <a:sym typeface="Symbol" pitchFamily="18" charset="2"/>
              </a:rPr>
              <a:t></a:t>
            </a:r>
            <a:r>
              <a:rPr lang="en-US" altLang="zh-TW" sz="2200" dirty="0"/>
              <a:t>  done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200" dirty="0"/>
              <a:t>			</a:t>
            </a:r>
            <a:r>
              <a:rPr lang="en-US" altLang="zh-TW" sz="2200" i="1" dirty="0"/>
              <a:t>p</a:t>
            </a:r>
            <a:r>
              <a:rPr lang="en-US" altLang="zh-TW" sz="2200" dirty="0"/>
              <a:t> </a:t>
            </a:r>
            <a:r>
              <a:rPr lang="en-US" altLang="zh-TW" sz="220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∤ </a:t>
            </a:r>
            <a:r>
              <a:rPr lang="en-US" altLang="zh-TW" sz="2200" i="1" dirty="0"/>
              <a:t>a</a:t>
            </a:r>
            <a:r>
              <a:rPr lang="en-US" altLang="zh-TW" sz="2200" dirty="0"/>
              <a:t>  </a:t>
            </a:r>
            <a:r>
              <a:rPr lang="en-US" altLang="zh-TW" sz="2200" dirty="0">
                <a:sym typeface="Symbol" pitchFamily="18" charset="2"/>
              </a:rPr>
              <a:t></a:t>
            </a:r>
            <a:r>
              <a:rPr lang="en-US" altLang="zh-TW" sz="2200" dirty="0"/>
              <a:t>  </a:t>
            </a:r>
            <a:r>
              <a:rPr lang="en-US" altLang="zh-TW" sz="2200" dirty="0" err="1"/>
              <a:t>gcd</a:t>
            </a:r>
            <a:r>
              <a:rPr lang="en-US" altLang="zh-TW" sz="2200" baseline="-25000" dirty="0"/>
              <a:t> </a:t>
            </a:r>
            <a:r>
              <a:rPr lang="en-US" altLang="zh-TW" sz="2200" dirty="0"/>
              <a:t>(</a:t>
            </a:r>
            <a:r>
              <a:rPr lang="en-US" altLang="zh-TW" sz="2200" i="1" dirty="0"/>
              <a:t>p</a:t>
            </a:r>
            <a:r>
              <a:rPr lang="en-US" altLang="zh-TW" sz="2200" dirty="0"/>
              <a:t>, </a:t>
            </a:r>
            <a:r>
              <a:rPr lang="en-US" altLang="zh-TW" sz="2200" i="1" dirty="0"/>
              <a:t>a</a:t>
            </a:r>
            <a:r>
              <a:rPr lang="en-US" altLang="zh-TW" sz="2200" dirty="0"/>
              <a:t>) = 1  </a:t>
            </a:r>
            <a:r>
              <a:rPr lang="en-US" altLang="zh-TW" sz="2200" dirty="0">
                <a:sym typeface="Symbol" pitchFamily="18" charset="2"/>
              </a:rPr>
              <a:t></a:t>
            </a:r>
            <a:r>
              <a:rPr lang="en-US" altLang="zh-TW" sz="2200" dirty="0"/>
              <a:t>  </a:t>
            </a:r>
            <a:r>
              <a:rPr lang="en-US" altLang="zh-TW" sz="2200" i="1" dirty="0"/>
              <a:t>p </a:t>
            </a:r>
            <a:r>
              <a:rPr lang="en-US" altLang="zh-TW" sz="2200" dirty="0"/>
              <a:t>| </a:t>
            </a:r>
            <a:r>
              <a:rPr lang="en-US" altLang="zh-TW" sz="2200" i="1" dirty="0"/>
              <a:t>b</a:t>
            </a:r>
            <a:r>
              <a:rPr lang="en-US" altLang="zh-TW" sz="2200" dirty="0"/>
              <a:t>  by theorem</a:t>
            </a:r>
          </a:p>
          <a:p>
            <a:pPr eaLnBrk="1" hangingPunct="1"/>
            <a:r>
              <a:rPr lang="en-US" altLang="zh-TW" sz="2600" b="1" dirty="0"/>
              <a:t>Corollary</a:t>
            </a:r>
            <a:r>
              <a:rPr lang="en-US" altLang="zh-TW" sz="2600" dirty="0"/>
              <a:t>  </a:t>
            </a:r>
            <a:r>
              <a:rPr lang="en-US" altLang="zh-TW" sz="2600" i="1" dirty="0"/>
              <a:t>p</a:t>
            </a:r>
            <a:r>
              <a:rPr lang="en-US" altLang="zh-TW" sz="2600" dirty="0"/>
              <a:t>  is a prime and  </a:t>
            </a:r>
            <a:r>
              <a:rPr lang="en-US" altLang="zh-TW" sz="2600" i="1" dirty="0"/>
              <a:t>p</a:t>
            </a:r>
            <a:r>
              <a:rPr lang="en-US" altLang="zh-TW" sz="2600" dirty="0"/>
              <a:t> | (</a:t>
            </a:r>
            <a:r>
              <a:rPr lang="en-US" altLang="zh-TW" sz="2600" i="1" dirty="0"/>
              <a:t>a</a:t>
            </a:r>
            <a:r>
              <a:rPr lang="en-US" altLang="zh-TW" sz="2600" baseline="-25000" dirty="0"/>
              <a:t>1 </a:t>
            </a:r>
            <a:r>
              <a:rPr lang="en-US" altLang="zh-TW" sz="2600" i="1" dirty="0"/>
              <a:t>a</a:t>
            </a:r>
            <a:r>
              <a:rPr lang="en-US" altLang="zh-TW" sz="2600" baseline="-25000" dirty="0"/>
              <a:t>2 </a:t>
            </a:r>
            <a:r>
              <a:rPr lang="en-US" altLang="zh-TW" sz="2600" dirty="0"/>
              <a:t>... </a:t>
            </a:r>
            <a:r>
              <a:rPr lang="en-US" altLang="zh-TW" sz="2600" i="1" dirty="0" err="1"/>
              <a:t>a</a:t>
            </a:r>
            <a:r>
              <a:rPr lang="en-US" altLang="zh-TW" sz="2600" i="1" baseline="-25000" dirty="0" err="1"/>
              <a:t>k</a:t>
            </a:r>
            <a:r>
              <a:rPr lang="en-US" altLang="zh-TW" sz="2600" dirty="0"/>
              <a:t>),  then  			</a:t>
            </a:r>
            <a:r>
              <a:rPr lang="en-US" altLang="zh-TW" sz="2600" i="1" dirty="0"/>
              <a:t>p</a:t>
            </a:r>
            <a:r>
              <a:rPr lang="en-US" altLang="zh-TW" sz="2600" dirty="0"/>
              <a:t> | </a:t>
            </a:r>
            <a:r>
              <a:rPr lang="en-US" altLang="zh-TW" sz="2600" i="1" dirty="0" err="1"/>
              <a:t>a</a:t>
            </a:r>
            <a:r>
              <a:rPr lang="en-US" altLang="zh-TW" sz="2600" i="1" baseline="-25000" dirty="0" err="1"/>
              <a:t>i</a:t>
            </a:r>
            <a:r>
              <a:rPr lang="en-US" altLang="zh-TW" sz="2600" dirty="0"/>
              <a:t>  for some</a:t>
            </a:r>
            <a:r>
              <a:rPr lang="en-US" altLang="zh-TW" sz="2600" baseline="-25000" dirty="0"/>
              <a:t>  </a:t>
            </a:r>
            <a:r>
              <a:rPr lang="en-US" altLang="zh-TW" sz="2600" i="1" dirty="0" err="1"/>
              <a:t>i</a:t>
            </a:r>
            <a:endParaRPr lang="en-US" altLang="zh-TW" sz="2600" i="1" dirty="0"/>
          </a:p>
          <a:p>
            <a:pPr lvl="1" eaLnBrk="1" hangingPunct="1"/>
            <a:r>
              <a:rPr lang="en-US" altLang="zh-TW" sz="2200" b="1" dirty="0"/>
              <a:t>Proof</a:t>
            </a:r>
            <a:r>
              <a:rPr lang="en-US" altLang="zh-TW" sz="2200" dirty="0"/>
              <a:t>    Since  </a:t>
            </a:r>
            <a:r>
              <a:rPr lang="en-US" altLang="zh-TW" sz="2200" i="1" dirty="0"/>
              <a:t>p </a:t>
            </a:r>
            <a:r>
              <a:rPr lang="en-US" altLang="zh-TW" sz="2200" dirty="0"/>
              <a:t>| (</a:t>
            </a:r>
            <a:r>
              <a:rPr lang="en-US" altLang="zh-TW" sz="2200" i="1" dirty="0"/>
              <a:t>a</a:t>
            </a:r>
            <a:r>
              <a:rPr lang="en-US" altLang="zh-TW" sz="2200" baseline="-25000" dirty="0"/>
              <a:t>1</a:t>
            </a:r>
            <a:r>
              <a:rPr lang="en-US" altLang="zh-TW" sz="2200" dirty="0"/>
              <a:t> </a:t>
            </a:r>
            <a:r>
              <a:rPr lang="en-US" altLang="zh-TW" sz="2200" i="1" dirty="0"/>
              <a:t>a</a:t>
            </a:r>
            <a:r>
              <a:rPr lang="en-US" altLang="zh-TW" sz="2200" baseline="-25000" dirty="0"/>
              <a:t>2</a:t>
            </a:r>
            <a:r>
              <a:rPr lang="en-US" altLang="zh-TW" sz="2200" dirty="0"/>
              <a:t> ... </a:t>
            </a:r>
            <a:r>
              <a:rPr lang="en-US" altLang="zh-TW" sz="2200" i="1" dirty="0"/>
              <a:t>a</a:t>
            </a:r>
            <a:r>
              <a:rPr lang="en-US" altLang="zh-TW" sz="2200" i="1" baseline="-25000" dirty="0"/>
              <a:t>k</a:t>
            </a:r>
            <a:r>
              <a:rPr lang="en-US" altLang="zh-TW" sz="2200" baseline="-25000" dirty="0">
                <a:sym typeface="Symbol" pitchFamily="18" charset="2"/>
              </a:rPr>
              <a:t></a:t>
            </a:r>
            <a:r>
              <a:rPr lang="en-US" altLang="zh-TW" sz="2200" baseline="-25000" dirty="0"/>
              <a:t>1</a:t>
            </a:r>
            <a:r>
              <a:rPr lang="en-US" altLang="zh-TW" sz="2200" dirty="0"/>
              <a:t>) </a:t>
            </a:r>
            <a:r>
              <a:rPr lang="en-US" altLang="zh-TW" sz="2200" i="1" dirty="0" err="1"/>
              <a:t>a</a:t>
            </a:r>
            <a:r>
              <a:rPr lang="en-US" altLang="zh-TW" sz="2200" i="1" baseline="-25000" dirty="0" err="1"/>
              <a:t>k</a:t>
            </a:r>
            <a:r>
              <a:rPr lang="en-US" altLang="zh-TW" sz="2200" dirty="0"/>
              <a:t>,  we have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200" i="1" dirty="0"/>
              <a:t>			p </a:t>
            </a:r>
            <a:r>
              <a:rPr lang="en-US" altLang="zh-TW" sz="2200" dirty="0"/>
              <a:t>| (</a:t>
            </a:r>
            <a:r>
              <a:rPr lang="en-US" altLang="zh-TW" sz="2200" i="1" dirty="0"/>
              <a:t>a</a:t>
            </a:r>
            <a:r>
              <a:rPr lang="en-US" altLang="zh-TW" sz="2200" baseline="-25000" dirty="0"/>
              <a:t>1</a:t>
            </a:r>
            <a:r>
              <a:rPr lang="en-US" altLang="zh-TW" sz="2200" dirty="0"/>
              <a:t> </a:t>
            </a:r>
            <a:r>
              <a:rPr lang="en-US" altLang="zh-TW" sz="2200" i="1" dirty="0"/>
              <a:t>a</a:t>
            </a:r>
            <a:r>
              <a:rPr lang="en-US" altLang="zh-TW" sz="2200" baseline="-25000" dirty="0"/>
              <a:t>2</a:t>
            </a:r>
            <a:r>
              <a:rPr lang="en-US" altLang="zh-TW" sz="2200" dirty="0"/>
              <a:t> ... </a:t>
            </a:r>
            <a:r>
              <a:rPr lang="en-US" altLang="zh-TW" sz="2200" i="1" dirty="0"/>
              <a:t>a</a:t>
            </a:r>
            <a:r>
              <a:rPr lang="en-US" altLang="zh-TW" sz="2200" i="1" baseline="-25000" dirty="0"/>
              <a:t>k</a:t>
            </a:r>
            <a:r>
              <a:rPr lang="en-US" altLang="zh-TW" sz="2200" baseline="-25000" dirty="0">
                <a:sym typeface="Symbol" pitchFamily="18" charset="2"/>
              </a:rPr>
              <a:t></a:t>
            </a:r>
            <a:r>
              <a:rPr lang="en-US" altLang="zh-TW" sz="2200" baseline="-25000" dirty="0"/>
              <a:t>1</a:t>
            </a:r>
            <a:r>
              <a:rPr lang="en-US" altLang="zh-TW" sz="2200" dirty="0"/>
              <a:t>)  or  </a:t>
            </a:r>
            <a:r>
              <a:rPr lang="en-US" altLang="zh-TW" sz="2200" i="1" dirty="0"/>
              <a:t>p</a:t>
            </a:r>
            <a:r>
              <a:rPr lang="en-US" altLang="zh-TW" sz="2200" dirty="0"/>
              <a:t> | </a:t>
            </a:r>
            <a:r>
              <a:rPr lang="en-US" altLang="zh-TW" sz="2200" i="1" dirty="0" err="1"/>
              <a:t>a</a:t>
            </a:r>
            <a:r>
              <a:rPr lang="en-US" altLang="zh-TW" sz="2200" i="1" baseline="-25000" dirty="0" err="1"/>
              <a:t>k</a:t>
            </a:r>
            <a:r>
              <a:rPr lang="en-US" altLang="zh-TW" sz="2200" dirty="0"/>
              <a:t>  by the above Corollary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200" dirty="0"/>
              <a:t>		       	(</a:t>
            </a:r>
            <a:r>
              <a:rPr lang="en-US" altLang="zh-TW" sz="2200" dirty="0" err="1"/>
              <a:t>i</a:t>
            </a:r>
            <a:r>
              <a:rPr lang="en-US" altLang="zh-TW" sz="2200" dirty="0"/>
              <a:t>)  </a:t>
            </a:r>
            <a:r>
              <a:rPr lang="en-US" altLang="zh-TW" sz="2200" i="1" dirty="0"/>
              <a:t>p</a:t>
            </a:r>
            <a:r>
              <a:rPr lang="en-US" altLang="zh-TW" sz="2200" dirty="0"/>
              <a:t> | </a:t>
            </a:r>
            <a:r>
              <a:rPr lang="en-US" altLang="zh-TW" sz="2200" i="1" dirty="0" err="1"/>
              <a:t>a</a:t>
            </a:r>
            <a:r>
              <a:rPr lang="en-US" altLang="zh-TW" sz="2200" i="1" baseline="-25000" dirty="0" err="1"/>
              <a:t>k</a:t>
            </a:r>
            <a:r>
              <a:rPr lang="en-US" altLang="zh-TW" sz="2200" dirty="0"/>
              <a:t>  </a:t>
            </a:r>
            <a:r>
              <a:rPr lang="en-US" altLang="zh-TW" sz="2200" dirty="0">
                <a:sym typeface="Symbol" pitchFamily="18" charset="2"/>
              </a:rPr>
              <a:t></a:t>
            </a:r>
            <a:r>
              <a:rPr lang="en-US" altLang="zh-TW" sz="2200" dirty="0"/>
              <a:t>  done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200" dirty="0"/>
              <a:t>		       	(ii)  </a:t>
            </a:r>
            <a:r>
              <a:rPr lang="en-US" altLang="zh-TW" sz="2200" i="1" dirty="0"/>
              <a:t>p </a:t>
            </a:r>
            <a:r>
              <a:rPr lang="en-US" altLang="zh-TW" sz="2200" dirty="0"/>
              <a:t>| (</a:t>
            </a:r>
            <a:r>
              <a:rPr lang="en-US" altLang="zh-TW" sz="2200" i="1" dirty="0"/>
              <a:t>a</a:t>
            </a:r>
            <a:r>
              <a:rPr lang="en-US" altLang="zh-TW" sz="2200" baseline="-25000" dirty="0"/>
              <a:t>1</a:t>
            </a:r>
            <a:r>
              <a:rPr lang="en-US" altLang="zh-TW" sz="2200" dirty="0"/>
              <a:t> </a:t>
            </a:r>
            <a:r>
              <a:rPr lang="en-US" altLang="zh-TW" sz="2200" i="1" dirty="0"/>
              <a:t>a</a:t>
            </a:r>
            <a:r>
              <a:rPr lang="en-US" altLang="zh-TW" sz="2200" baseline="-25000" dirty="0"/>
              <a:t>2</a:t>
            </a:r>
            <a:r>
              <a:rPr lang="en-US" altLang="zh-TW" sz="2200" dirty="0"/>
              <a:t> ... </a:t>
            </a:r>
            <a:r>
              <a:rPr lang="en-US" altLang="zh-TW" sz="2200" i="1" dirty="0"/>
              <a:t>a</a:t>
            </a:r>
            <a:r>
              <a:rPr lang="en-US" altLang="zh-TW" sz="2200" i="1" baseline="-25000" dirty="0"/>
              <a:t>k</a:t>
            </a:r>
            <a:r>
              <a:rPr lang="en-US" altLang="zh-TW" sz="2200" baseline="-25000" dirty="0">
                <a:sym typeface="Symbol" pitchFamily="18" charset="2"/>
              </a:rPr>
              <a:t></a:t>
            </a:r>
            <a:r>
              <a:rPr lang="en-US" altLang="zh-TW" sz="2200" baseline="-25000" dirty="0"/>
              <a:t>1</a:t>
            </a:r>
            <a:r>
              <a:rPr lang="en-US" altLang="zh-TW" sz="2200" dirty="0"/>
              <a:t>)  </a:t>
            </a:r>
            <a:r>
              <a:rPr lang="en-US" altLang="zh-TW" sz="2200" dirty="0">
                <a:sym typeface="Symbol" pitchFamily="18" charset="2"/>
              </a:rPr>
              <a:t></a:t>
            </a:r>
            <a:r>
              <a:rPr lang="en-US" altLang="zh-TW" sz="2200" dirty="0"/>
              <a:t>  repeat the argument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200" dirty="0"/>
              <a:t>		        	Eventually we must get  </a:t>
            </a:r>
            <a:r>
              <a:rPr lang="en-US" altLang="zh-TW" sz="2200" i="1" dirty="0"/>
              <a:t>p</a:t>
            </a:r>
            <a:r>
              <a:rPr lang="en-US" altLang="zh-TW" sz="2200" dirty="0"/>
              <a:t> | </a:t>
            </a:r>
            <a:r>
              <a:rPr lang="en-US" altLang="zh-TW" sz="2200" i="1" dirty="0" err="1"/>
              <a:t>a</a:t>
            </a:r>
            <a:r>
              <a:rPr lang="en-US" altLang="zh-TW" sz="2200" i="1" baseline="-25000" dirty="0" err="1"/>
              <a:t>i</a:t>
            </a:r>
            <a:r>
              <a:rPr lang="en-US" altLang="zh-TW" sz="2200" dirty="0"/>
              <a:t>  for some</a:t>
            </a:r>
            <a:r>
              <a:rPr lang="en-US" altLang="zh-TW" sz="2200" baseline="-25000" dirty="0"/>
              <a:t>  </a:t>
            </a:r>
            <a:r>
              <a:rPr lang="en-US" altLang="zh-TW" sz="2200" i="1" dirty="0" err="1"/>
              <a:t>i</a:t>
            </a:r>
            <a:endParaRPr lang="en-US" altLang="zh-TW" sz="22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148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148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投影片編號版面配置區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1C66A322-3B38-4061-A6A5-90AFFED67AFF}" type="slidenum">
              <a:rPr kumimoji="0" lang="en-US" altLang="zh-TW" smtClean="0"/>
              <a:pPr eaLnBrk="1" hangingPunct="1"/>
              <a:t>24</a:t>
            </a:fld>
            <a:endParaRPr kumimoji="0" lang="en-US" altLang="zh-TW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Fundamental Theorem </a:t>
            </a:r>
            <a:br>
              <a:rPr lang="en-US" altLang="zh-TW" sz="4000"/>
            </a:br>
            <a:r>
              <a:rPr lang="en-US" altLang="zh-TW" sz="4000"/>
              <a:t>of Arithmetic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91513" cy="4411662"/>
          </a:xfrm>
        </p:spPr>
        <p:txBody>
          <a:bodyPr/>
          <a:lstStyle/>
          <a:p>
            <a:pPr eaLnBrk="1" hangingPunct="1"/>
            <a:r>
              <a:rPr lang="en-US" altLang="zh-TW" sz="2600" b="1"/>
              <a:t>Theorem</a:t>
            </a:r>
            <a:r>
              <a:rPr lang="en-US" altLang="zh-TW"/>
              <a:t> </a:t>
            </a:r>
            <a:r>
              <a:rPr lang="en-US" altLang="zh-TW" sz="2400"/>
              <a:t>(The Fundamental Theorem of Arithmetic) </a:t>
            </a:r>
            <a:r>
              <a:rPr lang="en-US" altLang="zh-TW" sz="2600"/>
              <a:t>Every integer </a:t>
            </a:r>
            <a:r>
              <a:rPr lang="en-US" altLang="zh-TW" sz="2600" i="1"/>
              <a:t>a</a:t>
            </a:r>
            <a:r>
              <a:rPr lang="en-US" altLang="zh-TW" sz="2600"/>
              <a:t> &gt; 1 is itself prime or can be written uniquely as a product of primes.</a:t>
            </a:r>
          </a:p>
          <a:p>
            <a:pPr lvl="1" eaLnBrk="1" hangingPunct="1"/>
            <a:r>
              <a:rPr lang="en-US" altLang="zh-TW" sz="2200" b="1"/>
              <a:t>Proof</a:t>
            </a:r>
            <a:r>
              <a:rPr lang="en-US" altLang="zh-TW" sz="2200"/>
              <a:t>	Existence: Easy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200"/>
              <a:t>		    	Uniqueness: Apply the last Corollary</a:t>
            </a:r>
          </a:p>
          <a:p>
            <a:pPr eaLnBrk="1" hangingPunct="1"/>
            <a:r>
              <a:rPr lang="en-US" altLang="zh-TW" sz="2600" b="1"/>
              <a:t>Remark</a:t>
            </a:r>
            <a:r>
              <a:rPr lang="en-US" altLang="zh-TW" sz="2600"/>
              <a:t>   </a:t>
            </a:r>
            <a:r>
              <a:rPr lang="en-US" altLang="zh-TW" sz="2600" b="1" i="1"/>
              <a:t>Z</a:t>
            </a:r>
            <a:r>
              <a:rPr lang="en-US" altLang="zh-TW" sz="2600"/>
              <a:t>  is a UFD</a:t>
            </a:r>
            <a:r>
              <a:rPr lang="en-US" altLang="zh-TW"/>
              <a:t> </a:t>
            </a:r>
            <a:r>
              <a:rPr lang="en-US" altLang="zh-TW" sz="2400"/>
              <a:t>(Unique Factorization Domain)</a:t>
            </a:r>
          </a:p>
          <a:p>
            <a:pPr eaLnBrk="1" hangingPunct="1"/>
            <a:r>
              <a:rPr lang="en-US" altLang="zh-TW" sz="2600" b="1"/>
              <a:t>Example</a:t>
            </a:r>
            <a:r>
              <a:rPr lang="en-US" altLang="zh-TW" sz="2600"/>
              <a:t>  Factorizations in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600"/>
              <a:t>	is not unique, since 					while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600"/>
              <a:t>					are all “irreducible” in</a:t>
            </a:r>
          </a:p>
        </p:txBody>
      </p:sp>
      <p:graphicFrame>
        <p:nvGraphicFramePr>
          <p:cNvPr id="16077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932363" y="4438650"/>
          <a:ext cx="38163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60600" imgH="254000" progId="Equation.DSMT4">
                  <p:embed/>
                </p:oleObj>
              </mc:Choice>
              <mc:Fallback>
                <p:oleObj name="Equation" r:id="rId2" imgW="2260600" imgH="25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4438650"/>
                        <a:ext cx="381635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4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924300" y="4887913"/>
          <a:ext cx="37433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9000" imgH="254000" progId="Equation.DSMT4">
                  <p:embed/>
                </p:oleObj>
              </mc:Choice>
              <mc:Fallback>
                <p:oleObj name="Equation" r:id="rId4" imgW="2159000" imgH="254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887913"/>
                        <a:ext cx="374332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0635870"/>
              </p:ext>
            </p:extLst>
          </p:nvPr>
        </p:nvGraphicFramePr>
        <p:xfrm>
          <a:off x="827088" y="5364104"/>
          <a:ext cx="7705352" cy="487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25900" imgH="254000" progId="Equation.DSMT4">
                  <p:embed/>
                </p:oleObj>
              </mc:Choice>
              <mc:Fallback>
                <p:oleObj name="Equation" r:id="rId6" imgW="4025900" imgH="254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364104"/>
                        <a:ext cx="7705352" cy="4875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6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投影片編號版面配置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20F5B78A-97BB-421D-B8E4-9AECE3405BA2}" type="slidenum">
              <a:rPr kumimoji="0" lang="en-US" altLang="zh-TW" smtClean="0"/>
              <a:pPr eaLnBrk="1" hangingPunct="1"/>
              <a:t>25</a:t>
            </a:fld>
            <a:endParaRPr kumimoji="0" lang="en-US" altLang="zh-TW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Least Common Multiple 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435280" cy="4411662"/>
          </a:xfrm>
        </p:spPr>
        <p:txBody>
          <a:bodyPr/>
          <a:lstStyle/>
          <a:p>
            <a:pPr eaLnBrk="1" hangingPunct="1"/>
            <a:r>
              <a:rPr lang="en-US" altLang="zh-TW" sz="2400" b="1" dirty="0"/>
              <a:t>Definition</a:t>
            </a:r>
            <a:r>
              <a:rPr lang="en-US" altLang="zh-TW" sz="2400" dirty="0"/>
              <a:t>  The </a:t>
            </a:r>
            <a:r>
              <a:rPr lang="en-US" altLang="zh-TW" sz="2400" b="1" dirty="0">
                <a:solidFill>
                  <a:srgbClr val="9900CC"/>
                </a:solidFill>
              </a:rPr>
              <a:t>least common multiple</a:t>
            </a:r>
            <a:r>
              <a:rPr lang="en-US" altLang="zh-TW" sz="2400" dirty="0"/>
              <a:t>  lcm</a:t>
            </a:r>
            <a:r>
              <a:rPr lang="en-US" altLang="zh-TW" sz="2400" baseline="-25000" dirty="0"/>
              <a:t> </a:t>
            </a:r>
            <a:r>
              <a:rPr lang="en-US" altLang="zh-TW" sz="2400" dirty="0"/>
              <a:t>(</a:t>
            </a:r>
            <a:r>
              <a:rPr lang="en-US" altLang="zh-TW" sz="2400" i="1" dirty="0"/>
              <a:t>a</a:t>
            </a:r>
            <a:r>
              <a:rPr lang="en-US" altLang="zh-TW" sz="2400" dirty="0"/>
              <a:t>, </a:t>
            </a:r>
            <a:r>
              <a:rPr lang="en-US" altLang="zh-TW" sz="2400" i="1" dirty="0"/>
              <a:t>b</a:t>
            </a:r>
            <a:r>
              <a:rPr lang="en-US" altLang="zh-TW" sz="2400" dirty="0"/>
              <a:t>)</a:t>
            </a:r>
            <a:r>
              <a:rPr lang="en-US" altLang="zh-TW" sz="2400" baseline="-25000" dirty="0"/>
              <a:t>  </a:t>
            </a:r>
            <a:r>
              <a:rPr lang="en-US" altLang="zh-TW" sz="2400" dirty="0"/>
              <a:t>of</a:t>
            </a:r>
            <a:r>
              <a:rPr lang="en-US" altLang="zh-TW" sz="2400" baseline="-25000" dirty="0"/>
              <a:t>  </a:t>
            </a:r>
            <a:r>
              <a:rPr lang="en-US" altLang="zh-TW" sz="2400" i="1" dirty="0"/>
              <a:t>a</a:t>
            </a:r>
            <a:r>
              <a:rPr lang="en-US" altLang="zh-TW" sz="2400" dirty="0"/>
              <a:t>, </a:t>
            </a:r>
            <a:r>
              <a:rPr lang="en-US" altLang="zh-TW" sz="2400" i="1" dirty="0"/>
              <a:t>b</a:t>
            </a:r>
            <a:r>
              <a:rPr lang="en-US" altLang="zh-TW" sz="2400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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b="1" i="1" dirty="0">
                <a:sym typeface="Symbol" pitchFamily="18" charset="2"/>
              </a:rPr>
              <a:t>P</a:t>
            </a:r>
            <a:r>
              <a:rPr lang="en-US" altLang="zh-TW" sz="2400" dirty="0"/>
              <a:t>  is the smallest  </a:t>
            </a:r>
            <a:r>
              <a:rPr lang="en-US" altLang="zh-TW" sz="2400" i="1" dirty="0"/>
              <a:t>m</a:t>
            </a:r>
            <a:r>
              <a:rPr lang="en-US" altLang="zh-TW" sz="2400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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b="1" i="1" dirty="0">
                <a:sym typeface="Symbol" pitchFamily="18" charset="2"/>
              </a:rPr>
              <a:t>P</a:t>
            </a:r>
            <a:r>
              <a:rPr lang="en-US" altLang="zh-TW" sz="2400" dirty="0"/>
              <a:t>  such that  </a:t>
            </a:r>
            <a:r>
              <a:rPr lang="en-US" altLang="zh-TW" sz="2400" i="1" dirty="0"/>
              <a:t>a</a:t>
            </a:r>
            <a:r>
              <a:rPr lang="en-US" altLang="zh-TW" sz="2400" dirty="0"/>
              <a:t> | </a:t>
            </a:r>
            <a:r>
              <a:rPr lang="en-US" altLang="zh-TW" sz="2400" i="1" dirty="0"/>
              <a:t>m</a:t>
            </a:r>
            <a:r>
              <a:rPr lang="en-US" altLang="zh-TW" sz="2400" dirty="0"/>
              <a:t>  and  </a:t>
            </a:r>
            <a:r>
              <a:rPr lang="en-US" altLang="zh-TW" sz="2400" i="1" dirty="0"/>
              <a:t>b</a:t>
            </a:r>
            <a:r>
              <a:rPr lang="en-US" altLang="zh-TW" sz="2400" dirty="0"/>
              <a:t> | </a:t>
            </a:r>
            <a:r>
              <a:rPr lang="en-US" altLang="zh-TW" sz="2400" i="1" dirty="0"/>
              <a:t>m</a:t>
            </a:r>
          </a:p>
          <a:p>
            <a:pPr eaLnBrk="1" hangingPunct="1"/>
            <a:r>
              <a:rPr lang="en-US" altLang="zh-TW" sz="2400" b="1" dirty="0"/>
              <a:t>Theorem</a:t>
            </a:r>
            <a:r>
              <a:rPr lang="en-US" altLang="zh-TW" sz="2400" i="1" dirty="0"/>
              <a:t>  a</a:t>
            </a:r>
            <a:r>
              <a:rPr lang="en-US" altLang="zh-TW" sz="2400" dirty="0"/>
              <a:t>, </a:t>
            </a:r>
            <a:r>
              <a:rPr lang="en-US" altLang="zh-TW" sz="2400" i="1" dirty="0"/>
              <a:t>b</a:t>
            </a:r>
            <a:r>
              <a:rPr lang="en-US" altLang="zh-TW" sz="2400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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b="1" i="1" dirty="0">
                <a:sym typeface="Symbol" pitchFamily="18" charset="2"/>
              </a:rPr>
              <a:t>P</a:t>
            </a:r>
            <a:r>
              <a:rPr lang="en-US" altLang="zh-TW" sz="2400" dirty="0">
                <a:sym typeface="Symbol" pitchFamily="18" charset="2"/>
              </a:rPr>
              <a:t>,  then</a:t>
            </a:r>
            <a:r>
              <a:rPr lang="en-US" altLang="zh-TW" sz="2400" b="1" i="1" dirty="0">
                <a:sym typeface="Symbol" pitchFamily="18" charset="2"/>
              </a:rPr>
              <a:t>  </a:t>
            </a:r>
            <a:r>
              <a:rPr lang="en-US" altLang="zh-TW" sz="2400" i="1" dirty="0">
                <a:sym typeface="Symbol" pitchFamily="18" charset="2"/>
              </a:rPr>
              <a:t>a </a:t>
            </a:r>
            <a:r>
              <a:rPr lang="en-US" altLang="zh-TW" sz="2400" dirty="0">
                <a:sym typeface="Symbol" pitchFamily="18" charset="2"/>
              </a:rPr>
              <a:t></a:t>
            </a:r>
            <a:r>
              <a:rPr lang="en-US" altLang="zh-TW" sz="2400" i="1" dirty="0">
                <a:sym typeface="Symbol" pitchFamily="18" charset="2"/>
              </a:rPr>
              <a:t> b = </a:t>
            </a:r>
            <a:r>
              <a:rPr lang="en-US" altLang="zh-TW" sz="2400" dirty="0" err="1">
                <a:sym typeface="Symbol" pitchFamily="18" charset="2"/>
              </a:rPr>
              <a:t>gcd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dirty="0">
                <a:sym typeface="Symbol" pitchFamily="18" charset="2"/>
              </a:rPr>
              <a:t>(</a:t>
            </a:r>
            <a:r>
              <a:rPr lang="en-US" altLang="zh-TW" sz="2400" i="1" dirty="0">
                <a:sym typeface="Symbol" pitchFamily="18" charset="2"/>
              </a:rPr>
              <a:t>a, b</a:t>
            </a:r>
            <a:r>
              <a:rPr lang="en-US" altLang="zh-TW" sz="2400" dirty="0">
                <a:sym typeface="Symbol" pitchFamily="18" charset="2"/>
              </a:rPr>
              <a:t>) </a:t>
            </a:r>
            <a:r>
              <a:rPr lang="en-US" altLang="zh-TW" sz="2400" i="1" dirty="0">
                <a:sym typeface="Symbol" pitchFamily="18" charset="2"/>
              </a:rPr>
              <a:t> </a:t>
            </a:r>
            <a:r>
              <a:rPr lang="en-US" altLang="zh-TW" sz="2400" dirty="0">
                <a:sym typeface="Symbol" pitchFamily="18" charset="2"/>
              </a:rPr>
              <a:t>lcm</a:t>
            </a:r>
            <a:r>
              <a:rPr lang="en-US" altLang="zh-TW" sz="2400" i="1" baseline="-25000" dirty="0">
                <a:sym typeface="Symbol" pitchFamily="18" charset="2"/>
              </a:rPr>
              <a:t> </a:t>
            </a:r>
            <a:r>
              <a:rPr lang="en-US" altLang="zh-TW" sz="2400" dirty="0">
                <a:sym typeface="Symbol" pitchFamily="18" charset="2"/>
              </a:rPr>
              <a:t>(</a:t>
            </a:r>
            <a:r>
              <a:rPr lang="en-US" altLang="zh-TW" sz="2400" i="1" dirty="0">
                <a:sym typeface="Symbol" pitchFamily="18" charset="2"/>
              </a:rPr>
              <a:t>a, b</a:t>
            </a:r>
            <a:r>
              <a:rPr lang="en-US" altLang="zh-TW" sz="2400" dirty="0">
                <a:sym typeface="Symbol" pitchFamily="18" charset="2"/>
              </a:rPr>
              <a:t>)</a:t>
            </a:r>
            <a:endParaRPr lang="en-US" altLang="zh-TW" sz="24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/>
              <a:t>	</a:t>
            </a:r>
            <a:r>
              <a:rPr lang="en-US" altLang="zh-TW" sz="2400" b="1" dirty="0"/>
              <a:t>Proof</a:t>
            </a:r>
          </a:p>
        </p:txBody>
      </p:sp>
      <p:graphicFrame>
        <p:nvGraphicFramePr>
          <p:cNvPr id="16384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835150" y="3068638"/>
          <a:ext cx="6911975" cy="296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54500" imgH="1727200" progId="Equation.DSMT4">
                  <p:embed/>
                </p:oleObj>
              </mc:Choice>
              <mc:Fallback>
                <p:oleObj name="Equation" r:id="rId2" imgW="4254500" imgH="172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068638"/>
                        <a:ext cx="6911975" cy="296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7813BB3E-947A-4170-B876-19ABD9F44609}" type="slidenum">
              <a:rPr kumimoji="0" lang="en-US" altLang="zh-TW" smtClean="0"/>
              <a:pPr eaLnBrk="1" hangingPunct="1"/>
              <a:t>26</a:t>
            </a:fld>
            <a:endParaRPr kumimoji="0" lang="en-US" altLang="zh-TW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Arithmetic</a:t>
            </a:r>
          </a:p>
        </p:txBody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Modular Function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GCD and Euclidean Algorithm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Extended GCD Algorithm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Fundamental Theorem of Arithmetic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b="1" dirty="0"/>
              <a:t>Modular Arithmetic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Chinese Remainder Theorem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Theorems of Fermat and Euler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1B187CAC-FE8D-48B7-91BE-8458F8621F7B}" type="slidenum">
              <a:rPr kumimoji="0" lang="en-US" altLang="zh-TW" smtClean="0"/>
              <a:pPr eaLnBrk="1" hangingPunct="1"/>
              <a:t>27</a:t>
            </a:fld>
            <a:endParaRPr kumimoji="0" lang="en-US" altLang="zh-TW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zh-TW" sz="4000"/>
              <a:t>Congruence Relation</a:t>
            </a:r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435975" cy="4411662"/>
          </a:xfrm>
        </p:spPr>
        <p:txBody>
          <a:bodyPr/>
          <a:lstStyle/>
          <a:p>
            <a:pPr eaLnBrk="1" hangingPunct="1"/>
            <a:r>
              <a:rPr lang="en-US" altLang="zh-TW" b="1" dirty="0"/>
              <a:t>Definition  </a:t>
            </a:r>
            <a:r>
              <a:rPr lang="en-US" altLang="zh-TW" sz="2600" dirty="0"/>
              <a:t>Given</a:t>
            </a:r>
            <a:r>
              <a:rPr lang="en-US" altLang="zh-TW" sz="2600" b="1" dirty="0"/>
              <a:t>  </a:t>
            </a:r>
            <a:r>
              <a:rPr lang="en-US" altLang="zh-TW" sz="2600" i="1" dirty="0"/>
              <a:t>a</a:t>
            </a:r>
            <a:r>
              <a:rPr lang="en-US" altLang="zh-TW" sz="2600" dirty="0"/>
              <a:t>, </a:t>
            </a:r>
            <a:r>
              <a:rPr lang="en-US" altLang="zh-TW" sz="2600" i="1" dirty="0"/>
              <a:t>b</a:t>
            </a:r>
            <a:r>
              <a:rPr lang="en-US" altLang="zh-TW" sz="2600" baseline="-25000" dirty="0"/>
              <a:t> </a:t>
            </a:r>
            <a:r>
              <a:rPr lang="en-US" altLang="zh-TW" sz="2600" dirty="0">
                <a:sym typeface="Symbol" pitchFamily="18" charset="2"/>
              </a:rPr>
              <a:t>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b="1" i="1" dirty="0">
                <a:sym typeface="Symbol" pitchFamily="18" charset="2"/>
              </a:rPr>
              <a:t>Z</a:t>
            </a:r>
            <a:r>
              <a:rPr lang="en-US" altLang="zh-TW" sz="2600" dirty="0">
                <a:sym typeface="Symbol" pitchFamily="18" charset="2"/>
              </a:rPr>
              <a:t>,</a:t>
            </a:r>
            <a:r>
              <a:rPr lang="en-US" altLang="zh-TW" sz="2600" dirty="0"/>
              <a:t>  </a:t>
            </a:r>
            <a:r>
              <a:rPr lang="en-US" altLang="zh-TW" sz="2600" i="1" dirty="0"/>
              <a:t>m</a:t>
            </a:r>
            <a:r>
              <a:rPr lang="en-US" altLang="zh-TW" sz="2600" baseline="-25000" dirty="0"/>
              <a:t> </a:t>
            </a:r>
            <a:r>
              <a:rPr lang="en-US" altLang="zh-TW" sz="2600" dirty="0">
                <a:sym typeface="Symbol" pitchFamily="18" charset="2"/>
              </a:rPr>
              <a:t>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b="1" i="1" dirty="0">
                <a:sym typeface="Symbol" pitchFamily="18" charset="2"/>
              </a:rPr>
              <a:t>P</a:t>
            </a:r>
            <a:r>
              <a:rPr lang="en-US" altLang="zh-TW" sz="2600" dirty="0">
                <a:sym typeface="Symbol" pitchFamily="18" charset="2"/>
              </a:rPr>
              <a:t>,  then</a:t>
            </a:r>
            <a:r>
              <a:rPr lang="en-US" altLang="zh-TW" sz="2600" baseline="-25000" dirty="0">
                <a:sym typeface="Symbol" pitchFamily="18" charset="2"/>
              </a:rPr>
              <a:t>  </a:t>
            </a:r>
            <a:r>
              <a:rPr lang="en-US" altLang="zh-TW" sz="2600" b="1" i="1" dirty="0">
                <a:solidFill>
                  <a:srgbClr val="9900CC"/>
                </a:solidFill>
                <a:sym typeface="Symbol" pitchFamily="18" charset="2"/>
              </a:rPr>
              <a:t>a</a:t>
            </a:r>
            <a:r>
              <a:rPr lang="en-US" altLang="zh-TW" sz="2600" b="1" dirty="0">
                <a:solidFill>
                  <a:srgbClr val="9900CC"/>
                </a:solidFill>
                <a:sym typeface="Symbol" pitchFamily="18" charset="2"/>
              </a:rPr>
              <a:t>  is congruent to</a:t>
            </a:r>
            <a:r>
              <a:rPr lang="en-US" altLang="zh-TW" sz="2600" b="1" baseline="-25000" dirty="0">
                <a:solidFill>
                  <a:srgbClr val="9900CC"/>
                </a:solidFill>
                <a:sym typeface="Symbol" pitchFamily="18" charset="2"/>
              </a:rPr>
              <a:t>  </a:t>
            </a:r>
            <a:r>
              <a:rPr lang="en-US" altLang="zh-TW" sz="2600" b="1" i="1" dirty="0">
                <a:solidFill>
                  <a:srgbClr val="9900CC"/>
                </a:solidFill>
                <a:sym typeface="Symbol" pitchFamily="18" charset="2"/>
              </a:rPr>
              <a:t>b</a:t>
            </a:r>
            <a:r>
              <a:rPr lang="en-US" altLang="zh-TW" sz="2600" b="1" baseline="-25000" dirty="0">
                <a:solidFill>
                  <a:srgbClr val="9900CC"/>
                </a:solidFill>
                <a:sym typeface="Symbol" pitchFamily="18" charset="2"/>
              </a:rPr>
              <a:t>  </a:t>
            </a:r>
            <a:r>
              <a:rPr lang="en-US" altLang="zh-TW" sz="2600" b="1" dirty="0">
                <a:solidFill>
                  <a:srgbClr val="9900CC"/>
                </a:solidFill>
                <a:sym typeface="Symbol" pitchFamily="18" charset="2"/>
              </a:rPr>
              <a:t>modulo  </a:t>
            </a:r>
            <a:r>
              <a:rPr lang="en-US" altLang="zh-TW" sz="2600" b="1" i="1" dirty="0">
                <a:solidFill>
                  <a:srgbClr val="9900CC"/>
                </a:solidFill>
                <a:sym typeface="Symbol" pitchFamily="18" charset="2"/>
              </a:rPr>
              <a:t>m</a:t>
            </a:r>
            <a:r>
              <a:rPr lang="en-US" altLang="zh-TW" sz="2600" dirty="0">
                <a:sym typeface="Symbol" pitchFamily="18" charset="2"/>
              </a:rPr>
              <a:t>  </a:t>
            </a:r>
            <a:r>
              <a:rPr lang="en-US" altLang="zh-TW" sz="2200" dirty="0">
                <a:sym typeface="Symbol" pitchFamily="18" charset="2"/>
              </a:rPr>
              <a:t>[denoted as 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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b</a:t>
            </a:r>
            <a:r>
              <a:rPr lang="en-US" altLang="zh-TW" sz="2200" dirty="0">
                <a:sym typeface="Symbol" pitchFamily="18" charset="2"/>
              </a:rPr>
              <a:t> (mod </a:t>
            </a:r>
            <a:r>
              <a:rPr lang="en-US" altLang="zh-TW" sz="2200" i="1" dirty="0">
                <a:sym typeface="Symbol" pitchFamily="18" charset="2"/>
              </a:rPr>
              <a:t>m</a:t>
            </a:r>
            <a:r>
              <a:rPr lang="en-US" altLang="zh-TW" sz="2200" dirty="0">
                <a:sym typeface="Symbol" pitchFamily="18" charset="2"/>
              </a:rPr>
              <a:t>)] </a:t>
            </a:r>
            <a:r>
              <a:rPr lang="en-US" altLang="zh-TW" sz="2600" dirty="0">
                <a:sym typeface="Symbol" pitchFamily="18" charset="2"/>
              </a:rPr>
              <a:t> if  </a:t>
            </a:r>
            <a:r>
              <a:rPr lang="en-US" altLang="zh-TW" sz="2600" i="1" dirty="0">
                <a:sym typeface="Symbol" pitchFamily="18" charset="2"/>
              </a:rPr>
              <a:t>a</a:t>
            </a:r>
            <a:r>
              <a:rPr lang="en-US" altLang="zh-TW" sz="2600" dirty="0">
                <a:sym typeface="Symbol" pitchFamily="18" charset="2"/>
              </a:rPr>
              <a:t> mod </a:t>
            </a:r>
            <a:r>
              <a:rPr lang="en-US" altLang="zh-TW" sz="2600" i="1" dirty="0">
                <a:sym typeface="Symbol" pitchFamily="18" charset="2"/>
              </a:rPr>
              <a:t>m</a:t>
            </a:r>
            <a:r>
              <a:rPr lang="en-US" altLang="zh-TW" sz="2600" dirty="0">
                <a:sym typeface="Symbol" pitchFamily="18" charset="2"/>
              </a:rPr>
              <a:t>  =  </a:t>
            </a:r>
            <a:r>
              <a:rPr lang="en-US" altLang="zh-TW" sz="2600" i="1" dirty="0">
                <a:sym typeface="Symbol" pitchFamily="18" charset="2"/>
              </a:rPr>
              <a:t>b</a:t>
            </a:r>
            <a:r>
              <a:rPr lang="en-US" altLang="zh-TW" sz="2600" dirty="0">
                <a:sym typeface="Symbol" pitchFamily="18" charset="2"/>
              </a:rPr>
              <a:t> mod </a:t>
            </a:r>
            <a:r>
              <a:rPr lang="en-US" altLang="zh-TW" sz="2600" i="1" dirty="0">
                <a:sym typeface="Symbol" pitchFamily="18" charset="2"/>
              </a:rPr>
              <a:t>m</a:t>
            </a:r>
          </a:p>
          <a:p>
            <a:pPr eaLnBrk="1" hangingPunct="1"/>
            <a:r>
              <a:rPr lang="en-US" altLang="zh-TW" b="1" dirty="0">
                <a:sym typeface="Symbol" pitchFamily="18" charset="2"/>
              </a:rPr>
              <a:t>Theorem</a:t>
            </a:r>
            <a:r>
              <a:rPr lang="en-US" altLang="zh-TW" dirty="0">
                <a:sym typeface="Symbol" pitchFamily="18" charset="2"/>
              </a:rPr>
              <a:t>  </a:t>
            </a:r>
            <a:r>
              <a:rPr lang="en-US" altLang="zh-TW" sz="2600" i="1" dirty="0">
                <a:sym typeface="Symbol" pitchFamily="18" charset="2"/>
              </a:rPr>
              <a:t>a</a:t>
            </a:r>
            <a:r>
              <a:rPr lang="en-US" altLang="zh-TW" sz="2600" dirty="0">
                <a:sym typeface="Symbol" pitchFamily="18" charset="2"/>
              </a:rPr>
              <a:t>  </a:t>
            </a:r>
            <a:r>
              <a:rPr lang="en-US" altLang="zh-TW" sz="2600" i="1" dirty="0">
                <a:sym typeface="Symbol" pitchFamily="18" charset="2"/>
              </a:rPr>
              <a:t>b</a:t>
            </a:r>
            <a:r>
              <a:rPr lang="en-US" altLang="zh-TW" sz="2600" dirty="0">
                <a:sym typeface="Symbol" pitchFamily="18" charset="2"/>
              </a:rPr>
              <a:t> (mod </a:t>
            </a:r>
            <a:r>
              <a:rPr lang="en-US" altLang="zh-TW" sz="2600" i="1" dirty="0">
                <a:sym typeface="Symbol" pitchFamily="18" charset="2"/>
              </a:rPr>
              <a:t>m</a:t>
            </a:r>
            <a:r>
              <a:rPr lang="en-US" altLang="zh-TW" sz="2600" dirty="0">
                <a:sym typeface="Symbol" pitchFamily="18" charset="2"/>
              </a:rPr>
              <a:t>)</a:t>
            </a:r>
            <a:r>
              <a:rPr lang="en-US" altLang="zh-TW" sz="2600" i="1" dirty="0">
                <a:sym typeface="Symbol" pitchFamily="18" charset="2"/>
              </a:rPr>
              <a:t>  </a:t>
            </a:r>
            <a:r>
              <a:rPr lang="en-US" altLang="zh-TW" sz="2600" dirty="0" err="1">
                <a:sym typeface="Symbol" pitchFamily="18" charset="2"/>
              </a:rPr>
              <a:t>iff</a:t>
            </a:r>
            <a:r>
              <a:rPr lang="en-US" altLang="zh-TW" sz="2600" dirty="0">
                <a:sym typeface="Symbol" pitchFamily="18" charset="2"/>
              </a:rPr>
              <a:t>  </a:t>
            </a:r>
            <a:r>
              <a:rPr lang="en-US" altLang="zh-TW" sz="2600" i="1" dirty="0">
                <a:sym typeface="Symbol" pitchFamily="18" charset="2"/>
              </a:rPr>
              <a:t>m | </a:t>
            </a:r>
            <a:r>
              <a:rPr lang="en-US" altLang="zh-TW" sz="2600" dirty="0">
                <a:sym typeface="Symbol" pitchFamily="18" charset="2"/>
              </a:rPr>
              <a:t>(</a:t>
            </a:r>
            <a:r>
              <a:rPr lang="en-US" altLang="zh-TW" sz="2600" i="1" dirty="0">
                <a:sym typeface="Symbol" pitchFamily="18" charset="2"/>
              </a:rPr>
              <a:t>a  b</a:t>
            </a:r>
            <a:r>
              <a:rPr lang="en-US" altLang="zh-TW" sz="2600" dirty="0">
                <a:sym typeface="Symbol" pitchFamily="18" charset="2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>
                <a:sym typeface="Symbol" pitchFamily="18" charset="2"/>
              </a:rPr>
              <a:t>	</a:t>
            </a:r>
            <a:r>
              <a:rPr lang="en-US" altLang="zh-TW" sz="2600" b="1" dirty="0">
                <a:sym typeface="Symbol" pitchFamily="18" charset="2"/>
              </a:rPr>
              <a:t>Proof</a:t>
            </a:r>
            <a:r>
              <a:rPr lang="en-US" altLang="zh-TW" dirty="0">
                <a:sym typeface="Symbol" pitchFamily="18" charset="2"/>
              </a:rPr>
              <a:t>  </a:t>
            </a:r>
            <a:r>
              <a:rPr lang="en-US" altLang="zh-TW" sz="2600" dirty="0">
                <a:sym typeface="Symbol" pitchFamily="18" charset="2"/>
              </a:rPr>
              <a:t>Two directions, </a:t>
            </a:r>
            <a:r>
              <a:rPr lang="en-US" altLang="zh-TW" sz="2600" u="sng" dirty="0">
                <a:sym typeface="Symbol" pitchFamily="18" charset="2"/>
              </a:rPr>
              <a:t>if</a:t>
            </a:r>
            <a:r>
              <a:rPr lang="en-US" altLang="zh-TW" sz="2600" dirty="0">
                <a:sym typeface="Symbol" pitchFamily="18" charset="2"/>
              </a:rPr>
              <a:t> () part and </a:t>
            </a:r>
            <a:r>
              <a:rPr lang="en-US" altLang="zh-TW" sz="2600" u="sng" dirty="0">
                <a:sym typeface="Symbol" pitchFamily="18" charset="2"/>
              </a:rPr>
              <a:t>only if</a:t>
            </a:r>
            <a:r>
              <a:rPr lang="en-US" altLang="zh-TW" sz="2600" dirty="0">
                <a:sym typeface="Symbol" pitchFamily="18" charset="2"/>
              </a:rPr>
              <a:t> () part, 	are both straightforward  exercise	     </a:t>
            </a:r>
            <a:endParaRPr lang="en-US" altLang="en-US" sz="260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AFEA2289-2F13-45D3-B68C-E5BE32138C15}" type="slidenum">
              <a:rPr kumimoji="0" lang="en-US" altLang="zh-TW" smtClean="0"/>
              <a:pPr eaLnBrk="1" hangingPunct="1"/>
              <a:t>28</a:t>
            </a:fld>
            <a:endParaRPr kumimoji="0" lang="en-US" altLang="zh-TW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Modular Arithmetic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507288" cy="4411662"/>
          </a:xfrm>
        </p:spPr>
        <p:txBody>
          <a:bodyPr/>
          <a:lstStyle/>
          <a:p>
            <a:pPr eaLnBrk="1" hangingPunct="1"/>
            <a:r>
              <a:rPr lang="en-US" altLang="zh-TW" sz="2400" b="1" dirty="0"/>
              <a:t>Proposition  </a:t>
            </a:r>
            <a:r>
              <a:rPr lang="en-US" altLang="zh-TW" sz="2400" i="1" dirty="0"/>
              <a:t>a</a:t>
            </a:r>
            <a:r>
              <a:rPr lang="en-US" altLang="zh-TW" sz="2400" dirty="0"/>
              <a:t>, </a:t>
            </a:r>
            <a:r>
              <a:rPr lang="en-US" altLang="zh-TW" sz="2400" i="1" dirty="0"/>
              <a:t>b</a:t>
            </a:r>
            <a:r>
              <a:rPr lang="en-US" altLang="zh-TW" sz="2400" dirty="0"/>
              <a:t>, </a:t>
            </a:r>
            <a:r>
              <a:rPr lang="en-US" altLang="zh-TW" sz="2400" i="1" dirty="0"/>
              <a:t>c</a:t>
            </a:r>
            <a:r>
              <a:rPr lang="en-US" altLang="zh-TW" sz="2400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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b="1" i="1" dirty="0">
                <a:sym typeface="Symbol" pitchFamily="18" charset="2"/>
              </a:rPr>
              <a:t>Z</a:t>
            </a:r>
            <a:r>
              <a:rPr lang="en-US" altLang="zh-TW" sz="2400" dirty="0">
                <a:sym typeface="Symbol" pitchFamily="18" charset="2"/>
              </a:rPr>
              <a:t>,</a:t>
            </a:r>
            <a:r>
              <a:rPr lang="en-US" altLang="zh-TW" sz="2400" dirty="0"/>
              <a:t>  </a:t>
            </a:r>
            <a:r>
              <a:rPr lang="en-US" altLang="zh-TW" sz="2400" i="1" dirty="0"/>
              <a:t>m</a:t>
            </a:r>
            <a:r>
              <a:rPr lang="en-US" altLang="zh-TW" sz="2400" dirty="0"/>
              <a:t>, </a:t>
            </a:r>
            <a:r>
              <a:rPr lang="en-US" altLang="zh-TW" sz="2400" i="1" dirty="0"/>
              <a:t>d</a:t>
            </a:r>
            <a:r>
              <a:rPr lang="en-US" altLang="zh-TW" sz="2400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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b="1" i="1" dirty="0">
                <a:sym typeface="Symbol" pitchFamily="18" charset="2"/>
              </a:rPr>
              <a:t>P</a:t>
            </a:r>
            <a:r>
              <a:rPr lang="en-US" altLang="zh-TW" sz="2400" dirty="0">
                <a:sym typeface="Symbol" pitchFamily="18" charset="2"/>
              </a:rPr>
              <a:t>,  then</a:t>
            </a:r>
          </a:p>
          <a:p>
            <a:pPr lvl="2" eaLnBrk="1" hangingPunct="1">
              <a:buClr>
                <a:schemeClr val="hlink"/>
              </a:buClr>
              <a:buFont typeface="Wingdings" pitchFamily="2" charset="2"/>
              <a:buAutoNum type="arabicParenR"/>
            </a:pPr>
            <a:r>
              <a:rPr lang="en-US" altLang="zh-TW" sz="2000" dirty="0">
                <a:sym typeface="Symbol" pitchFamily="18" charset="2"/>
              </a:rPr>
              <a:t> </a:t>
            </a:r>
            <a:r>
              <a:rPr lang="en-US" altLang="zh-TW" sz="2000" i="1" dirty="0">
                <a:sym typeface="Symbol" pitchFamily="18" charset="2"/>
              </a:rPr>
              <a:t>a</a:t>
            </a:r>
            <a:r>
              <a:rPr lang="en-US" altLang="zh-TW" sz="2000" dirty="0">
                <a:sym typeface="Symbol" pitchFamily="18" charset="2"/>
              </a:rPr>
              <a:t>  </a:t>
            </a:r>
            <a:r>
              <a:rPr lang="en-US" altLang="zh-TW" sz="2000" i="1" dirty="0">
                <a:sym typeface="Symbol" pitchFamily="18" charset="2"/>
              </a:rPr>
              <a:t>a</a:t>
            </a:r>
            <a:r>
              <a:rPr lang="en-US" altLang="zh-TW" sz="2000" dirty="0">
                <a:sym typeface="Symbol" pitchFamily="18" charset="2"/>
              </a:rPr>
              <a:t> (mod </a:t>
            </a:r>
            <a:r>
              <a:rPr lang="en-US" altLang="zh-TW" sz="2000" i="1" dirty="0">
                <a:sym typeface="Symbol" pitchFamily="18" charset="2"/>
              </a:rPr>
              <a:t>m</a:t>
            </a:r>
            <a:r>
              <a:rPr lang="en-US" altLang="zh-TW" sz="2000" dirty="0">
                <a:sym typeface="Symbol" pitchFamily="18" charset="2"/>
              </a:rPr>
              <a:t>)</a:t>
            </a:r>
          </a:p>
          <a:p>
            <a:pPr lvl="1" eaLnBrk="1" hangingPunct="1">
              <a:buClr>
                <a:schemeClr val="hlink"/>
              </a:buClr>
            </a:pPr>
            <a:r>
              <a:rPr lang="en-US" altLang="zh-TW" sz="2400" dirty="0">
                <a:sym typeface="Symbol" pitchFamily="18" charset="2"/>
              </a:rPr>
              <a:t>If </a:t>
            </a:r>
            <a:r>
              <a:rPr lang="en-US" altLang="zh-TW" sz="2400" i="1" dirty="0">
                <a:sym typeface="Symbol" pitchFamily="18" charset="2"/>
              </a:rPr>
              <a:t> a</a:t>
            </a:r>
            <a:r>
              <a:rPr lang="en-US" altLang="zh-TW" sz="2400" dirty="0">
                <a:sym typeface="Symbol" pitchFamily="18" charset="2"/>
              </a:rPr>
              <a:t>  </a:t>
            </a:r>
            <a:r>
              <a:rPr lang="en-US" altLang="zh-TW" sz="2400" i="1" dirty="0">
                <a:sym typeface="Symbol" pitchFamily="18" charset="2"/>
              </a:rPr>
              <a:t>b</a:t>
            </a:r>
            <a:r>
              <a:rPr lang="en-US" altLang="zh-TW" sz="2400" dirty="0">
                <a:sym typeface="Symbol" pitchFamily="18" charset="2"/>
              </a:rPr>
              <a:t>  (mod </a:t>
            </a:r>
            <a:r>
              <a:rPr lang="en-US" altLang="zh-TW" sz="2400" i="1" dirty="0">
                <a:sym typeface="Symbol" pitchFamily="18" charset="2"/>
              </a:rPr>
              <a:t>m</a:t>
            </a:r>
            <a:r>
              <a:rPr lang="en-US" altLang="zh-TW" sz="2400" dirty="0">
                <a:sym typeface="Symbol" pitchFamily="18" charset="2"/>
              </a:rPr>
              <a:t>),  then</a:t>
            </a:r>
          </a:p>
          <a:p>
            <a:pPr lvl="2" eaLnBrk="1" hangingPunct="1">
              <a:buClr>
                <a:schemeClr val="accent2"/>
              </a:buClr>
              <a:buFont typeface="Wingdings" pitchFamily="2" charset="2"/>
              <a:buAutoNum type="arabicParenR" startAt="2"/>
            </a:pPr>
            <a:r>
              <a:rPr lang="en-US" altLang="zh-TW" sz="2000" dirty="0">
                <a:sym typeface="Symbol" pitchFamily="18" charset="2"/>
              </a:rPr>
              <a:t> </a:t>
            </a:r>
            <a:r>
              <a:rPr lang="en-US" altLang="zh-TW" sz="2000" i="1" dirty="0">
                <a:sym typeface="Symbol" pitchFamily="18" charset="2"/>
              </a:rPr>
              <a:t>b</a:t>
            </a:r>
            <a:r>
              <a:rPr lang="en-US" altLang="zh-TW" sz="2000" dirty="0">
                <a:sym typeface="Symbol" pitchFamily="18" charset="2"/>
              </a:rPr>
              <a:t>  </a:t>
            </a:r>
            <a:r>
              <a:rPr lang="en-US" altLang="zh-TW" sz="2000" i="1" dirty="0">
                <a:sym typeface="Symbol" pitchFamily="18" charset="2"/>
              </a:rPr>
              <a:t>a</a:t>
            </a:r>
            <a:r>
              <a:rPr lang="en-US" altLang="zh-TW" sz="2000" dirty="0">
                <a:sym typeface="Symbol" pitchFamily="18" charset="2"/>
              </a:rPr>
              <a:t> (mod </a:t>
            </a:r>
            <a:r>
              <a:rPr lang="en-US" altLang="zh-TW" sz="2000" i="1" dirty="0">
                <a:sym typeface="Symbol" pitchFamily="18" charset="2"/>
              </a:rPr>
              <a:t>m</a:t>
            </a:r>
            <a:r>
              <a:rPr lang="en-US" altLang="zh-TW" sz="2000" dirty="0">
                <a:sym typeface="Symbol" pitchFamily="18" charset="2"/>
              </a:rPr>
              <a:t>)</a:t>
            </a:r>
          </a:p>
          <a:p>
            <a:pPr lvl="2" eaLnBrk="1" hangingPunct="1">
              <a:buClr>
                <a:schemeClr val="accent2"/>
              </a:buClr>
              <a:buFont typeface="Wingdings" pitchFamily="2" charset="2"/>
              <a:buAutoNum type="arabicParenR" startAt="2"/>
            </a:pPr>
            <a:r>
              <a:rPr lang="en-US" altLang="zh-TW" sz="2000" dirty="0">
                <a:sym typeface="Symbol" pitchFamily="18" charset="2"/>
              </a:rPr>
              <a:t> </a:t>
            </a:r>
            <a:r>
              <a:rPr lang="en-US" altLang="zh-TW" sz="2000" i="1" dirty="0">
                <a:sym typeface="Symbol" pitchFamily="18" charset="2"/>
              </a:rPr>
              <a:t>a + c</a:t>
            </a:r>
            <a:r>
              <a:rPr lang="en-US" altLang="zh-TW" sz="2000" dirty="0">
                <a:sym typeface="Symbol" pitchFamily="18" charset="2"/>
              </a:rPr>
              <a:t>  </a:t>
            </a:r>
            <a:r>
              <a:rPr lang="en-US" altLang="zh-TW" sz="2000" i="1" dirty="0">
                <a:sym typeface="Symbol" pitchFamily="18" charset="2"/>
              </a:rPr>
              <a:t>b + c</a:t>
            </a:r>
            <a:r>
              <a:rPr lang="en-US" altLang="zh-TW" sz="2000" dirty="0">
                <a:sym typeface="Symbol" pitchFamily="18" charset="2"/>
              </a:rPr>
              <a:t> (mod </a:t>
            </a:r>
            <a:r>
              <a:rPr lang="en-US" altLang="zh-TW" sz="2000" i="1" dirty="0">
                <a:sym typeface="Symbol" pitchFamily="18" charset="2"/>
              </a:rPr>
              <a:t>m</a:t>
            </a:r>
            <a:r>
              <a:rPr lang="en-US" altLang="zh-TW" sz="2000" dirty="0">
                <a:sym typeface="Symbol" pitchFamily="18" charset="2"/>
              </a:rPr>
              <a:t>)</a:t>
            </a:r>
          </a:p>
          <a:p>
            <a:pPr lvl="2" eaLnBrk="1" hangingPunct="1">
              <a:buClr>
                <a:schemeClr val="accent2"/>
              </a:buClr>
              <a:buFont typeface="Wingdings" pitchFamily="2" charset="2"/>
              <a:buAutoNum type="arabicParenR" startAt="2"/>
            </a:pPr>
            <a:r>
              <a:rPr lang="en-US" altLang="zh-TW" sz="2000" dirty="0">
                <a:sym typeface="Symbol" pitchFamily="18" charset="2"/>
              </a:rPr>
              <a:t> </a:t>
            </a:r>
            <a:r>
              <a:rPr lang="en-US" altLang="zh-TW" sz="2000" i="1" dirty="0">
                <a:sym typeface="Symbol" pitchFamily="18" charset="2"/>
              </a:rPr>
              <a:t>ac</a:t>
            </a:r>
            <a:r>
              <a:rPr lang="en-US" altLang="zh-TW" sz="2000" dirty="0">
                <a:sym typeface="Symbol" pitchFamily="18" charset="2"/>
              </a:rPr>
              <a:t>  </a:t>
            </a:r>
            <a:r>
              <a:rPr lang="en-US" altLang="zh-TW" sz="2000" i="1" dirty="0" err="1">
                <a:sym typeface="Symbol" pitchFamily="18" charset="2"/>
              </a:rPr>
              <a:t>bc</a:t>
            </a:r>
            <a:r>
              <a:rPr lang="en-US" altLang="zh-TW" sz="2000" dirty="0">
                <a:sym typeface="Symbol" pitchFamily="18" charset="2"/>
              </a:rPr>
              <a:t> (mod </a:t>
            </a:r>
            <a:r>
              <a:rPr lang="en-US" altLang="zh-TW" sz="2000" i="1" dirty="0">
                <a:sym typeface="Symbol" pitchFamily="18" charset="2"/>
              </a:rPr>
              <a:t>m</a:t>
            </a:r>
            <a:r>
              <a:rPr lang="en-US" altLang="zh-TW" sz="2000" dirty="0">
                <a:sym typeface="Symbol" pitchFamily="18" charset="2"/>
              </a:rPr>
              <a:t>)</a:t>
            </a:r>
          </a:p>
          <a:p>
            <a:pPr lvl="2" eaLnBrk="1" hangingPunct="1">
              <a:buClr>
                <a:schemeClr val="accent2"/>
              </a:buClr>
              <a:buFont typeface="Wingdings" pitchFamily="2" charset="2"/>
              <a:buAutoNum type="arabicParenR" startAt="2"/>
            </a:pPr>
            <a:r>
              <a:rPr lang="en-US" altLang="zh-TW" sz="2000" dirty="0">
                <a:sym typeface="Symbol" pitchFamily="18" charset="2"/>
              </a:rPr>
              <a:t> </a:t>
            </a:r>
            <a:r>
              <a:rPr lang="en-US" altLang="zh-TW" sz="2000" i="1" dirty="0">
                <a:sym typeface="Symbol" pitchFamily="18" charset="2"/>
              </a:rPr>
              <a:t>a</a:t>
            </a:r>
            <a:r>
              <a:rPr lang="en-US" altLang="zh-TW" sz="2000" i="1" baseline="30000" dirty="0">
                <a:sym typeface="Symbol" pitchFamily="18" charset="2"/>
              </a:rPr>
              <a:t> d</a:t>
            </a:r>
            <a:r>
              <a:rPr lang="en-US" altLang="zh-TW" sz="2000" dirty="0">
                <a:sym typeface="Symbol" pitchFamily="18" charset="2"/>
              </a:rPr>
              <a:t>  </a:t>
            </a:r>
            <a:r>
              <a:rPr lang="en-US" altLang="zh-TW" sz="2000" i="1" dirty="0">
                <a:sym typeface="Symbol" pitchFamily="18" charset="2"/>
              </a:rPr>
              <a:t>b</a:t>
            </a:r>
            <a:r>
              <a:rPr lang="en-US" altLang="zh-TW" sz="2000" i="1" baseline="30000" dirty="0">
                <a:sym typeface="Symbol" pitchFamily="18" charset="2"/>
              </a:rPr>
              <a:t> d </a:t>
            </a:r>
            <a:r>
              <a:rPr lang="en-US" altLang="zh-TW" sz="2000" dirty="0">
                <a:sym typeface="Symbol" pitchFamily="18" charset="2"/>
              </a:rPr>
              <a:t>(mod </a:t>
            </a:r>
            <a:r>
              <a:rPr lang="en-US" altLang="zh-TW" sz="2000" i="1" dirty="0">
                <a:sym typeface="Symbol" pitchFamily="18" charset="2"/>
              </a:rPr>
              <a:t>m</a:t>
            </a:r>
            <a:r>
              <a:rPr lang="en-US" altLang="zh-TW" sz="2000" dirty="0">
                <a:sym typeface="Symbol" pitchFamily="18" charset="2"/>
              </a:rPr>
              <a:t>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1800" dirty="0">
                <a:solidFill>
                  <a:schemeClr val="accent2"/>
                </a:solidFill>
                <a:sym typeface="Symbol" pitchFamily="18" charset="2"/>
              </a:rPr>
              <a:t>6)</a:t>
            </a:r>
            <a:r>
              <a:rPr lang="en-US" altLang="zh-TW" sz="2400" dirty="0">
                <a:sym typeface="Symbol" pitchFamily="18" charset="2"/>
              </a:rPr>
              <a:t>  If  </a:t>
            </a:r>
            <a:r>
              <a:rPr lang="en-US" altLang="zh-TW" sz="2400" i="1" dirty="0">
                <a:sym typeface="Symbol" pitchFamily="18" charset="2"/>
              </a:rPr>
              <a:t>a</a:t>
            </a:r>
            <a:r>
              <a:rPr lang="en-US" altLang="zh-TW" sz="2400" dirty="0">
                <a:sym typeface="Symbol" pitchFamily="18" charset="2"/>
              </a:rPr>
              <a:t>  </a:t>
            </a:r>
            <a:r>
              <a:rPr lang="en-US" altLang="zh-TW" sz="2400" i="1" dirty="0">
                <a:sym typeface="Symbol" pitchFamily="18" charset="2"/>
              </a:rPr>
              <a:t>b</a:t>
            </a:r>
            <a:r>
              <a:rPr lang="en-US" altLang="zh-TW" sz="2400" baseline="-25000" dirty="0">
                <a:sym typeface="Symbol" pitchFamily="18" charset="2"/>
              </a:rPr>
              <a:t>  </a:t>
            </a:r>
            <a:r>
              <a:rPr lang="en-US" altLang="zh-TW" sz="2400" dirty="0">
                <a:sym typeface="Symbol" pitchFamily="18" charset="2"/>
              </a:rPr>
              <a:t>and</a:t>
            </a:r>
            <a:r>
              <a:rPr lang="en-US" altLang="zh-TW" sz="2400" baseline="-25000" dirty="0">
                <a:sym typeface="Symbol" pitchFamily="18" charset="2"/>
              </a:rPr>
              <a:t>  </a:t>
            </a:r>
            <a:r>
              <a:rPr lang="en-US" altLang="zh-TW" sz="2400" i="1" dirty="0">
                <a:sym typeface="Symbol" pitchFamily="18" charset="2"/>
              </a:rPr>
              <a:t>b</a:t>
            </a:r>
            <a:r>
              <a:rPr lang="en-US" altLang="zh-TW" sz="2400" dirty="0">
                <a:sym typeface="Symbol" pitchFamily="18" charset="2"/>
              </a:rPr>
              <a:t>  </a:t>
            </a:r>
            <a:r>
              <a:rPr lang="en-US" altLang="zh-TW" sz="2400" i="1" dirty="0">
                <a:sym typeface="Symbol" pitchFamily="18" charset="2"/>
              </a:rPr>
              <a:t>c</a:t>
            </a:r>
            <a:r>
              <a:rPr lang="en-US" altLang="zh-TW" sz="2400" baseline="-25000" dirty="0">
                <a:sym typeface="Symbol" pitchFamily="18" charset="2"/>
              </a:rPr>
              <a:t>  </a:t>
            </a:r>
            <a:r>
              <a:rPr lang="en-US" altLang="zh-TW" sz="2400" dirty="0">
                <a:sym typeface="Symbol" pitchFamily="18" charset="2"/>
              </a:rPr>
              <a:t>(mod </a:t>
            </a:r>
            <a:r>
              <a:rPr lang="en-US" altLang="zh-TW" sz="2400" i="1" dirty="0">
                <a:sym typeface="Symbol" pitchFamily="18" charset="2"/>
              </a:rPr>
              <a:t>m</a:t>
            </a:r>
            <a:r>
              <a:rPr lang="en-US" altLang="zh-TW" sz="2400" dirty="0">
                <a:sym typeface="Symbol" pitchFamily="18" charset="2"/>
              </a:rPr>
              <a:t>),  then</a:t>
            </a:r>
            <a:r>
              <a:rPr lang="en-US" altLang="zh-TW" sz="2400" baseline="-25000" dirty="0">
                <a:sym typeface="Symbol" pitchFamily="18" charset="2"/>
              </a:rPr>
              <a:t>  </a:t>
            </a:r>
            <a:r>
              <a:rPr lang="en-US" altLang="zh-TW" sz="2400" i="1" dirty="0">
                <a:sym typeface="Symbol" pitchFamily="18" charset="2"/>
              </a:rPr>
              <a:t>a</a:t>
            </a:r>
            <a:r>
              <a:rPr lang="en-US" altLang="zh-TW" sz="2400" dirty="0">
                <a:sym typeface="Symbol" pitchFamily="18" charset="2"/>
              </a:rPr>
              <a:t>  </a:t>
            </a:r>
            <a:r>
              <a:rPr lang="en-US" altLang="zh-TW" sz="2400" i="1" dirty="0">
                <a:sym typeface="Symbol" pitchFamily="18" charset="2"/>
              </a:rPr>
              <a:t>c</a:t>
            </a:r>
            <a:r>
              <a:rPr lang="en-US" altLang="zh-TW" sz="2400" baseline="-25000" dirty="0">
                <a:sym typeface="Symbol" pitchFamily="18" charset="2"/>
              </a:rPr>
              <a:t>  </a:t>
            </a:r>
            <a:r>
              <a:rPr lang="en-US" altLang="zh-TW" sz="2400" dirty="0">
                <a:sym typeface="Symbol" pitchFamily="18" charset="2"/>
              </a:rPr>
              <a:t>(mod </a:t>
            </a:r>
            <a:r>
              <a:rPr lang="en-US" altLang="zh-TW" sz="2400" i="1" dirty="0">
                <a:sym typeface="Symbol" pitchFamily="18" charset="2"/>
              </a:rPr>
              <a:t>m</a:t>
            </a:r>
            <a:r>
              <a:rPr lang="en-US" altLang="zh-TW" sz="2400" dirty="0">
                <a:sym typeface="Symbol" pitchFamily="18" charset="2"/>
              </a:rPr>
              <a:t>)</a:t>
            </a:r>
          </a:p>
          <a:p>
            <a:pPr lvl="1" eaLnBrk="1" hangingPunct="1">
              <a:buNone/>
            </a:pPr>
            <a:r>
              <a:rPr lang="en-US" altLang="zh-TW" sz="1800" dirty="0">
                <a:solidFill>
                  <a:schemeClr val="accent2"/>
                </a:solidFill>
                <a:sym typeface="Symbol" pitchFamily="18" charset="2"/>
              </a:rPr>
              <a:t>7)</a:t>
            </a:r>
            <a:r>
              <a:rPr lang="en-US" altLang="zh-TW" sz="2400" dirty="0">
                <a:sym typeface="Symbol" pitchFamily="18" charset="2"/>
              </a:rPr>
              <a:t>  If  </a:t>
            </a:r>
            <a:r>
              <a:rPr lang="en-US" altLang="zh-TW" sz="2400" i="1" dirty="0">
                <a:sym typeface="Symbol" pitchFamily="18" charset="2"/>
              </a:rPr>
              <a:t>d</a:t>
            </a:r>
            <a:r>
              <a:rPr lang="en-US" altLang="zh-TW" sz="2400" dirty="0">
                <a:sym typeface="Symbol" pitchFamily="18" charset="2"/>
              </a:rPr>
              <a:t> = </a:t>
            </a:r>
            <a:r>
              <a:rPr lang="en-US" altLang="zh-TW" sz="2400" dirty="0" err="1">
                <a:sym typeface="Symbol" pitchFamily="18" charset="2"/>
              </a:rPr>
              <a:t>gcd</a:t>
            </a:r>
            <a:r>
              <a:rPr lang="en-US" altLang="zh-TW" sz="2400" dirty="0">
                <a:sym typeface="Symbol" pitchFamily="18" charset="2"/>
              </a:rPr>
              <a:t>(</a:t>
            </a:r>
            <a:r>
              <a:rPr lang="en-US" altLang="zh-TW" sz="2400" i="1" dirty="0">
                <a:sym typeface="Symbol" pitchFamily="18" charset="2"/>
              </a:rPr>
              <a:t>a</a:t>
            </a:r>
            <a:r>
              <a:rPr lang="en-US" altLang="zh-TW" sz="2400" dirty="0">
                <a:sym typeface="Symbol" pitchFamily="18" charset="2"/>
              </a:rPr>
              <a:t>,</a:t>
            </a:r>
            <a:r>
              <a:rPr lang="en-US" altLang="zh-TW" sz="800" i="1" dirty="0">
                <a:solidFill>
                  <a:srgbClr val="000000"/>
                </a:solidFill>
                <a:cs typeface="+mn-cs"/>
                <a:sym typeface="Symbol" pitchFamily="18" charset="2"/>
              </a:rPr>
              <a:t> </a:t>
            </a:r>
            <a:r>
              <a:rPr lang="en-US" altLang="zh-TW" sz="2400" i="1" dirty="0">
                <a:sym typeface="Symbol" pitchFamily="18" charset="2"/>
              </a:rPr>
              <a:t>m</a:t>
            </a:r>
            <a:r>
              <a:rPr lang="en-US" altLang="zh-TW" sz="2400" dirty="0">
                <a:sym typeface="Symbol" pitchFamily="18" charset="2"/>
              </a:rPr>
              <a:t>), </a:t>
            </a:r>
            <a:r>
              <a:rPr lang="en-US" altLang="zh-TW" sz="2400" i="1" dirty="0" err="1">
                <a:sym typeface="Symbol" pitchFamily="18" charset="2"/>
              </a:rPr>
              <a:t>ab</a:t>
            </a:r>
            <a:r>
              <a:rPr lang="en-US" altLang="zh-TW" sz="2400" dirty="0">
                <a:sym typeface="Symbol" pitchFamily="18" charset="2"/>
              </a:rPr>
              <a:t>  </a:t>
            </a:r>
            <a:r>
              <a:rPr lang="en-US" altLang="zh-TW" sz="2400" i="1" dirty="0">
                <a:sym typeface="Symbol" pitchFamily="18" charset="2"/>
              </a:rPr>
              <a:t>ac</a:t>
            </a:r>
            <a:r>
              <a:rPr lang="en-US" altLang="zh-TW" sz="2400" dirty="0">
                <a:sym typeface="Symbol" pitchFamily="18" charset="2"/>
              </a:rPr>
              <a:t> (mod </a:t>
            </a:r>
            <a:r>
              <a:rPr lang="en-US" altLang="zh-TW" sz="2400" i="1" dirty="0">
                <a:sym typeface="Symbol" pitchFamily="18" charset="2"/>
              </a:rPr>
              <a:t>m</a:t>
            </a:r>
            <a:r>
              <a:rPr lang="en-US" altLang="zh-TW" sz="2400" dirty="0">
                <a:sym typeface="Symbol" pitchFamily="18" charset="2"/>
              </a:rPr>
              <a:t>), then </a:t>
            </a:r>
            <a:r>
              <a:rPr lang="en-US" altLang="zh-TW" sz="2400" i="1" dirty="0">
                <a:sym typeface="Symbol" pitchFamily="18" charset="2"/>
              </a:rPr>
              <a:t>b</a:t>
            </a:r>
            <a:r>
              <a:rPr lang="en-US" altLang="zh-TW" sz="2400" dirty="0">
                <a:sym typeface="Symbol" pitchFamily="18" charset="2"/>
              </a:rPr>
              <a:t>  </a:t>
            </a:r>
            <a:r>
              <a:rPr lang="en-US" altLang="zh-TW" sz="2400" i="1" dirty="0">
                <a:sym typeface="Symbol" pitchFamily="18" charset="2"/>
              </a:rPr>
              <a:t>c</a:t>
            </a:r>
            <a:r>
              <a:rPr lang="en-US" altLang="zh-TW" sz="2400" dirty="0">
                <a:sym typeface="Symbol" pitchFamily="18" charset="2"/>
              </a:rPr>
              <a:t> (mod </a:t>
            </a:r>
            <a:r>
              <a:rPr lang="en-US" altLang="zh-TW" sz="2400" i="1" dirty="0">
                <a:sym typeface="Symbol" pitchFamily="18" charset="2"/>
              </a:rPr>
              <a:t>m</a:t>
            </a:r>
            <a:r>
              <a:rPr lang="en-US" altLang="zh-TW" sz="800" i="1" dirty="0">
                <a:sym typeface="Symbol" pitchFamily="18" charset="2"/>
              </a:rPr>
              <a:t> </a:t>
            </a:r>
            <a:r>
              <a:rPr lang="en-US" altLang="zh-TW" sz="2400" i="1" dirty="0">
                <a:sym typeface="Symbol" pitchFamily="18" charset="2"/>
              </a:rPr>
              <a:t>/d</a:t>
            </a:r>
            <a:r>
              <a:rPr lang="en-US" altLang="zh-TW" sz="2400" dirty="0">
                <a:sym typeface="Symbol" pitchFamily="18" charset="2"/>
              </a:rPr>
              <a:t>)</a:t>
            </a:r>
          </a:p>
          <a:p>
            <a:pPr lvl="2" eaLnBrk="1" hangingPunct="1">
              <a:buClr>
                <a:schemeClr val="accent2"/>
              </a:buClr>
            </a:pPr>
            <a:r>
              <a:rPr lang="en-US" altLang="zh-TW" sz="2000" b="1" dirty="0">
                <a:sym typeface="Symbol" pitchFamily="18" charset="2"/>
              </a:rPr>
              <a:t>Example</a:t>
            </a:r>
            <a:r>
              <a:rPr lang="en-US" altLang="zh-TW" sz="2000" dirty="0">
                <a:sym typeface="Symbol" pitchFamily="18" charset="2"/>
              </a:rPr>
              <a:t>  6</a:t>
            </a:r>
            <a:r>
              <a:rPr lang="en-US" altLang="zh-TW" sz="800" i="1" dirty="0">
                <a:solidFill>
                  <a:srgbClr val="000000"/>
                </a:solidFill>
                <a:cs typeface="+mn-cs"/>
                <a:sym typeface="Symbol" pitchFamily="18" charset="2"/>
              </a:rPr>
              <a:t> </a:t>
            </a:r>
            <a:r>
              <a:rPr lang="en-US" altLang="zh-TW" sz="2000" dirty="0">
                <a:sym typeface="Symbol" pitchFamily="18" charset="2"/>
              </a:rPr>
              <a:t></a:t>
            </a:r>
            <a:r>
              <a:rPr lang="en-US" altLang="zh-TW" sz="800" i="1" dirty="0">
                <a:solidFill>
                  <a:srgbClr val="000000"/>
                </a:solidFill>
                <a:cs typeface="+mn-cs"/>
                <a:sym typeface="Symbol" pitchFamily="18" charset="2"/>
              </a:rPr>
              <a:t> </a:t>
            </a:r>
            <a:r>
              <a:rPr lang="en-US" altLang="zh-TW" sz="2000" dirty="0">
                <a:sym typeface="Symbol" pitchFamily="18" charset="2"/>
              </a:rPr>
              <a:t>2  6</a:t>
            </a:r>
            <a:r>
              <a:rPr lang="en-US" altLang="zh-TW" sz="800" i="1" dirty="0">
                <a:solidFill>
                  <a:srgbClr val="000000"/>
                </a:solidFill>
                <a:cs typeface="+mn-cs"/>
                <a:sym typeface="Symbol" pitchFamily="18" charset="2"/>
              </a:rPr>
              <a:t> </a:t>
            </a:r>
            <a:r>
              <a:rPr lang="en-US" altLang="zh-TW" sz="2000" dirty="0">
                <a:sym typeface="Symbol" pitchFamily="18" charset="2"/>
              </a:rPr>
              <a:t></a:t>
            </a:r>
            <a:r>
              <a:rPr lang="en-US" altLang="zh-TW" sz="800" i="1" dirty="0">
                <a:solidFill>
                  <a:srgbClr val="000000"/>
                </a:solidFill>
                <a:cs typeface="+mn-cs"/>
                <a:sym typeface="Symbol" pitchFamily="18" charset="2"/>
              </a:rPr>
              <a:t> </a:t>
            </a:r>
            <a:r>
              <a:rPr lang="en-US" altLang="zh-TW" sz="2000" dirty="0">
                <a:sym typeface="Symbol" pitchFamily="18" charset="2"/>
              </a:rPr>
              <a:t>7 (mod 15)  2  7 (mod 5), not (mod 15)</a:t>
            </a:r>
          </a:p>
          <a:p>
            <a:pPr lvl="2" eaLnBrk="1" hangingPunct="1"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TW" sz="1400" dirty="0">
                <a:solidFill>
                  <a:schemeClr val="accent2"/>
                </a:solidFill>
                <a:sym typeface="Symbol" pitchFamily="18" charset="2"/>
              </a:rPr>
              <a:t>8)</a:t>
            </a:r>
            <a:r>
              <a:rPr lang="en-US" altLang="zh-TW" sz="2000" dirty="0">
                <a:sym typeface="Symbol" pitchFamily="18" charset="2"/>
              </a:rPr>
              <a:t>  In particular, if  </a:t>
            </a:r>
            <a:r>
              <a:rPr lang="en-US" altLang="zh-TW" sz="2000" i="1" dirty="0"/>
              <a:t>a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Symbol" pitchFamily="18" charset="2"/>
              </a:rPr>
              <a:t></a:t>
            </a:r>
            <a:r>
              <a:rPr lang="en-US" altLang="zh-TW" sz="2000" dirty="0"/>
              <a:t> </a:t>
            </a:r>
            <a:r>
              <a:rPr lang="en-US" altLang="zh-TW" sz="2000" i="1" dirty="0"/>
              <a:t>m</a:t>
            </a:r>
            <a:r>
              <a:rPr lang="en-US" altLang="zh-TW" sz="2000" dirty="0">
                <a:sym typeface="Symbol" pitchFamily="18" charset="2"/>
              </a:rPr>
              <a:t>,  </a:t>
            </a:r>
            <a:r>
              <a:rPr lang="en-US" altLang="zh-TW" sz="2000" i="1" dirty="0" err="1">
                <a:sym typeface="Symbol" pitchFamily="18" charset="2"/>
              </a:rPr>
              <a:t>ab</a:t>
            </a:r>
            <a:r>
              <a:rPr lang="en-US" altLang="zh-TW" sz="2000" dirty="0">
                <a:sym typeface="Symbol" pitchFamily="18" charset="2"/>
              </a:rPr>
              <a:t>  </a:t>
            </a:r>
            <a:r>
              <a:rPr lang="en-US" altLang="zh-TW" sz="2000" i="1" dirty="0">
                <a:sym typeface="Symbol" pitchFamily="18" charset="2"/>
              </a:rPr>
              <a:t>ac</a:t>
            </a:r>
            <a:r>
              <a:rPr lang="en-US" altLang="zh-TW" sz="2000" dirty="0">
                <a:sym typeface="Symbol" pitchFamily="18" charset="2"/>
              </a:rPr>
              <a:t> (mod </a:t>
            </a:r>
            <a:r>
              <a:rPr lang="en-US" altLang="zh-TW" sz="2000" i="1" dirty="0">
                <a:sym typeface="Symbol" pitchFamily="18" charset="2"/>
              </a:rPr>
              <a:t>m</a:t>
            </a:r>
            <a:r>
              <a:rPr lang="en-US" altLang="zh-TW" sz="2000" dirty="0">
                <a:sym typeface="Symbol" pitchFamily="18" charset="2"/>
              </a:rPr>
              <a:t>),  then  </a:t>
            </a:r>
            <a:r>
              <a:rPr lang="en-US" altLang="zh-TW" sz="2000" i="1" dirty="0">
                <a:sym typeface="Symbol" pitchFamily="18" charset="2"/>
              </a:rPr>
              <a:t>b</a:t>
            </a:r>
            <a:r>
              <a:rPr lang="en-US" altLang="zh-TW" sz="2000" dirty="0">
                <a:sym typeface="Symbol" pitchFamily="18" charset="2"/>
              </a:rPr>
              <a:t>  </a:t>
            </a:r>
            <a:r>
              <a:rPr lang="en-US" altLang="zh-TW" sz="2000" i="1" dirty="0">
                <a:sym typeface="Symbol" pitchFamily="18" charset="2"/>
              </a:rPr>
              <a:t>c</a:t>
            </a:r>
            <a:r>
              <a:rPr lang="en-US" altLang="zh-TW" sz="2000" dirty="0">
                <a:sym typeface="Symbol" pitchFamily="18" charset="2"/>
              </a:rPr>
              <a:t> (mod </a:t>
            </a:r>
            <a:r>
              <a:rPr lang="en-US" altLang="zh-TW" sz="2000" i="1" dirty="0">
                <a:sym typeface="Symbol" pitchFamily="18" charset="2"/>
              </a:rPr>
              <a:t>m</a:t>
            </a:r>
            <a:r>
              <a:rPr lang="en-US" altLang="zh-TW" sz="2000" dirty="0">
                <a:sym typeface="Symbol" pitchFamily="18" charset="2"/>
              </a:rPr>
              <a:t>)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4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4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4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4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4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4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4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4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84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4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43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843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148FA2BD-84AA-4698-A159-55EA18E2E10E}" type="slidenum">
              <a:rPr kumimoji="0" lang="en-US" altLang="zh-TW" smtClean="0"/>
              <a:pPr eaLnBrk="1" hangingPunct="1"/>
              <a:t>29</a:t>
            </a:fld>
            <a:endParaRPr kumimoji="0" lang="en-US" altLang="zh-TW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Modular Arithmetic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400" b="1" dirty="0"/>
              <a:t>Proof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i="1" dirty="0">
                <a:solidFill>
                  <a:schemeClr val="accent2"/>
                </a:solidFill>
              </a:rPr>
              <a:t>	</a:t>
            </a:r>
            <a:r>
              <a:rPr lang="en-US" altLang="zh-TW" sz="2400" dirty="0">
                <a:solidFill>
                  <a:schemeClr val="accent2"/>
                </a:solidFill>
              </a:rPr>
              <a:t>5)</a:t>
            </a:r>
            <a:r>
              <a:rPr lang="en-US" altLang="zh-TW" sz="2400" dirty="0"/>
              <a:t>   </a:t>
            </a:r>
            <a:r>
              <a:rPr lang="en-US" altLang="zh-TW" sz="2400" i="1" dirty="0">
                <a:sym typeface="Symbol" pitchFamily="18" charset="2"/>
              </a:rPr>
              <a:t>a</a:t>
            </a:r>
            <a:r>
              <a:rPr lang="en-US" altLang="zh-TW" sz="2400" dirty="0">
                <a:sym typeface="Symbol" pitchFamily="18" charset="2"/>
              </a:rPr>
              <a:t>  </a:t>
            </a:r>
            <a:r>
              <a:rPr lang="en-US" altLang="zh-TW" sz="2400" i="1" dirty="0">
                <a:sym typeface="Symbol" pitchFamily="18" charset="2"/>
              </a:rPr>
              <a:t>b</a:t>
            </a:r>
            <a:r>
              <a:rPr lang="en-US" altLang="zh-TW" sz="2400" dirty="0">
                <a:sym typeface="Symbol" pitchFamily="18" charset="2"/>
              </a:rPr>
              <a:t>  (mod </a:t>
            </a:r>
            <a:r>
              <a:rPr lang="en-US" altLang="zh-TW" sz="2400" i="1" dirty="0">
                <a:sym typeface="Symbol" pitchFamily="18" charset="2"/>
              </a:rPr>
              <a:t>m</a:t>
            </a:r>
            <a:r>
              <a:rPr lang="en-US" altLang="zh-TW" sz="2400" dirty="0">
                <a:sym typeface="Symbol" pitchFamily="18" charset="2"/>
              </a:rPr>
              <a:t>)    </a:t>
            </a:r>
            <a:r>
              <a:rPr lang="en-US" altLang="zh-TW" sz="2400" i="1" dirty="0"/>
              <a:t>m </a:t>
            </a:r>
            <a:r>
              <a:rPr lang="en-US" altLang="zh-TW" sz="2400" dirty="0"/>
              <a:t>|</a:t>
            </a:r>
            <a:r>
              <a:rPr lang="en-US" altLang="zh-TW" sz="2400" baseline="-25000" dirty="0"/>
              <a:t> </a:t>
            </a:r>
            <a:r>
              <a:rPr lang="en-US" altLang="zh-TW" sz="2400" dirty="0"/>
              <a:t>(</a:t>
            </a:r>
            <a:r>
              <a:rPr lang="en-US" altLang="zh-TW" sz="2400" i="1" dirty="0"/>
              <a:t>a</a:t>
            </a:r>
            <a:r>
              <a:rPr lang="en-US" altLang="zh-TW" sz="2400" i="1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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i="1" dirty="0"/>
              <a:t>b</a:t>
            </a:r>
            <a:r>
              <a:rPr lang="en-US" altLang="zh-TW" sz="2400" dirty="0"/>
              <a:t>)  </a:t>
            </a:r>
            <a:r>
              <a:rPr lang="en-US" altLang="zh-TW" sz="2400" dirty="0">
                <a:sym typeface="Symbol" pitchFamily="18" charset="2"/>
              </a:rPr>
              <a:t> </a:t>
            </a:r>
          </a:p>
          <a:p>
            <a:pPr eaLnBrk="1" hangingPunct="1">
              <a:buNone/>
            </a:pPr>
            <a:r>
              <a:rPr lang="en-US" altLang="zh-TW" sz="2400" dirty="0">
                <a:sym typeface="Symbol" pitchFamily="18" charset="2"/>
              </a:rPr>
              <a:t>		</a:t>
            </a:r>
            <a:r>
              <a:rPr lang="en-US" altLang="zh-TW" sz="2400" i="1" dirty="0">
                <a:sym typeface="Symbol" pitchFamily="18" charset="2"/>
              </a:rPr>
              <a:t>m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dirty="0">
                <a:sym typeface="Symbol" pitchFamily="18" charset="2"/>
              </a:rPr>
              <a:t>|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dirty="0"/>
              <a:t>(</a:t>
            </a:r>
            <a:r>
              <a:rPr lang="en-US" altLang="zh-TW" sz="2400" i="1" dirty="0"/>
              <a:t>a</a:t>
            </a:r>
            <a:r>
              <a:rPr lang="en-US" altLang="zh-TW" sz="2400" i="1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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i="1" dirty="0"/>
              <a:t>b</a:t>
            </a:r>
            <a:r>
              <a:rPr lang="en-US" altLang="zh-TW" sz="2400" dirty="0"/>
              <a:t>) </a:t>
            </a:r>
            <a:r>
              <a:rPr lang="en-US" altLang="zh-TW" sz="2400" dirty="0">
                <a:sym typeface="Symbol" pitchFamily="18" charset="2"/>
              </a:rPr>
              <a:t>(</a:t>
            </a:r>
            <a:r>
              <a:rPr lang="en-US" altLang="zh-TW" sz="2400" i="1" dirty="0">
                <a:sym typeface="Symbol" pitchFamily="18" charset="2"/>
              </a:rPr>
              <a:t>a</a:t>
            </a:r>
            <a:r>
              <a:rPr lang="en-US" altLang="zh-TW" sz="2400" i="1" baseline="30000" dirty="0">
                <a:sym typeface="Symbol" pitchFamily="18" charset="2"/>
              </a:rPr>
              <a:t>d</a:t>
            </a:r>
            <a:r>
              <a:rPr lang="en-US" altLang="zh-TW" sz="800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400" baseline="30000" dirty="0">
                <a:sym typeface="Symbol" pitchFamily="18" charset="2"/>
              </a:rPr>
              <a:t>1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dirty="0">
                <a:sym typeface="Symbol" pitchFamily="18" charset="2"/>
              </a:rPr>
              <a:t>+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i="1" dirty="0">
                <a:sym typeface="Symbol" pitchFamily="18" charset="2"/>
              </a:rPr>
              <a:t>a</a:t>
            </a:r>
            <a:r>
              <a:rPr lang="en-US" altLang="zh-TW" sz="2400" i="1" baseline="30000" dirty="0">
                <a:sym typeface="Symbol" pitchFamily="18" charset="2"/>
              </a:rPr>
              <a:t>d</a:t>
            </a:r>
            <a:r>
              <a:rPr lang="en-US" altLang="zh-TW" sz="800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400" baseline="30000" dirty="0">
                <a:sym typeface="Symbol" pitchFamily="18" charset="2"/>
              </a:rPr>
              <a:t>2</a:t>
            </a:r>
            <a:r>
              <a:rPr lang="en-US" altLang="zh-TW" sz="2400" i="1" dirty="0">
                <a:sym typeface="Symbol" pitchFamily="18" charset="2"/>
              </a:rPr>
              <a:t>b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dirty="0">
                <a:sym typeface="Symbol" pitchFamily="18" charset="2"/>
              </a:rPr>
              <a:t>+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dirty="0">
                <a:sym typeface="Symbol" pitchFamily="18" charset="2"/>
              </a:rPr>
              <a:t>…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dirty="0">
                <a:sym typeface="Symbol" pitchFamily="18" charset="2"/>
              </a:rPr>
              <a:t>+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i="1" dirty="0" err="1">
                <a:sym typeface="Symbol" pitchFamily="18" charset="2"/>
              </a:rPr>
              <a:t>b</a:t>
            </a:r>
            <a:r>
              <a:rPr lang="en-US" altLang="zh-TW" sz="2400" i="1" baseline="30000" dirty="0" err="1">
                <a:sym typeface="Symbol" pitchFamily="18" charset="2"/>
              </a:rPr>
              <a:t>d</a:t>
            </a:r>
            <a:r>
              <a:rPr lang="en-US" altLang="zh-TW" sz="800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400" baseline="30000" dirty="0">
                <a:sym typeface="Symbol" pitchFamily="18" charset="2"/>
              </a:rPr>
              <a:t>1</a:t>
            </a:r>
            <a:r>
              <a:rPr lang="en-US" altLang="zh-TW" sz="2400" dirty="0">
                <a:sym typeface="Symbol" pitchFamily="18" charset="2"/>
              </a:rPr>
              <a:t>) = </a:t>
            </a:r>
            <a:r>
              <a:rPr lang="en-US" altLang="zh-TW" sz="2400" i="1" dirty="0">
                <a:sym typeface="Symbol" pitchFamily="18" charset="2"/>
              </a:rPr>
              <a:t>a</a:t>
            </a:r>
            <a:r>
              <a:rPr lang="en-US" altLang="zh-TW" sz="2400" i="1" baseline="30000" dirty="0">
                <a:sym typeface="Symbol" pitchFamily="18" charset="2"/>
              </a:rPr>
              <a:t>d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dirty="0">
                <a:sym typeface="Symbol" pitchFamily="18" charset="2"/>
              </a:rPr>
              <a:t>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i="1" dirty="0" err="1">
                <a:sym typeface="Symbol" pitchFamily="18" charset="2"/>
              </a:rPr>
              <a:t>b</a:t>
            </a:r>
            <a:r>
              <a:rPr lang="en-US" altLang="zh-TW" sz="2400" i="1" baseline="30000" dirty="0" err="1">
                <a:sym typeface="Symbol" pitchFamily="18" charset="2"/>
              </a:rPr>
              <a:t>d</a:t>
            </a:r>
            <a:r>
              <a:rPr lang="en-US" altLang="zh-TW" sz="2400" dirty="0">
                <a:sym typeface="Symbol" pitchFamily="18" charset="2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>
                <a:sym typeface="Symbol" pitchFamily="18" charset="2"/>
              </a:rPr>
              <a:t>	</a:t>
            </a:r>
            <a:r>
              <a:rPr lang="en-US" altLang="zh-TW" sz="2400" dirty="0">
                <a:solidFill>
                  <a:schemeClr val="accent2"/>
                </a:solidFill>
                <a:sym typeface="Symbol" pitchFamily="18" charset="2"/>
              </a:rPr>
              <a:t>7)   </a:t>
            </a:r>
            <a:r>
              <a:rPr lang="en-US" altLang="zh-TW" sz="2400" dirty="0">
                <a:sym typeface="Symbol" pitchFamily="18" charset="2"/>
              </a:rPr>
              <a:t>We have  </a:t>
            </a:r>
            <a:r>
              <a:rPr lang="en-US" altLang="zh-TW" sz="2400" i="1" dirty="0"/>
              <a:t>d</a:t>
            </a:r>
            <a:r>
              <a:rPr lang="en-US" altLang="zh-TW" sz="2400" dirty="0"/>
              <a:t> = </a:t>
            </a:r>
            <a:r>
              <a:rPr lang="en-US" altLang="zh-TW" sz="2400" i="1" dirty="0"/>
              <a:t>ax</a:t>
            </a:r>
            <a:r>
              <a:rPr lang="en-US" altLang="zh-TW" sz="2400" baseline="-25000" dirty="0"/>
              <a:t> </a:t>
            </a:r>
            <a:r>
              <a:rPr lang="en-US" altLang="zh-TW" sz="2400" dirty="0"/>
              <a:t>+</a:t>
            </a:r>
            <a:r>
              <a:rPr lang="en-US" altLang="zh-TW" sz="2400" baseline="-25000" dirty="0"/>
              <a:t> </a:t>
            </a:r>
            <a:r>
              <a:rPr lang="en-US" altLang="zh-TW" sz="2400" i="1" dirty="0"/>
              <a:t>my</a:t>
            </a:r>
            <a:r>
              <a:rPr lang="en-US" altLang="zh-TW" sz="2400" dirty="0"/>
              <a:t>  for some</a:t>
            </a:r>
            <a:r>
              <a:rPr lang="en-US" altLang="zh-TW" sz="2400" baseline="-25000" dirty="0"/>
              <a:t>  </a:t>
            </a:r>
            <a:r>
              <a:rPr lang="en-US" altLang="zh-TW" sz="2400" i="1" dirty="0"/>
              <a:t>x</a:t>
            </a:r>
            <a:r>
              <a:rPr lang="en-US" altLang="zh-TW" sz="2400" dirty="0"/>
              <a:t>, </a:t>
            </a:r>
            <a:r>
              <a:rPr lang="en-US" altLang="zh-TW" sz="2400" i="1" dirty="0"/>
              <a:t>y</a:t>
            </a:r>
            <a:r>
              <a:rPr lang="en-US" altLang="zh-TW" sz="2400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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b="1" i="1" dirty="0">
                <a:sym typeface="Symbol" pitchFamily="18" charset="2"/>
              </a:rPr>
              <a:t>Z</a:t>
            </a:r>
            <a:endParaRPr lang="en-US" altLang="zh-TW" sz="2400" dirty="0">
              <a:sym typeface="Symbol" pitchFamily="18" charset="2"/>
            </a:endParaRPr>
          </a:p>
          <a:p>
            <a:pPr lvl="1" eaLnBrk="1" hangingPunct="1">
              <a:buNone/>
            </a:pPr>
            <a:r>
              <a:rPr lang="en-US" altLang="zh-TW" sz="2400" dirty="0"/>
              <a:t>		Hence  (</a:t>
            </a:r>
            <a:r>
              <a:rPr lang="en-US" altLang="zh-TW" sz="2400" i="1" dirty="0"/>
              <a:t>a</a:t>
            </a:r>
            <a:r>
              <a:rPr lang="en-US" altLang="zh-TW" sz="800" i="1" dirty="0">
                <a:solidFill>
                  <a:srgbClr val="000000"/>
                </a:solidFill>
                <a:cs typeface="+mn-cs"/>
                <a:sym typeface="Symbol" pitchFamily="18" charset="2"/>
              </a:rPr>
              <a:t> </a:t>
            </a:r>
            <a:r>
              <a:rPr lang="en-US" altLang="zh-TW" sz="2400" i="1" dirty="0"/>
              <a:t>/d</a:t>
            </a:r>
            <a:r>
              <a:rPr lang="en-US" altLang="zh-TW" sz="2400" dirty="0"/>
              <a:t>)</a:t>
            </a:r>
            <a:r>
              <a:rPr lang="en-US" altLang="zh-TW" sz="2400" i="1" baseline="-25000" dirty="0"/>
              <a:t> </a:t>
            </a:r>
            <a:r>
              <a:rPr lang="en-US" altLang="zh-TW" sz="2400" i="1" dirty="0"/>
              <a:t>x</a:t>
            </a:r>
            <a:r>
              <a:rPr lang="en-US" altLang="zh-TW" sz="2400" baseline="-25000" dirty="0"/>
              <a:t> </a:t>
            </a:r>
            <a:r>
              <a:rPr lang="en-US" altLang="zh-TW" sz="2400" dirty="0"/>
              <a:t>+</a:t>
            </a:r>
            <a:r>
              <a:rPr lang="en-US" altLang="zh-TW" sz="2400" baseline="-25000" dirty="0"/>
              <a:t> </a:t>
            </a:r>
            <a:r>
              <a:rPr lang="en-US" altLang="zh-TW" sz="2400" dirty="0"/>
              <a:t>(</a:t>
            </a:r>
            <a:r>
              <a:rPr lang="en-US" altLang="zh-TW" sz="2400" i="1" dirty="0"/>
              <a:t>m</a:t>
            </a:r>
            <a:r>
              <a:rPr lang="en-US" altLang="zh-TW" sz="800" i="1" dirty="0">
                <a:solidFill>
                  <a:srgbClr val="000000"/>
                </a:solidFill>
                <a:cs typeface="+mn-cs"/>
                <a:sym typeface="Symbol" pitchFamily="18" charset="2"/>
              </a:rPr>
              <a:t> </a:t>
            </a:r>
            <a:r>
              <a:rPr lang="en-US" altLang="zh-TW" sz="2400" i="1" dirty="0"/>
              <a:t>/d</a:t>
            </a:r>
            <a:r>
              <a:rPr lang="en-US" altLang="zh-TW" sz="2400" dirty="0"/>
              <a:t>)</a:t>
            </a:r>
            <a:r>
              <a:rPr lang="en-US" altLang="zh-TW" sz="2400" i="1" baseline="-25000" dirty="0"/>
              <a:t> </a:t>
            </a:r>
            <a:r>
              <a:rPr lang="en-US" altLang="zh-TW" sz="2400" i="1" dirty="0"/>
              <a:t>y</a:t>
            </a:r>
            <a:r>
              <a:rPr lang="en-US" altLang="zh-TW" sz="2400" dirty="0"/>
              <a:t> = 1 where</a:t>
            </a:r>
            <a:r>
              <a:rPr lang="en-US" altLang="zh-TW" sz="2400" baseline="-25000" dirty="0"/>
              <a:t>  </a:t>
            </a:r>
            <a:r>
              <a:rPr lang="en-US" altLang="zh-TW" sz="2400" i="1" dirty="0"/>
              <a:t>a</a:t>
            </a:r>
            <a:r>
              <a:rPr lang="en-US" altLang="zh-TW" sz="800" i="1" dirty="0">
                <a:solidFill>
                  <a:srgbClr val="000000"/>
                </a:solidFill>
                <a:cs typeface="+mn-cs"/>
                <a:sym typeface="Symbol" pitchFamily="18" charset="2"/>
              </a:rPr>
              <a:t> </a:t>
            </a:r>
            <a:r>
              <a:rPr lang="en-US" altLang="zh-TW" sz="2400" i="1" dirty="0"/>
              <a:t>/d</a:t>
            </a:r>
            <a:r>
              <a:rPr lang="en-US" altLang="zh-TW" sz="2400" dirty="0"/>
              <a:t>, </a:t>
            </a:r>
            <a:r>
              <a:rPr lang="en-US" altLang="zh-TW" sz="2400" i="1" dirty="0"/>
              <a:t>m</a:t>
            </a:r>
            <a:r>
              <a:rPr lang="en-US" altLang="zh-TW" sz="800" i="1" dirty="0">
                <a:solidFill>
                  <a:srgbClr val="000000"/>
                </a:solidFill>
                <a:cs typeface="+mn-cs"/>
                <a:sym typeface="Symbol" pitchFamily="18" charset="2"/>
              </a:rPr>
              <a:t> </a:t>
            </a:r>
            <a:r>
              <a:rPr lang="en-US" altLang="zh-TW" sz="2400" i="1" dirty="0"/>
              <a:t>/d</a:t>
            </a:r>
            <a:r>
              <a:rPr lang="en-US" altLang="zh-TW" sz="2400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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b="1" i="1" dirty="0">
                <a:sym typeface="Symbol" pitchFamily="18" charset="2"/>
              </a:rPr>
              <a:t>Z</a:t>
            </a:r>
            <a:endParaRPr lang="en-US" altLang="zh-TW" sz="2400" dirty="0"/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dirty="0"/>
              <a:t>		Multiply by  </a:t>
            </a:r>
            <a:r>
              <a:rPr lang="en-US" altLang="zh-TW" sz="2400" i="1" dirty="0"/>
              <a:t>b</a:t>
            </a:r>
            <a:r>
              <a:rPr lang="en-US" altLang="zh-TW" sz="2400" i="1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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i="1" dirty="0"/>
              <a:t>c</a:t>
            </a:r>
            <a:r>
              <a:rPr lang="en-US" altLang="zh-TW" sz="2400" dirty="0"/>
              <a:t>  </a:t>
            </a:r>
            <a:r>
              <a:rPr lang="en-US" altLang="zh-TW" sz="2400" dirty="0">
                <a:sym typeface="Symbol" pitchFamily="18" charset="2"/>
              </a:rPr>
              <a:t></a:t>
            </a:r>
            <a:r>
              <a:rPr lang="en-US" altLang="zh-TW" sz="2400" dirty="0"/>
              <a:t> </a:t>
            </a:r>
          </a:p>
          <a:p>
            <a:pPr lvl="1" eaLnBrk="1" hangingPunct="1">
              <a:buNone/>
            </a:pPr>
            <a:r>
              <a:rPr lang="en-US" altLang="zh-TW" sz="2400" dirty="0"/>
              <a:t>			 (</a:t>
            </a:r>
            <a:r>
              <a:rPr lang="en-US" altLang="zh-TW" sz="2400" i="1" dirty="0"/>
              <a:t>a</a:t>
            </a:r>
            <a:r>
              <a:rPr lang="en-US" altLang="zh-TW" sz="800" i="1" dirty="0">
                <a:solidFill>
                  <a:srgbClr val="000000"/>
                </a:solidFill>
                <a:cs typeface="+mn-cs"/>
                <a:sym typeface="Symbol" pitchFamily="18" charset="2"/>
              </a:rPr>
              <a:t> </a:t>
            </a:r>
            <a:r>
              <a:rPr lang="en-US" altLang="zh-TW" sz="2400" i="1" dirty="0"/>
              <a:t>/d</a:t>
            </a:r>
            <a:r>
              <a:rPr lang="en-US" altLang="zh-TW" sz="2400" dirty="0"/>
              <a:t>)</a:t>
            </a:r>
            <a:r>
              <a:rPr lang="en-US" altLang="zh-TW" sz="800" i="1" baseline="-25000" dirty="0"/>
              <a:t> </a:t>
            </a:r>
            <a:r>
              <a:rPr lang="en-US" altLang="zh-TW" sz="2400" dirty="0"/>
              <a:t>(</a:t>
            </a:r>
            <a:r>
              <a:rPr lang="en-US" altLang="zh-TW" sz="2400" i="1" dirty="0"/>
              <a:t>b</a:t>
            </a:r>
            <a:r>
              <a:rPr lang="en-US" altLang="zh-TW" sz="2400" i="1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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i="1" dirty="0"/>
              <a:t>c</a:t>
            </a:r>
            <a:r>
              <a:rPr lang="en-US" altLang="zh-TW" sz="2400" dirty="0"/>
              <a:t>)</a:t>
            </a:r>
            <a:r>
              <a:rPr lang="en-US" altLang="zh-TW" sz="2400" baseline="-25000" dirty="0"/>
              <a:t> </a:t>
            </a:r>
            <a:r>
              <a:rPr lang="en-US" altLang="zh-TW" sz="2400" i="1" dirty="0"/>
              <a:t>x</a:t>
            </a:r>
            <a:r>
              <a:rPr lang="en-US" altLang="zh-TW" sz="2400" dirty="0"/>
              <a:t> + (</a:t>
            </a:r>
            <a:r>
              <a:rPr lang="en-US" altLang="zh-TW" sz="2400" i="1" dirty="0"/>
              <a:t>m</a:t>
            </a:r>
            <a:r>
              <a:rPr lang="en-US" altLang="zh-TW" sz="800" i="1" dirty="0">
                <a:solidFill>
                  <a:srgbClr val="000000"/>
                </a:solidFill>
                <a:cs typeface="+mn-cs"/>
                <a:sym typeface="Symbol" pitchFamily="18" charset="2"/>
              </a:rPr>
              <a:t> </a:t>
            </a:r>
            <a:r>
              <a:rPr lang="en-US" altLang="zh-TW" sz="2400" i="1" dirty="0"/>
              <a:t>/d</a:t>
            </a:r>
            <a:r>
              <a:rPr lang="en-US" altLang="zh-TW" sz="2400" dirty="0"/>
              <a:t>)</a:t>
            </a:r>
            <a:r>
              <a:rPr lang="en-US" altLang="zh-TW" sz="800" i="1" baseline="-25000" dirty="0"/>
              <a:t> </a:t>
            </a:r>
            <a:r>
              <a:rPr lang="en-US" altLang="zh-TW" sz="2400" dirty="0"/>
              <a:t>(</a:t>
            </a:r>
            <a:r>
              <a:rPr lang="en-US" altLang="zh-TW" sz="2400" i="1" dirty="0"/>
              <a:t>b</a:t>
            </a:r>
            <a:r>
              <a:rPr lang="en-US" altLang="zh-TW" sz="2400" i="1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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i="1" dirty="0"/>
              <a:t>c</a:t>
            </a:r>
            <a:r>
              <a:rPr lang="en-US" altLang="zh-TW" sz="2400" dirty="0"/>
              <a:t>)</a:t>
            </a:r>
            <a:r>
              <a:rPr lang="en-US" altLang="zh-TW" sz="2400" baseline="-25000" dirty="0"/>
              <a:t> </a:t>
            </a:r>
            <a:r>
              <a:rPr lang="en-US" altLang="zh-TW" sz="2400" i="1" dirty="0"/>
              <a:t>y</a:t>
            </a:r>
            <a:r>
              <a:rPr lang="en-US" altLang="zh-TW" sz="2400" dirty="0"/>
              <a:t> </a:t>
            </a:r>
            <a:r>
              <a:rPr lang="en-US" altLang="zh-TW" sz="2400" i="1" dirty="0"/>
              <a:t>= b</a:t>
            </a:r>
            <a:r>
              <a:rPr lang="en-US" altLang="zh-TW" sz="2400" i="1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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i="1" dirty="0"/>
              <a:t>c</a:t>
            </a:r>
            <a:endParaRPr lang="en-US" altLang="zh-TW" sz="2400" dirty="0"/>
          </a:p>
          <a:p>
            <a:pPr lvl="1" eaLnBrk="1" hangingPunct="1">
              <a:buNone/>
            </a:pPr>
            <a:r>
              <a:rPr lang="en-US" altLang="zh-TW" sz="2400" dirty="0"/>
              <a:t>		By assumption  </a:t>
            </a:r>
            <a:r>
              <a:rPr lang="en-US" altLang="zh-TW" sz="2400" i="1" dirty="0"/>
              <a:t>m</a:t>
            </a:r>
            <a:r>
              <a:rPr lang="en-US" altLang="zh-TW" sz="2400" baseline="-25000" dirty="0"/>
              <a:t> </a:t>
            </a:r>
            <a:r>
              <a:rPr lang="en-US" altLang="zh-TW" sz="2400" dirty="0"/>
              <a:t>|</a:t>
            </a:r>
            <a:r>
              <a:rPr lang="en-US" altLang="zh-TW" sz="2400" baseline="-25000" dirty="0"/>
              <a:t> </a:t>
            </a:r>
            <a:r>
              <a:rPr lang="en-US" altLang="zh-TW" sz="2400" i="1" dirty="0">
                <a:sym typeface="Symbol" pitchFamily="18" charset="2"/>
              </a:rPr>
              <a:t>a</a:t>
            </a:r>
            <a:r>
              <a:rPr lang="en-US" altLang="zh-TW" sz="2400" dirty="0"/>
              <a:t>(</a:t>
            </a:r>
            <a:r>
              <a:rPr lang="en-US" altLang="zh-TW" sz="2400" i="1" dirty="0"/>
              <a:t>b</a:t>
            </a:r>
            <a:r>
              <a:rPr lang="en-US" altLang="zh-TW" sz="2400" i="1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</a:t>
            </a:r>
            <a:r>
              <a:rPr lang="en-US" altLang="zh-TW" sz="2400" i="1" baseline="-25000" dirty="0"/>
              <a:t> </a:t>
            </a:r>
            <a:r>
              <a:rPr lang="en-US" altLang="zh-TW" sz="2400" i="1" dirty="0"/>
              <a:t>c</a:t>
            </a:r>
            <a:r>
              <a:rPr lang="en-US" altLang="zh-TW" sz="2400" dirty="0"/>
              <a:t>)</a:t>
            </a:r>
            <a:r>
              <a:rPr lang="en-US" altLang="zh-TW" sz="2400" baseline="-25000" dirty="0"/>
              <a:t>  </a:t>
            </a:r>
            <a:r>
              <a:rPr lang="en-US" altLang="zh-TW" sz="2400" dirty="0">
                <a:sym typeface="Symbol" pitchFamily="18" charset="2"/>
              </a:rPr>
              <a:t></a:t>
            </a:r>
            <a:r>
              <a:rPr lang="en-US" altLang="zh-TW" sz="2400" baseline="-25000" dirty="0">
                <a:sym typeface="Symbol" pitchFamily="18" charset="2"/>
              </a:rPr>
              <a:t>  </a:t>
            </a:r>
            <a:r>
              <a:rPr lang="en-US" altLang="zh-TW" sz="2400" dirty="0">
                <a:sym typeface="Symbol" pitchFamily="18" charset="2"/>
              </a:rPr>
              <a:t>(</a:t>
            </a:r>
            <a:r>
              <a:rPr lang="en-US" altLang="zh-TW" sz="2400" i="1" dirty="0"/>
              <a:t>m</a:t>
            </a:r>
            <a:r>
              <a:rPr lang="en-US" altLang="zh-TW" sz="800" i="1" dirty="0">
                <a:solidFill>
                  <a:srgbClr val="000000"/>
                </a:solidFill>
                <a:cs typeface="+mn-cs"/>
                <a:sym typeface="Symbol" pitchFamily="18" charset="2"/>
              </a:rPr>
              <a:t> </a:t>
            </a:r>
            <a:r>
              <a:rPr lang="en-US" altLang="zh-TW" sz="2400" i="1" dirty="0"/>
              <a:t>/d</a:t>
            </a:r>
            <a:r>
              <a:rPr lang="en-US" altLang="zh-TW" sz="2400" dirty="0"/>
              <a:t>)</a:t>
            </a:r>
            <a:r>
              <a:rPr lang="en-US" altLang="zh-TW" sz="2400" baseline="-25000" dirty="0"/>
              <a:t> </a:t>
            </a:r>
            <a:r>
              <a:rPr lang="en-US" altLang="zh-TW" sz="2400" dirty="0"/>
              <a:t>|</a:t>
            </a:r>
            <a:r>
              <a:rPr lang="en-US" altLang="zh-TW" sz="2400" baseline="-25000" dirty="0"/>
              <a:t> </a:t>
            </a:r>
            <a:r>
              <a:rPr lang="en-US" altLang="zh-TW" sz="2400" dirty="0"/>
              <a:t>(</a:t>
            </a:r>
            <a:r>
              <a:rPr lang="en-US" altLang="zh-TW" sz="2400" i="1" dirty="0"/>
              <a:t>a</a:t>
            </a:r>
            <a:r>
              <a:rPr lang="en-US" altLang="zh-TW" sz="800" i="1" dirty="0">
                <a:solidFill>
                  <a:srgbClr val="000000"/>
                </a:solidFill>
                <a:cs typeface="+mn-cs"/>
                <a:sym typeface="Symbol" pitchFamily="18" charset="2"/>
              </a:rPr>
              <a:t> </a:t>
            </a:r>
            <a:r>
              <a:rPr lang="en-US" altLang="zh-TW" sz="2400" i="1" dirty="0"/>
              <a:t>/d</a:t>
            </a:r>
            <a:r>
              <a:rPr lang="en-US" altLang="zh-TW" sz="2400" dirty="0"/>
              <a:t>)(</a:t>
            </a:r>
            <a:r>
              <a:rPr lang="en-US" altLang="zh-TW" sz="2400" i="1" dirty="0"/>
              <a:t>b</a:t>
            </a:r>
            <a:r>
              <a:rPr lang="en-US" altLang="zh-TW" sz="2400" i="1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</a:t>
            </a:r>
            <a:r>
              <a:rPr lang="en-US" altLang="zh-TW" sz="2400" i="1" baseline="-25000" dirty="0"/>
              <a:t> </a:t>
            </a:r>
            <a:r>
              <a:rPr lang="en-US" altLang="zh-TW" sz="2400" i="1" dirty="0"/>
              <a:t>c</a:t>
            </a:r>
            <a:r>
              <a:rPr lang="en-US" altLang="zh-TW" sz="2400" dirty="0"/>
              <a:t>) 	  </a:t>
            </a:r>
            <a:r>
              <a:rPr lang="en-US" altLang="zh-TW" sz="2400" dirty="0">
                <a:sym typeface="Symbol" pitchFamily="18" charset="2"/>
              </a:rPr>
              <a:t></a:t>
            </a:r>
            <a:r>
              <a:rPr lang="en-US" altLang="zh-TW" sz="2400" dirty="0"/>
              <a:t>  </a:t>
            </a:r>
            <a:r>
              <a:rPr lang="en-US" altLang="zh-TW" sz="2400" dirty="0">
                <a:sym typeface="Symbol" pitchFamily="18" charset="2"/>
              </a:rPr>
              <a:t>(</a:t>
            </a:r>
            <a:r>
              <a:rPr lang="en-US" altLang="zh-TW" sz="2400" i="1" dirty="0"/>
              <a:t>m</a:t>
            </a:r>
            <a:r>
              <a:rPr lang="en-US" altLang="zh-TW" sz="800" i="1" dirty="0">
                <a:solidFill>
                  <a:srgbClr val="000000"/>
                </a:solidFill>
                <a:cs typeface="+mn-cs"/>
                <a:sym typeface="Symbol" pitchFamily="18" charset="2"/>
              </a:rPr>
              <a:t> </a:t>
            </a:r>
            <a:r>
              <a:rPr lang="en-US" altLang="zh-TW" sz="2400" i="1" dirty="0"/>
              <a:t>/d</a:t>
            </a:r>
            <a:r>
              <a:rPr lang="en-US" altLang="zh-TW" sz="2400" dirty="0"/>
              <a:t>)</a:t>
            </a:r>
            <a:r>
              <a:rPr lang="en-US" altLang="zh-TW" sz="2400" baseline="-25000" dirty="0"/>
              <a:t> </a:t>
            </a:r>
            <a:r>
              <a:rPr lang="en-US" altLang="zh-TW" sz="2400" dirty="0"/>
              <a:t>|</a:t>
            </a:r>
            <a:r>
              <a:rPr lang="en-US" altLang="zh-TW" sz="2400" baseline="-25000" dirty="0"/>
              <a:t> </a:t>
            </a:r>
            <a:r>
              <a:rPr lang="en-US" altLang="zh-TW" sz="2400" dirty="0"/>
              <a:t>[(</a:t>
            </a:r>
            <a:r>
              <a:rPr lang="en-US" altLang="zh-TW" sz="2400" i="1" dirty="0"/>
              <a:t>a</a:t>
            </a:r>
            <a:r>
              <a:rPr lang="en-US" altLang="zh-TW" sz="800" i="1" dirty="0">
                <a:solidFill>
                  <a:srgbClr val="000000"/>
                </a:solidFill>
                <a:cs typeface="+mn-cs"/>
                <a:sym typeface="Symbol" pitchFamily="18" charset="2"/>
              </a:rPr>
              <a:t> </a:t>
            </a:r>
            <a:r>
              <a:rPr lang="en-US" altLang="zh-TW" sz="2400" i="1" dirty="0"/>
              <a:t>/d</a:t>
            </a:r>
            <a:r>
              <a:rPr lang="en-US" altLang="zh-TW" sz="2400" dirty="0"/>
              <a:t>)(</a:t>
            </a:r>
            <a:r>
              <a:rPr lang="en-US" altLang="zh-TW" sz="2400" i="1" dirty="0"/>
              <a:t>b</a:t>
            </a:r>
            <a:r>
              <a:rPr lang="en-US" altLang="zh-TW" sz="2400" i="1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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i="1" dirty="0"/>
              <a:t>c</a:t>
            </a:r>
            <a:r>
              <a:rPr lang="en-US" altLang="zh-TW" sz="2400" dirty="0"/>
              <a:t>)</a:t>
            </a:r>
            <a:r>
              <a:rPr lang="en-US" altLang="zh-TW" sz="2400" i="1" dirty="0"/>
              <a:t>x</a:t>
            </a:r>
            <a:r>
              <a:rPr lang="en-US" altLang="zh-TW" sz="2400" baseline="-25000" dirty="0"/>
              <a:t> </a:t>
            </a:r>
            <a:r>
              <a:rPr lang="en-US" altLang="zh-TW" sz="2400" dirty="0"/>
              <a:t>+</a:t>
            </a:r>
            <a:r>
              <a:rPr lang="en-US" altLang="zh-TW" sz="2400" baseline="-25000" dirty="0"/>
              <a:t> </a:t>
            </a:r>
            <a:r>
              <a:rPr lang="en-US" altLang="zh-TW" sz="2400" dirty="0"/>
              <a:t>(</a:t>
            </a:r>
            <a:r>
              <a:rPr lang="en-US" altLang="zh-TW" sz="2400" i="1" dirty="0"/>
              <a:t>m</a:t>
            </a:r>
            <a:r>
              <a:rPr lang="en-US" altLang="zh-TW" sz="800" i="1" dirty="0">
                <a:solidFill>
                  <a:srgbClr val="000000"/>
                </a:solidFill>
                <a:cs typeface="+mn-cs"/>
                <a:sym typeface="Symbol" pitchFamily="18" charset="2"/>
              </a:rPr>
              <a:t> </a:t>
            </a:r>
            <a:r>
              <a:rPr lang="en-US" altLang="zh-TW" sz="2400" i="1" dirty="0"/>
              <a:t>/d</a:t>
            </a:r>
            <a:r>
              <a:rPr lang="en-US" altLang="zh-TW" sz="2400" dirty="0"/>
              <a:t>)(</a:t>
            </a:r>
            <a:r>
              <a:rPr lang="en-US" altLang="zh-TW" sz="2400" i="1" dirty="0"/>
              <a:t>b</a:t>
            </a:r>
            <a:r>
              <a:rPr lang="en-US" altLang="zh-TW" sz="2400" i="1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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i="1" dirty="0"/>
              <a:t>c</a:t>
            </a:r>
            <a:r>
              <a:rPr lang="en-US" altLang="zh-TW" sz="2400" dirty="0"/>
              <a:t>)</a:t>
            </a:r>
            <a:r>
              <a:rPr lang="en-US" altLang="zh-TW" sz="2400" i="1" dirty="0"/>
              <a:t>y</a:t>
            </a:r>
            <a:r>
              <a:rPr lang="en-US" altLang="zh-TW" sz="2400" dirty="0"/>
              <a:t>] </a:t>
            </a:r>
            <a:r>
              <a:rPr lang="en-US" altLang="zh-TW" sz="2400" i="1" dirty="0"/>
              <a:t>= b</a:t>
            </a:r>
            <a:r>
              <a:rPr lang="en-US" altLang="zh-TW" sz="2400" i="1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</a:t>
            </a:r>
            <a:r>
              <a:rPr lang="en-US" altLang="zh-TW" sz="2400" baseline="-25000" dirty="0">
                <a:sym typeface="Symbol" pitchFamily="18" charset="2"/>
              </a:rPr>
              <a:t> </a:t>
            </a:r>
            <a:r>
              <a:rPr lang="en-US" altLang="zh-TW" sz="2400" i="1" dirty="0"/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5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5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5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5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5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5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5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5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5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952ACF27-EBF0-4F71-824F-09BED67991CF}" type="slidenum">
              <a:rPr kumimoji="0" lang="en-US" altLang="zh-TW" smtClean="0"/>
              <a:pPr eaLnBrk="1" hangingPunct="1"/>
              <a:t>30</a:t>
            </a:fld>
            <a:endParaRPr kumimoji="0" lang="en-US" altLang="zh-TW" dirty="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Inverse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91513" cy="4411662"/>
          </a:xfrm>
        </p:spPr>
        <p:txBody>
          <a:bodyPr/>
          <a:lstStyle/>
          <a:p>
            <a:pPr eaLnBrk="1" hangingPunct="1"/>
            <a:r>
              <a:rPr lang="en-US" altLang="zh-TW" b="1" dirty="0"/>
              <a:t>Definition</a:t>
            </a:r>
            <a:r>
              <a:rPr lang="en-US" altLang="zh-TW" dirty="0"/>
              <a:t>  </a:t>
            </a:r>
            <a:r>
              <a:rPr lang="en-US" altLang="zh-TW" sz="2600" dirty="0"/>
              <a:t>The </a:t>
            </a:r>
            <a:r>
              <a:rPr lang="en-US" altLang="zh-TW" sz="2600" b="1" dirty="0">
                <a:solidFill>
                  <a:srgbClr val="9900CC"/>
                </a:solidFill>
              </a:rPr>
              <a:t>inverse</a:t>
            </a:r>
            <a:r>
              <a:rPr lang="en-US" altLang="zh-TW" sz="2600" dirty="0"/>
              <a:t> of</a:t>
            </a:r>
            <a:r>
              <a:rPr lang="en-US" altLang="zh-TW" sz="2600" baseline="-25000" dirty="0"/>
              <a:t>  </a:t>
            </a:r>
            <a:r>
              <a:rPr lang="en-US" altLang="zh-TW" sz="2600" i="1" dirty="0"/>
              <a:t>a</a:t>
            </a:r>
            <a:r>
              <a:rPr lang="en-US" altLang="zh-TW" sz="2600" baseline="-25000" dirty="0"/>
              <a:t>  </a:t>
            </a:r>
            <a:r>
              <a:rPr lang="en-US" altLang="zh-TW" sz="2600" dirty="0"/>
              <a:t>modulo</a:t>
            </a:r>
            <a:r>
              <a:rPr lang="en-US" altLang="zh-TW" sz="2600" baseline="-25000" dirty="0"/>
              <a:t>  </a:t>
            </a:r>
            <a:r>
              <a:rPr lang="en-US" altLang="zh-TW" sz="2600" i="1" dirty="0"/>
              <a:t>m</a:t>
            </a:r>
            <a:r>
              <a:rPr lang="en-US" altLang="zh-TW" sz="2600" dirty="0"/>
              <a:t>  </a:t>
            </a:r>
            <a:r>
              <a:rPr lang="en-US" altLang="zh-TW" sz="2400" dirty="0"/>
              <a:t>[denoted as  </a:t>
            </a:r>
            <a:r>
              <a:rPr lang="en-US" altLang="zh-TW" sz="2400" i="1" dirty="0"/>
              <a:t>a</a:t>
            </a:r>
            <a:r>
              <a:rPr lang="en-US" altLang="zh-TW" sz="900" baseline="30000" dirty="0"/>
              <a:t> </a:t>
            </a:r>
            <a:r>
              <a:rPr lang="en-US" altLang="zh-TW" sz="2400" baseline="30000" dirty="0">
                <a:sym typeface="Symbol"/>
              </a:rPr>
              <a:t></a:t>
            </a:r>
            <a:r>
              <a:rPr lang="en-US" altLang="zh-TW" sz="2400" baseline="30000" dirty="0"/>
              <a:t>1</a:t>
            </a:r>
            <a:r>
              <a:rPr lang="en-US" altLang="zh-TW" sz="2400" dirty="0"/>
              <a:t> mod </a:t>
            </a:r>
            <a:r>
              <a:rPr lang="en-US" altLang="zh-TW" sz="2400" i="1" dirty="0"/>
              <a:t>m</a:t>
            </a:r>
            <a:r>
              <a:rPr lang="en-US" altLang="zh-TW" sz="2400" dirty="0"/>
              <a:t>]</a:t>
            </a:r>
            <a:r>
              <a:rPr lang="en-US" altLang="zh-TW" sz="2600" dirty="0"/>
              <a:t>  is the smallest positive integer </a:t>
            </a:r>
            <a:r>
              <a:rPr lang="en-US" altLang="zh-TW" sz="2600" dirty="0">
                <a:sym typeface="Symbol" pitchFamily="18" charset="2"/>
              </a:rPr>
              <a:t>such that  </a:t>
            </a:r>
            <a:r>
              <a:rPr lang="en-US" altLang="zh-TW" sz="2600" i="1" dirty="0">
                <a:sym typeface="Symbol" pitchFamily="18" charset="2"/>
              </a:rPr>
              <a:t>a</a:t>
            </a:r>
            <a:r>
              <a:rPr lang="en-US" altLang="zh-TW" sz="2600" i="1" baseline="-25000" dirty="0"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c</a:t>
            </a:r>
            <a:r>
              <a:rPr lang="en-US" altLang="zh-TW" sz="2600" dirty="0">
                <a:sym typeface="Symbol" pitchFamily="18" charset="2"/>
              </a:rPr>
              <a:t>  1 (mod </a:t>
            </a:r>
            <a:r>
              <a:rPr lang="en-US" altLang="zh-TW" sz="2600" i="1" dirty="0">
                <a:sym typeface="Symbol" pitchFamily="18" charset="2"/>
              </a:rPr>
              <a:t>m</a:t>
            </a:r>
            <a:r>
              <a:rPr lang="en-US" altLang="zh-TW" sz="2600" dirty="0">
                <a:sym typeface="Symbol" pitchFamily="18" charset="2"/>
              </a:rPr>
              <a:t>) </a:t>
            </a:r>
          </a:p>
          <a:p>
            <a:pPr eaLnBrk="1" hangingPunct="1"/>
            <a:r>
              <a:rPr lang="en-US" altLang="zh-TW" b="1" dirty="0"/>
              <a:t>Theorem</a:t>
            </a:r>
            <a:r>
              <a:rPr lang="en-US" altLang="zh-TW" dirty="0"/>
              <a:t>  </a:t>
            </a:r>
            <a:r>
              <a:rPr lang="en-US" altLang="zh-TW" i="1" dirty="0"/>
              <a:t>a</a:t>
            </a:r>
            <a:r>
              <a:rPr lang="en-US" altLang="zh-TW" sz="1200" baseline="30000" dirty="0"/>
              <a:t> </a:t>
            </a:r>
            <a:r>
              <a:rPr lang="en-US" altLang="zh-TW" baseline="30000" dirty="0">
                <a:sym typeface="Symbol"/>
              </a:rPr>
              <a:t></a:t>
            </a:r>
            <a:r>
              <a:rPr lang="en-US" altLang="zh-TW" baseline="30000" dirty="0"/>
              <a:t>1</a:t>
            </a:r>
            <a:r>
              <a:rPr lang="en-US" altLang="zh-TW" dirty="0"/>
              <a:t> mod </a:t>
            </a:r>
            <a:r>
              <a:rPr lang="en-US" altLang="zh-TW" i="1" dirty="0"/>
              <a:t>m</a:t>
            </a:r>
            <a:r>
              <a:rPr lang="en-US" altLang="zh-TW" dirty="0"/>
              <a:t>  exists </a:t>
            </a:r>
            <a:r>
              <a:rPr lang="en-US" altLang="zh-TW" dirty="0" err="1"/>
              <a:t>iff</a:t>
            </a:r>
            <a:r>
              <a:rPr lang="en-US" altLang="zh-TW" dirty="0"/>
              <a:t>  </a:t>
            </a:r>
            <a:r>
              <a:rPr lang="en-US" altLang="zh-TW" i="1" dirty="0"/>
              <a:t>a</a:t>
            </a:r>
            <a:r>
              <a:rPr lang="en-US" altLang="zh-TW" dirty="0"/>
              <a:t> </a:t>
            </a:r>
            <a:r>
              <a:rPr lang="en-US" altLang="zh-TW" dirty="0">
                <a:sym typeface="Symbol" pitchFamily="18" charset="2"/>
              </a:rPr>
              <a:t></a:t>
            </a:r>
            <a:r>
              <a:rPr lang="en-US" altLang="zh-TW" dirty="0"/>
              <a:t> </a:t>
            </a:r>
            <a:r>
              <a:rPr lang="en-US" altLang="zh-TW" i="1" dirty="0"/>
              <a:t>m</a:t>
            </a:r>
            <a:endParaRPr lang="en-US" altLang="zh-TW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>
                <a:sym typeface="Symbol" pitchFamily="18" charset="2"/>
              </a:rPr>
              <a:t>	</a:t>
            </a:r>
            <a:r>
              <a:rPr lang="en-US" altLang="zh-TW" sz="2600" b="1" dirty="0">
                <a:sym typeface="Symbol" pitchFamily="18" charset="2"/>
              </a:rPr>
              <a:t>Proof</a:t>
            </a:r>
            <a:r>
              <a:rPr lang="en-US" altLang="zh-TW" sz="2600" dirty="0">
                <a:sym typeface="Symbol" pitchFamily="18" charset="2"/>
              </a:rPr>
              <a:t>  Both () &amp; () are straightforward </a:t>
            </a:r>
            <a:r>
              <a:rPr lang="en-US" altLang="zh-TW" sz="2600" dirty="0">
                <a:sym typeface="Symbol"/>
              </a:rPr>
              <a:t></a:t>
            </a:r>
            <a:r>
              <a:rPr lang="en-US" altLang="zh-TW" sz="2600" dirty="0">
                <a:sym typeface="Symbol" pitchFamily="18" charset="2"/>
              </a:rPr>
              <a:t> exercise</a:t>
            </a:r>
            <a:endParaRPr lang="en-US" altLang="zh-TW" b="1" dirty="0">
              <a:sym typeface="Symbol" pitchFamily="18" charset="2"/>
            </a:endParaRPr>
          </a:p>
          <a:p>
            <a:pPr eaLnBrk="1" hangingPunct="1"/>
            <a:r>
              <a:rPr lang="en-US" altLang="zh-TW" b="1" dirty="0">
                <a:sym typeface="Symbol" pitchFamily="18" charset="2"/>
              </a:rPr>
              <a:t>Application  </a:t>
            </a:r>
            <a:r>
              <a:rPr lang="en-US" altLang="zh-TW" sz="2600" dirty="0">
                <a:sym typeface="Symbol" pitchFamily="18" charset="2"/>
              </a:rPr>
              <a:t>The solution to the linear equation     </a:t>
            </a:r>
            <a:r>
              <a:rPr lang="en-US" altLang="zh-TW" sz="2600" i="1" dirty="0">
                <a:sym typeface="Symbol" pitchFamily="18" charset="2"/>
              </a:rPr>
              <a:t>a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x</a:t>
            </a:r>
            <a:r>
              <a:rPr lang="en-US" altLang="zh-TW" sz="2600" dirty="0">
                <a:sym typeface="Symbol" pitchFamily="18" charset="2"/>
              </a:rPr>
              <a:t>  </a:t>
            </a:r>
            <a:r>
              <a:rPr lang="en-US" altLang="zh-TW" sz="2600" i="1" dirty="0">
                <a:sym typeface="Symbol" pitchFamily="18" charset="2"/>
              </a:rPr>
              <a:t>b</a:t>
            </a:r>
            <a:r>
              <a:rPr lang="en-US" altLang="zh-TW" sz="2600" dirty="0">
                <a:sym typeface="Symbol" pitchFamily="18" charset="2"/>
              </a:rPr>
              <a:t>  (mod </a:t>
            </a:r>
            <a:r>
              <a:rPr lang="en-US" altLang="zh-TW" sz="2600" i="1" dirty="0">
                <a:sym typeface="Symbol" pitchFamily="18" charset="2"/>
              </a:rPr>
              <a:t>m</a:t>
            </a:r>
            <a:r>
              <a:rPr lang="en-US" altLang="zh-TW" sz="2600" dirty="0">
                <a:sym typeface="Symbol" pitchFamily="18" charset="2"/>
              </a:rPr>
              <a:t>)</a:t>
            </a:r>
            <a:r>
              <a:rPr lang="en-US" altLang="zh-TW" sz="2600" i="1" dirty="0">
                <a:sym typeface="Symbol" pitchFamily="18" charset="2"/>
              </a:rPr>
              <a:t>  </a:t>
            </a:r>
            <a:r>
              <a:rPr lang="en-US" altLang="zh-TW" sz="2600" dirty="0">
                <a:sym typeface="Symbol" pitchFamily="18" charset="2"/>
              </a:rPr>
              <a:t>is  </a:t>
            </a:r>
            <a:r>
              <a:rPr lang="en-US" altLang="zh-TW" sz="2600" i="1" dirty="0">
                <a:sym typeface="Symbol" pitchFamily="18" charset="2"/>
              </a:rPr>
              <a:t>x</a:t>
            </a:r>
            <a:r>
              <a:rPr lang="en-US" altLang="zh-TW" sz="2600" dirty="0">
                <a:sym typeface="Symbol" pitchFamily="18" charset="2"/>
              </a:rPr>
              <a:t>  </a:t>
            </a:r>
            <a:r>
              <a:rPr lang="en-US" altLang="zh-TW" sz="2600" i="1" dirty="0"/>
              <a:t>a</a:t>
            </a:r>
            <a:r>
              <a:rPr lang="en-US" altLang="zh-TW" sz="1000" baseline="30000" dirty="0"/>
              <a:t> </a:t>
            </a:r>
            <a:r>
              <a:rPr lang="en-US" altLang="zh-TW" sz="2600" baseline="30000" dirty="0">
                <a:sym typeface="Symbol"/>
              </a:rPr>
              <a:t></a:t>
            </a:r>
            <a:r>
              <a:rPr lang="en-US" altLang="zh-TW" sz="2600" baseline="30000" dirty="0"/>
              <a:t>1</a:t>
            </a:r>
            <a:r>
              <a:rPr lang="en-US" altLang="zh-TW" sz="2600" baseline="-25000" dirty="0"/>
              <a:t> </a:t>
            </a:r>
            <a:r>
              <a:rPr lang="en-US" altLang="zh-TW" sz="2600" dirty="0"/>
              <a:t>(</a:t>
            </a:r>
            <a:r>
              <a:rPr lang="en-US" altLang="zh-TW" sz="2600" i="1" dirty="0">
                <a:sym typeface="Symbol" pitchFamily="18" charset="2"/>
              </a:rPr>
              <a:t>a</a:t>
            </a:r>
            <a:r>
              <a:rPr lang="en-US" altLang="zh-TW" sz="2600" i="1" baseline="-25000" dirty="0"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x</a:t>
            </a:r>
            <a:r>
              <a:rPr lang="en-US" altLang="zh-TW" sz="2600" dirty="0">
                <a:sym typeface="Symbol" pitchFamily="18" charset="2"/>
              </a:rPr>
              <a:t>)  </a:t>
            </a:r>
            <a:r>
              <a:rPr lang="en-US" altLang="zh-TW" sz="2600" i="1" dirty="0"/>
              <a:t>a</a:t>
            </a:r>
            <a:r>
              <a:rPr lang="en-US" altLang="zh-TW" sz="1000" baseline="30000" dirty="0"/>
              <a:t> </a:t>
            </a:r>
            <a:r>
              <a:rPr lang="en-US" altLang="zh-TW" sz="2600" baseline="30000" dirty="0">
                <a:sym typeface="Symbol"/>
              </a:rPr>
              <a:t></a:t>
            </a:r>
            <a:r>
              <a:rPr lang="en-US" altLang="zh-TW" sz="2600" baseline="30000" dirty="0"/>
              <a:t>1</a:t>
            </a:r>
            <a:r>
              <a:rPr lang="en-US" altLang="zh-TW" sz="800" baseline="-25000" dirty="0"/>
              <a:t> </a:t>
            </a:r>
            <a:r>
              <a:rPr lang="en-US" altLang="zh-TW" sz="2600" i="1" dirty="0">
                <a:sym typeface="Symbol" pitchFamily="18" charset="2"/>
              </a:rPr>
              <a:t>b</a:t>
            </a:r>
            <a:r>
              <a:rPr lang="en-US" altLang="zh-TW" sz="2600" dirty="0">
                <a:sym typeface="Symbol" pitchFamily="18" charset="2"/>
              </a:rPr>
              <a:t>  (mod </a:t>
            </a:r>
            <a:r>
              <a:rPr lang="en-US" altLang="zh-TW" sz="2600" i="1" dirty="0">
                <a:sym typeface="Symbol" pitchFamily="18" charset="2"/>
              </a:rPr>
              <a:t>m</a:t>
            </a:r>
            <a:r>
              <a:rPr lang="en-US" altLang="zh-TW" sz="2600" dirty="0">
                <a:sym typeface="Symbol" pitchFamily="18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投影片編號版面配置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82FF5534-838D-4E22-B5CC-9A27D7C3A28D}" type="slidenum">
              <a:rPr kumimoji="0" lang="en-US" altLang="zh-TW" smtClean="0"/>
              <a:pPr eaLnBrk="1" hangingPunct="1"/>
              <a:t>31</a:t>
            </a:fld>
            <a:endParaRPr kumimoji="0" lang="en-US" altLang="zh-TW"/>
          </a:p>
        </p:txBody>
      </p:sp>
      <p:sp>
        <p:nvSpPr>
          <p:cNvPr id="33797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Inverse</a:t>
            </a:r>
          </a:p>
        </p:txBody>
      </p:sp>
      <p:sp>
        <p:nvSpPr>
          <p:cNvPr id="198667" name="Rectangle 11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7931150" cy="4411662"/>
          </a:xfrm>
        </p:spPr>
        <p:txBody>
          <a:bodyPr/>
          <a:lstStyle/>
          <a:p>
            <a:pPr eaLnBrk="1" hangingPunct="1"/>
            <a:r>
              <a:rPr lang="en-US" altLang="zh-TW" sz="2600" b="1" u="sng" dirty="0"/>
              <a:t>Algorithm</a:t>
            </a:r>
            <a:r>
              <a:rPr lang="en-US" altLang="zh-TW" sz="2600" dirty="0"/>
              <a:t>  Inverse modulo  </a:t>
            </a:r>
            <a:r>
              <a:rPr lang="en-US" altLang="zh-TW" sz="2600" i="1" dirty="0"/>
              <a:t>m  </a:t>
            </a:r>
            <a:r>
              <a:rPr lang="en-US" altLang="zh-TW" sz="2000" dirty="0"/>
              <a:t>[matrix version]</a:t>
            </a:r>
            <a:endParaRPr lang="en-US" altLang="zh-TW" sz="26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TW" sz="2600" b="1" dirty="0"/>
              <a:t>	Input</a:t>
            </a:r>
            <a:r>
              <a:rPr lang="en-US" altLang="zh-TW" sz="2600" dirty="0"/>
              <a:t>:  </a:t>
            </a:r>
            <a:r>
              <a:rPr lang="en-US" altLang="zh-TW" sz="2600" i="1" dirty="0"/>
              <a:t>a</a:t>
            </a:r>
            <a:r>
              <a:rPr lang="en-US" altLang="zh-TW" sz="2600" baseline="-25000" dirty="0"/>
              <a:t> </a:t>
            </a:r>
            <a:r>
              <a:rPr lang="en-US" altLang="zh-TW" sz="2600" dirty="0">
                <a:sym typeface="Symbol" pitchFamily="18" charset="2"/>
              </a:rPr>
              <a:t>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b="1" i="1" dirty="0">
                <a:sym typeface="Symbol" pitchFamily="18" charset="2"/>
              </a:rPr>
              <a:t>Z</a:t>
            </a:r>
            <a:r>
              <a:rPr lang="en-US" altLang="zh-TW" sz="2600" dirty="0">
                <a:sym typeface="Symbol" pitchFamily="18" charset="2"/>
              </a:rPr>
              <a:t>,  </a:t>
            </a:r>
            <a:r>
              <a:rPr lang="en-US" altLang="zh-TW" sz="2600" i="1" dirty="0"/>
              <a:t>m</a:t>
            </a:r>
            <a:r>
              <a:rPr lang="en-US" altLang="zh-TW" sz="2600" baseline="-25000" dirty="0"/>
              <a:t> </a:t>
            </a:r>
            <a:r>
              <a:rPr lang="en-US" altLang="zh-TW" sz="2600" dirty="0">
                <a:sym typeface="Symbol" pitchFamily="18" charset="2"/>
              </a:rPr>
              <a:t>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b="1" i="1" dirty="0">
                <a:sym typeface="Symbol" pitchFamily="18" charset="2"/>
              </a:rPr>
              <a:t>P</a:t>
            </a:r>
            <a:endParaRPr lang="en-US" altLang="zh-TW" sz="2600" dirty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600" b="1" dirty="0"/>
              <a:t>	Output</a:t>
            </a:r>
            <a:r>
              <a:rPr lang="en-US" altLang="zh-TW" sz="2600" dirty="0"/>
              <a:t>:  </a:t>
            </a:r>
            <a:r>
              <a:rPr lang="en-US" altLang="zh-TW" sz="2600" i="1" dirty="0"/>
              <a:t>a</a:t>
            </a:r>
            <a:r>
              <a:rPr lang="en-US" altLang="zh-TW" sz="1200" baseline="30000" dirty="0"/>
              <a:t> </a:t>
            </a:r>
            <a:r>
              <a:rPr lang="en-US" altLang="zh-TW" sz="2600" baseline="30000" dirty="0">
                <a:sym typeface="Symbol"/>
              </a:rPr>
              <a:t></a:t>
            </a:r>
            <a:r>
              <a:rPr lang="en-US" altLang="zh-TW" sz="2600" baseline="30000" dirty="0"/>
              <a:t>1</a:t>
            </a:r>
            <a:r>
              <a:rPr lang="en-US" altLang="zh-TW" sz="2600" dirty="0"/>
              <a:t> mod </a:t>
            </a:r>
            <a:r>
              <a:rPr lang="en-US" altLang="zh-TW" sz="2600" i="1" dirty="0"/>
              <a:t>m</a:t>
            </a:r>
            <a:r>
              <a:rPr lang="en-US" altLang="zh-TW" sz="2600" dirty="0"/>
              <a:t>, or “No Inverse”</a:t>
            </a:r>
            <a:endParaRPr lang="en-US" altLang="zh-TW" sz="2600" i="1" dirty="0"/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600" b="1" dirty="0"/>
              <a:t>   Set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TW" sz="1200" b="1" dirty="0"/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600" b="1" dirty="0"/>
              <a:t>   While</a:t>
            </a:r>
            <a:r>
              <a:rPr lang="en-US" altLang="zh-TW" sz="2600" dirty="0"/>
              <a:t>  </a:t>
            </a:r>
            <a:r>
              <a:rPr lang="en-US" altLang="zh-TW" sz="2600" i="1" dirty="0"/>
              <a:t>r</a:t>
            </a:r>
            <a:r>
              <a:rPr lang="en-US" altLang="zh-TW" sz="2600" baseline="-25000" dirty="0"/>
              <a:t>1</a:t>
            </a:r>
            <a:r>
              <a:rPr lang="en-US" altLang="zh-TW" sz="2600" dirty="0"/>
              <a:t> </a:t>
            </a:r>
            <a:r>
              <a:rPr lang="en-US" altLang="zh-TW" sz="2600" dirty="0">
                <a:sym typeface="Symbol" pitchFamily="18" charset="2"/>
              </a:rPr>
              <a:t> 0  </a:t>
            </a:r>
            <a:r>
              <a:rPr lang="en-US" altLang="zh-TW" sz="2600" b="1" dirty="0">
                <a:sym typeface="Symbol" pitchFamily="18" charset="2"/>
              </a:rPr>
              <a:t>do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600" b="1" dirty="0">
                <a:sym typeface="Symbol" pitchFamily="18" charset="2"/>
              </a:rPr>
              <a:t>      Set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TW" sz="1200" b="1" dirty="0">
              <a:sym typeface="Symbol" pitchFamily="18" charset="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600" b="1" dirty="0">
                <a:sym typeface="Symbol" pitchFamily="18" charset="2"/>
              </a:rPr>
              <a:t>   End While	</a:t>
            </a:r>
          </a:p>
        </p:txBody>
      </p:sp>
      <p:sp>
        <p:nvSpPr>
          <p:cNvPr id="198669" name="Rectangle 13"/>
          <p:cNvSpPr>
            <a:spLocks noGrp="1" noChangeArrowheads="1"/>
          </p:cNvSpPr>
          <p:nvPr>
            <p:ph type="body" sz="half" idx="2"/>
          </p:nvPr>
        </p:nvSpPr>
        <p:spPr>
          <a:xfrm>
            <a:off x="5148263" y="1700213"/>
            <a:ext cx="3527425" cy="4430712"/>
          </a:xfrm>
        </p:spPr>
        <p:txBody>
          <a:bodyPr/>
          <a:lstStyle/>
          <a:p>
            <a:pPr lvl="1" eaLnBrk="1" hangingPunct="1">
              <a:buFont typeface="Wingdings" pitchFamily="2" charset="2"/>
              <a:buNone/>
            </a:pPr>
            <a:endParaRPr lang="en-US" altLang="zh-TW" sz="2600" b="1" dirty="0">
              <a:sym typeface="Symbol" pitchFamily="18" charset="2"/>
            </a:endParaRPr>
          </a:p>
          <a:p>
            <a:pPr lvl="1" eaLnBrk="1" hangingPunct="1">
              <a:buFont typeface="Wingdings" pitchFamily="2" charset="2"/>
              <a:buNone/>
            </a:pPr>
            <a:endParaRPr lang="en-US" altLang="zh-TW" sz="2600" b="1" dirty="0">
              <a:sym typeface="Symbol" pitchFamily="18" charset="2"/>
            </a:endParaRPr>
          </a:p>
          <a:p>
            <a:pPr lvl="1" eaLnBrk="1" hangingPunct="1">
              <a:buFont typeface="Wingdings" pitchFamily="2" charset="2"/>
              <a:buNone/>
            </a:pPr>
            <a:endParaRPr lang="en-US" altLang="zh-TW" sz="2600" b="1" dirty="0">
              <a:sym typeface="Symbol" pitchFamily="18" charset="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600" b="1" dirty="0">
                <a:sym typeface="Symbol" pitchFamily="18" charset="2"/>
              </a:rPr>
              <a:t>If  </a:t>
            </a:r>
            <a:r>
              <a:rPr lang="en-US" altLang="zh-TW" sz="2600" i="1" dirty="0"/>
              <a:t>r</a:t>
            </a:r>
            <a:r>
              <a:rPr lang="en-US" altLang="zh-TW" sz="2600" baseline="-25000" dirty="0"/>
              <a:t>0</a:t>
            </a:r>
            <a:r>
              <a:rPr lang="en-US" altLang="zh-TW" sz="2600" dirty="0"/>
              <a:t> </a:t>
            </a:r>
            <a:r>
              <a:rPr lang="en-US" altLang="zh-TW" sz="2600" dirty="0">
                <a:sym typeface="Symbol" pitchFamily="18" charset="2"/>
              </a:rPr>
              <a:t>= 1  </a:t>
            </a:r>
            <a:r>
              <a:rPr lang="en-US" altLang="zh-TW" sz="2600" b="1" dirty="0">
                <a:sym typeface="Symbol" pitchFamily="18" charset="2"/>
              </a:rPr>
              <a:t>Then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600" b="1" dirty="0">
                <a:sym typeface="Symbol" pitchFamily="18" charset="2"/>
              </a:rPr>
              <a:t>  Return</a:t>
            </a:r>
            <a:r>
              <a:rPr lang="en-US" altLang="zh-TW" sz="2600" dirty="0">
                <a:sym typeface="Symbol" pitchFamily="18" charset="2"/>
              </a:rPr>
              <a:t>  </a:t>
            </a:r>
            <a:r>
              <a:rPr lang="en-US" altLang="zh-TW" sz="2600" i="1" dirty="0">
                <a:sym typeface="Symbol" pitchFamily="18" charset="2"/>
              </a:rPr>
              <a:t>x</a:t>
            </a:r>
            <a:r>
              <a:rPr lang="en-US" altLang="zh-TW" sz="2600" baseline="-25000" dirty="0">
                <a:sym typeface="Symbol" pitchFamily="18" charset="2"/>
              </a:rPr>
              <a:t>0</a:t>
            </a:r>
            <a:r>
              <a:rPr lang="en-US" altLang="zh-TW" sz="2600" dirty="0">
                <a:sym typeface="Symbol" pitchFamily="18" charset="2"/>
              </a:rPr>
              <a:t>  </a:t>
            </a:r>
            <a:r>
              <a:rPr lang="en-US" altLang="zh-TW" sz="1400" dirty="0">
                <a:sym typeface="Symbol" pitchFamily="18" charset="2"/>
              </a:rPr>
              <a:t>[</a:t>
            </a:r>
            <a:r>
              <a:rPr lang="en-US" altLang="zh-TW" sz="1400" dirty="0"/>
              <a:t>= </a:t>
            </a:r>
            <a:r>
              <a:rPr lang="en-US" altLang="zh-TW" sz="1400" i="1" dirty="0"/>
              <a:t>a</a:t>
            </a:r>
            <a:r>
              <a:rPr lang="en-US" altLang="zh-TW" sz="800" baseline="30000" dirty="0"/>
              <a:t> </a:t>
            </a:r>
            <a:r>
              <a:rPr lang="en-US" altLang="zh-TW" sz="1400" baseline="30000" dirty="0">
                <a:sym typeface="Symbol"/>
              </a:rPr>
              <a:t></a:t>
            </a:r>
            <a:r>
              <a:rPr lang="en-US" altLang="zh-TW" sz="1400" baseline="30000" dirty="0"/>
              <a:t>1</a:t>
            </a:r>
            <a:r>
              <a:rPr lang="en-US" altLang="zh-TW" sz="1400" dirty="0"/>
              <a:t> mod </a:t>
            </a:r>
            <a:r>
              <a:rPr lang="en-US" altLang="zh-TW" sz="1400" i="1" dirty="0"/>
              <a:t>m</a:t>
            </a:r>
            <a:r>
              <a:rPr lang="en-US" altLang="zh-TW" sz="1400" dirty="0"/>
              <a:t>]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600" b="1" dirty="0"/>
              <a:t>Else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600" b="1" dirty="0"/>
              <a:t>  Return</a:t>
            </a:r>
            <a:r>
              <a:rPr lang="en-US" altLang="zh-TW" sz="2600" dirty="0"/>
              <a:t>  </a:t>
            </a:r>
            <a:r>
              <a:rPr lang="en-US" altLang="zh-TW" sz="2200" dirty="0"/>
              <a:t>“No Inverse”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600" b="1" dirty="0"/>
              <a:t>End If</a:t>
            </a:r>
            <a:endParaRPr lang="en-US" altLang="zh-TW" sz="2600" dirty="0"/>
          </a:p>
        </p:txBody>
      </p:sp>
      <p:graphicFrame>
        <p:nvGraphicFramePr>
          <p:cNvPr id="198660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835150" y="3213100"/>
          <a:ext cx="1944688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227" imgH="482391" progId="Equation.DSMT4">
                  <p:embed/>
                </p:oleObj>
              </mc:Choice>
              <mc:Fallback>
                <p:oleObj name="Equation" r:id="rId2" imgW="1320227" imgH="48239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213100"/>
                        <a:ext cx="1944688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3" name="Object 7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143125" y="4357688"/>
          <a:ext cx="3095625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87600" imgH="508000" progId="Equation.DSMT4">
                  <p:embed/>
                </p:oleObj>
              </mc:Choice>
              <mc:Fallback>
                <p:oleObj name="Equation" r:id="rId4" imgW="2387600" imgH="508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4357688"/>
                        <a:ext cx="3095625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671" name="Line 15"/>
          <p:cNvSpPr>
            <a:spLocks noChangeShapeType="1"/>
          </p:cNvSpPr>
          <p:nvPr/>
        </p:nvSpPr>
        <p:spPr bwMode="auto">
          <a:xfrm>
            <a:off x="5429250" y="3214688"/>
            <a:ext cx="0" cy="2374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98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8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8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8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98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98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8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986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986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986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1986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1986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7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投影片編號版面配置區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99549968-58E0-4280-8AAB-A66BE0924DEC}" type="slidenum">
              <a:rPr kumimoji="0" lang="en-US" altLang="zh-TW" smtClean="0"/>
              <a:pPr eaLnBrk="1" hangingPunct="1"/>
              <a:t>32</a:t>
            </a:fld>
            <a:endParaRPr kumimoji="0" lang="en-US" altLang="zh-TW"/>
          </a:p>
        </p:txBody>
      </p:sp>
      <p:sp>
        <p:nvSpPr>
          <p:cNvPr id="3482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Inverse</a:t>
            </a:r>
          </a:p>
        </p:txBody>
      </p:sp>
      <p:sp>
        <p:nvSpPr>
          <p:cNvPr id="192520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91513" cy="4733925"/>
          </a:xfrm>
        </p:spPr>
        <p:txBody>
          <a:bodyPr/>
          <a:lstStyle/>
          <a:p>
            <a:pPr eaLnBrk="1" hangingPunct="1"/>
            <a:r>
              <a:rPr lang="en-US" altLang="zh-TW" b="1" dirty="0">
                <a:sym typeface="Symbol" pitchFamily="18" charset="2"/>
              </a:rPr>
              <a:t>Example</a:t>
            </a:r>
            <a:r>
              <a:rPr lang="en-US" altLang="zh-TW" dirty="0">
                <a:sym typeface="Symbol" pitchFamily="18" charset="2"/>
              </a:rPr>
              <a:t>  </a:t>
            </a:r>
            <a:r>
              <a:rPr lang="en-US" altLang="zh-TW" sz="2600" dirty="0">
                <a:sym typeface="Symbol" pitchFamily="18" charset="2"/>
              </a:rPr>
              <a:t>Solve 160</a:t>
            </a:r>
            <a:r>
              <a:rPr lang="en-US" altLang="zh-TW" sz="1200" baseline="-25000" dirty="0"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x</a:t>
            </a:r>
            <a:r>
              <a:rPr lang="en-US" altLang="zh-TW" sz="2600" dirty="0">
                <a:sym typeface="Symbol" pitchFamily="18" charset="2"/>
              </a:rPr>
              <a:t>  7  (mod 841) </a:t>
            </a:r>
          </a:p>
          <a:p>
            <a:pPr lvl="1" eaLnBrk="1" hangingPunct="1"/>
            <a:r>
              <a:rPr lang="en-US" altLang="zh-TW" dirty="0">
                <a:sym typeface="Symbol" pitchFamily="18" charset="2"/>
              </a:rPr>
              <a:t>160</a:t>
            </a:r>
            <a:r>
              <a:rPr lang="en-US" altLang="zh-TW" sz="1200" baseline="30000" dirty="0">
                <a:solidFill>
                  <a:srgbClr val="000000"/>
                </a:solidFill>
                <a:cs typeface="+mn-cs"/>
              </a:rPr>
              <a:t> </a:t>
            </a:r>
            <a:r>
              <a:rPr lang="en-US" altLang="zh-TW" sz="3000" baseline="30000" dirty="0">
                <a:solidFill>
                  <a:srgbClr val="000000"/>
                </a:solidFill>
                <a:cs typeface="+mn-cs"/>
                <a:sym typeface="Symbol"/>
              </a:rPr>
              <a:t></a:t>
            </a:r>
            <a:r>
              <a:rPr lang="en-US" altLang="zh-TW" baseline="30000" dirty="0"/>
              <a:t>1</a:t>
            </a:r>
            <a:r>
              <a:rPr lang="en-US" altLang="zh-TW" dirty="0"/>
              <a:t> </a:t>
            </a:r>
            <a:r>
              <a:rPr lang="en-US" altLang="zh-TW" dirty="0">
                <a:sym typeface="Symbol" pitchFamily="18" charset="2"/>
              </a:rPr>
              <a:t> 205 (</a:t>
            </a:r>
            <a:r>
              <a:rPr lang="en-US" altLang="zh-TW" dirty="0"/>
              <a:t>mod 841) </a:t>
            </a:r>
          </a:p>
          <a:p>
            <a:pPr lvl="1" eaLnBrk="1" hangingPunct="1"/>
            <a:endParaRPr lang="en-US" altLang="zh-TW" sz="3200" i="1" dirty="0">
              <a:sym typeface="Symbol" pitchFamily="18" charset="2"/>
            </a:endParaRPr>
          </a:p>
          <a:p>
            <a:pPr lvl="1" eaLnBrk="1" hangingPunct="1"/>
            <a:endParaRPr lang="en-US" altLang="zh-TW" sz="3200" i="1" dirty="0">
              <a:sym typeface="Symbol" pitchFamily="18" charset="2"/>
            </a:endParaRPr>
          </a:p>
          <a:p>
            <a:pPr lvl="1" eaLnBrk="1" hangingPunct="1"/>
            <a:endParaRPr lang="en-US" altLang="zh-TW" sz="3200" i="1" dirty="0">
              <a:sym typeface="Symbol" pitchFamily="18" charset="2"/>
            </a:endParaRPr>
          </a:p>
          <a:p>
            <a:pPr lvl="1" eaLnBrk="1" hangingPunct="1"/>
            <a:endParaRPr lang="en-US" altLang="zh-TW" sz="3200" i="1" dirty="0">
              <a:sym typeface="Symbol" pitchFamily="18" charset="2"/>
            </a:endParaRPr>
          </a:p>
          <a:p>
            <a:pPr lvl="1" eaLnBrk="1" hangingPunct="1"/>
            <a:endParaRPr lang="en-US" altLang="zh-TW" sz="3200" i="1" dirty="0">
              <a:sym typeface="Symbol" pitchFamily="18" charset="2"/>
            </a:endParaRPr>
          </a:p>
          <a:p>
            <a:pPr lvl="1" eaLnBrk="1" hangingPunct="1"/>
            <a:r>
              <a:rPr lang="en-US" altLang="zh-TW" i="1" dirty="0">
                <a:sym typeface="Symbol" pitchFamily="18" charset="2"/>
              </a:rPr>
              <a:t>x</a:t>
            </a:r>
            <a:r>
              <a:rPr lang="en-US" altLang="zh-TW" dirty="0">
                <a:sym typeface="Symbol" pitchFamily="18" charset="2"/>
              </a:rPr>
              <a:t>  </a:t>
            </a:r>
            <a:r>
              <a:rPr lang="en-US" altLang="zh-TW" dirty="0"/>
              <a:t>160</a:t>
            </a:r>
            <a:r>
              <a:rPr lang="en-US" altLang="zh-TW" sz="1200" baseline="30000" dirty="0"/>
              <a:t> </a:t>
            </a:r>
            <a:r>
              <a:rPr lang="en-US" altLang="zh-TW" baseline="30000" dirty="0">
                <a:sym typeface="Symbol"/>
              </a:rPr>
              <a:t></a:t>
            </a:r>
            <a:r>
              <a:rPr lang="en-US" altLang="zh-TW" baseline="30000" dirty="0"/>
              <a:t>1</a:t>
            </a:r>
            <a:r>
              <a:rPr lang="en-US" altLang="zh-TW" sz="1200" baseline="-25000" dirty="0"/>
              <a:t> </a:t>
            </a:r>
            <a:r>
              <a:rPr lang="en-US" altLang="zh-TW" dirty="0"/>
              <a:t>(</a:t>
            </a:r>
            <a:r>
              <a:rPr lang="en-US" altLang="zh-TW" dirty="0">
                <a:sym typeface="Symbol" pitchFamily="18" charset="2"/>
              </a:rPr>
              <a:t>160</a:t>
            </a:r>
            <a:r>
              <a:rPr lang="en-US" altLang="zh-TW" sz="1600" i="1" baseline="-25000" dirty="0">
                <a:sym typeface="Symbol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x</a:t>
            </a:r>
            <a:r>
              <a:rPr lang="en-US" altLang="zh-TW" dirty="0">
                <a:sym typeface="Symbol" pitchFamily="18" charset="2"/>
              </a:rPr>
              <a:t>)  </a:t>
            </a:r>
            <a:r>
              <a:rPr lang="en-US" altLang="zh-TW" dirty="0"/>
              <a:t>205 </a:t>
            </a:r>
            <a:r>
              <a:rPr lang="en-US" altLang="zh-TW" dirty="0">
                <a:cs typeface="Arial" charset="0"/>
              </a:rPr>
              <a:t>· 7</a:t>
            </a:r>
            <a:r>
              <a:rPr lang="en-US" altLang="zh-TW" dirty="0">
                <a:sym typeface="Symbol" pitchFamily="18" charset="2"/>
              </a:rPr>
              <a:t>  594 (mod </a:t>
            </a:r>
            <a:r>
              <a:rPr lang="en-US" altLang="zh-TW" dirty="0"/>
              <a:t>841) </a:t>
            </a:r>
          </a:p>
        </p:txBody>
      </p:sp>
      <p:graphicFrame>
        <p:nvGraphicFramePr>
          <p:cNvPr id="192521" name="Object 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258888" y="2852738"/>
          <a:ext cx="3600450" cy="266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46400" imgH="2006600" progId="Equation.DSMT4">
                  <p:embed/>
                </p:oleObj>
              </mc:Choice>
              <mc:Fallback>
                <p:oleObj name="Equation" r:id="rId2" imgW="2946400" imgH="2006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852738"/>
                        <a:ext cx="3600450" cy="266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3" name="Object 1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219700" y="2852738"/>
          <a:ext cx="3386138" cy="259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55900" imgH="1981200" progId="Equation.DSMT4">
                  <p:embed/>
                </p:oleObj>
              </mc:Choice>
              <mc:Fallback>
                <p:oleObj name="Equation" r:id="rId4" imgW="2755900" imgH="1981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852738"/>
                        <a:ext cx="3386138" cy="259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2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25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2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25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AFAEC6C5-EE89-4B81-BCC0-F27A9CA7A4A0}" type="slidenum">
              <a:rPr kumimoji="0" lang="en-US" altLang="zh-TW" smtClean="0"/>
              <a:pPr eaLnBrk="1" hangingPunct="1"/>
              <a:t>33</a:t>
            </a:fld>
            <a:endParaRPr kumimoji="0" lang="en-US" altLang="zh-TW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Arithmetic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Modular Function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GCD and Euclidean Algorithm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Extended GCD Algorithm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Fundamental Theorem of Arithmetic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Modular Arithmetic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b="1" dirty="0"/>
              <a:t>Chinese Remainder Theorem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Theorems of Fermat and Euler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E6A06C2E-F901-4892-BEBF-B4A43EF06229}" type="slidenum">
              <a:rPr kumimoji="0" lang="en-US" altLang="zh-TW" smtClean="0"/>
              <a:pPr eaLnBrk="1" hangingPunct="1"/>
              <a:t>34</a:t>
            </a:fld>
            <a:endParaRPr kumimoji="0" lang="en-US" altLang="zh-TW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zh-TW" sz="4000"/>
              <a:t>Chinese Remainder Theorem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00188"/>
            <a:ext cx="8362950" cy="4567237"/>
          </a:xfrm>
        </p:spPr>
        <p:txBody>
          <a:bodyPr/>
          <a:lstStyle/>
          <a:p>
            <a:pPr eaLnBrk="1" hangingPunct="1"/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孫子算經 </a:t>
            </a:r>
            <a:r>
              <a:rPr lang="en-US" altLang="zh-TW" sz="2000" dirty="0">
                <a:ea typeface="標楷體" pitchFamily="65" charset="-120"/>
              </a:rPr>
              <a:t>(</a:t>
            </a:r>
            <a:r>
              <a:rPr lang="en-US" altLang="zh-TW" sz="2000" dirty="0">
                <a:ea typeface="標楷體" pitchFamily="65" charset="-120"/>
                <a:sym typeface="Symbol"/>
              </a:rPr>
              <a:t> 500 A.D.</a:t>
            </a:r>
            <a:r>
              <a:rPr lang="zh-TW" altLang="en-US" sz="2000" dirty="0">
                <a:ea typeface="標楷體" pitchFamily="65" charset="-120"/>
                <a:sym typeface="Symbol"/>
              </a:rPr>
              <a:t> </a:t>
            </a:r>
            <a:r>
              <a:rPr lang="zh-TW" altLang="en-US" sz="2000" dirty="0">
                <a:ea typeface="標楷體" pitchFamily="65" charset="-120"/>
              </a:rPr>
              <a:t>南北朝</a:t>
            </a:r>
            <a:r>
              <a:rPr lang="en-US" altLang="zh-TW" sz="2000" dirty="0">
                <a:ea typeface="標楷體" pitchFamily="65" charset="-120"/>
              </a:rPr>
              <a:t>)</a:t>
            </a:r>
            <a:endParaRPr lang="zh-TW" altLang="en-US" sz="2000" dirty="0">
              <a:ea typeface="標楷體" pitchFamily="65" charset="-120"/>
            </a:endParaRPr>
          </a:p>
          <a:p>
            <a:pPr lvl="1" eaLnBrk="1" hangingPunct="1"/>
            <a:r>
              <a:rPr lang="zh-TW" altLang="en-US" sz="2000" dirty="0">
                <a:latin typeface="標楷體" pitchFamily="65" charset="-120"/>
                <a:ea typeface="標楷體" pitchFamily="65" charset="-120"/>
              </a:rPr>
              <a:t>「今有物，不知其數，三三數之，剩二，五五數之，剩三，七七數之，剩二，問物幾何？」</a:t>
            </a:r>
          </a:p>
          <a:p>
            <a:pPr lvl="1" eaLnBrk="1" hangingPunct="1"/>
            <a:r>
              <a:rPr lang="zh-TW" altLang="en-US" sz="2000" dirty="0">
                <a:latin typeface="標楷體" pitchFamily="65" charset="-120"/>
                <a:ea typeface="標楷體" pitchFamily="65" charset="-120"/>
              </a:rPr>
              <a:t>答曰：「二十三」解曰：「三三數之剩二，置一百四十，五五數之剩三，置六十三，七七數之剩二，置三十，併之，得二百三十三，以二百一十减之，即得。凡三三數之剩一，則置七十，五五數之剩一，則置二十一，七七數之剩一，則置十五，即得。」 </a:t>
            </a:r>
          </a:p>
          <a:p>
            <a:pPr eaLnBrk="1" hangingPunct="1"/>
            <a:r>
              <a:rPr lang="zh-TW" altLang="en-US" sz="2600" dirty="0">
                <a:latin typeface="標楷體" pitchFamily="65" charset="-120"/>
                <a:ea typeface="標楷體" pitchFamily="65" charset="-120"/>
              </a:rPr>
              <a:t>韓信點兵</a:t>
            </a:r>
          </a:p>
          <a:p>
            <a:pPr lvl="1" eaLnBrk="1" hangingPunct="1"/>
            <a:r>
              <a:rPr lang="zh-TW" altLang="en-US" sz="2000" dirty="0">
                <a:latin typeface="標楷體" pitchFamily="65" charset="-120"/>
                <a:ea typeface="標楷體" pitchFamily="65" charset="-120"/>
              </a:rPr>
              <a:t>傳當年漢高祖巡狩雲夢大澤，欲藉機擒韓信，但不知其兵數，恐有變，故問曰</a:t>
            </a:r>
            <a:r>
              <a:rPr lang="en-US" altLang="zh-TW" sz="2000" dirty="0">
                <a:latin typeface="標楷體" pitchFamily="65" charset="-120"/>
                <a:ea typeface="標楷體" pitchFamily="65" charset="-120"/>
              </a:rPr>
              <a:t>︰</a:t>
            </a:r>
            <a:r>
              <a:rPr lang="zh-TW" altLang="en-US" sz="2000" dirty="0">
                <a:latin typeface="標楷體" pitchFamily="65" charset="-120"/>
                <a:ea typeface="標楷體" pitchFamily="65" charset="-120"/>
              </a:rPr>
              <a:t>「卿部下有多少兵卒？」信曰</a:t>
            </a:r>
            <a:r>
              <a:rPr lang="en-US" altLang="zh-TW" sz="2000" dirty="0">
                <a:latin typeface="標楷體" pitchFamily="65" charset="-120"/>
                <a:ea typeface="標楷體" pitchFamily="65" charset="-120"/>
              </a:rPr>
              <a:t>︰</a:t>
            </a:r>
            <a:r>
              <a:rPr lang="zh-TW" altLang="en-US" sz="2000" dirty="0">
                <a:latin typeface="標楷體" pitchFamily="65" charset="-120"/>
                <a:ea typeface="標楷體" pitchFamily="65" charset="-120"/>
              </a:rPr>
              <a:t>「敬稟陞下，兵不知其數，三三數之剩二，五五數之剩三，七七數之剩二。」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TW" altLang="en-US" sz="2000" dirty="0">
                <a:latin typeface="標楷體" pitchFamily="65" charset="-120"/>
                <a:ea typeface="標楷體" pitchFamily="65" charset="-120"/>
              </a:rPr>
              <a:t>	高祖不解，問法於張良。良曰</a:t>
            </a:r>
            <a:r>
              <a:rPr lang="en-US" altLang="zh-TW" sz="2000" dirty="0">
                <a:latin typeface="標楷體" pitchFamily="65" charset="-120"/>
                <a:ea typeface="標楷體" pitchFamily="65" charset="-120"/>
              </a:rPr>
              <a:t>︰</a:t>
            </a:r>
            <a:r>
              <a:rPr lang="zh-TW" altLang="en-US" sz="2000" dirty="0">
                <a:latin typeface="標楷體" pitchFamily="65" charset="-120"/>
                <a:ea typeface="標楷體" pitchFamily="65" charset="-120"/>
              </a:rPr>
              <a:t>「兵數無法算，不可數！」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TW" altLang="en-US" sz="2000" dirty="0">
                <a:latin typeface="標楷體" pitchFamily="65" charset="-120"/>
                <a:ea typeface="標楷體" pitchFamily="65" charset="-120"/>
              </a:rPr>
              <a:t>	其後雖擒韓信，但仍不知其解。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投影片編號版面配置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13D064F5-8E92-4C97-BDCA-FDEA7B1386B8}" type="slidenum">
              <a:rPr kumimoji="0" lang="en-US" altLang="zh-TW" smtClean="0"/>
              <a:pPr eaLnBrk="1" hangingPunct="1"/>
              <a:t>35</a:t>
            </a:fld>
            <a:endParaRPr kumimoji="0" lang="en-US" altLang="zh-TW"/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zh-TW" sz="4000"/>
              <a:t>Chinese Remainder Theorem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7686675" cy="4411662"/>
          </a:xfrm>
        </p:spPr>
        <p:txBody>
          <a:bodyPr/>
          <a:lstStyle/>
          <a:p>
            <a:pPr eaLnBrk="1" hangingPunct="1"/>
            <a:r>
              <a:rPr lang="en-US" altLang="zh-TW" b="1" dirty="0"/>
              <a:t>Example</a:t>
            </a:r>
            <a:r>
              <a:rPr lang="en-US" altLang="zh-TW" i="1" dirty="0"/>
              <a:t>  N </a:t>
            </a:r>
            <a:r>
              <a:rPr lang="en-US" altLang="zh-TW" dirty="0"/>
              <a:t>= 15 = 3 </a:t>
            </a:r>
            <a:r>
              <a:rPr lang="en-US" altLang="zh-TW" b="1" dirty="0">
                <a:cs typeface="Arial" charset="0"/>
                <a:sym typeface="Symbol" pitchFamily="18" charset="2"/>
              </a:rPr>
              <a:t></a:t>
            </a:r>
            <a:r>
              <a:rPr lang="en-US" altLang="zh-TW" dirty="0"/>
              <a:t> 5</a:t>
            </a:r>
          </a:p>
          <a:p>
            <a:pPr lvl="1" eaLnBrk="1" hangingPunct="1"/>
            <a:r>
              <a:rPr lang="en-US" altLang="zh-TW" dirty="0"/>
              <a:t>Every element </a:t>
            </a:r>
            <a:r>
              <a:rPr lang="en-US" altLang="zh-TW" i="1" dirty="0"/>
              <a:t>a</a:t>
            </a:r>
            <a:r>
              <a:rPr lang="en-US" altLang="zh-TW" i="1" baseline="-25000" dirty="0"/>
              <a:t> </a:t>
            </a:r>
            <a:r>
              <a:rPr lang="en-US" altLang="zh-TW" dirty="0">
                <a:sym typeface="Symbol" pitchFamily="18" charset="2"/>
              </a:rPr>
              <a:t>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pl-PL" altLang="zh-TW" b="1" i="1" dirty="0"/>
              <a:t>Z</a:t>
            </a:r>
            <a:r>
              <a:rPr lang="pl-PL" altLang="zh-TW" i="1" baseline="-25000" dirty="0"/>
              <a:t>N</a:t>
            </a:r>
            <a:r>
              <a:rPr lang="en-US" altLang="zh-TW" dirty="0"/>
              <a:t> can be represented by its coordinates (</a:t>
            </a:r>
            <a:r>
              <a:rPr lang="en-US" altLang="zh-TW" i="1" dirty="0"/>
              <a:t>a  </a:t>
            </a:r>
            <a:r>
              <a:rPr lang="en-US" altLang="zh-TW" dirty="0"/>
              <a:t>mod 3, </a:t>
            </a:r>
            <a:r>
              <a:rPr lang="en-US" altLang="zh-TW" i="1" dirty="0"/>
              <a:t>a  </a:t>
            </a:r>
            <a:r>
              <a:rPr lang="en-US" altLang="zh-TW" dirty="0"/>
              <a:t>mod 5)</a:t>
            </a:r>
          </a:p>
          <a:p>
            <a:pPr lvl="1" eaLnBrk="1" hangingPunct="1"/>
            <a:r>
              <a:rPr lang="en-US" altLang="zh-TW" dirty="0"/>
              <a:t>This leads to the table:</a:t>
            </a:r>
          </a:p>
          <a:p>
            <a:pPr lvl="1" eaLnBrk="1" hangingPunct="1"/>
            <a:endParaRPr lang="en-US" altLang="zh-TW" sz="2800" dirty="0"/>
          </a:p>
          <a:p>
            <a:pPr lvl="1" eaLnBrk="1" hangingPunct="1"/>
            <a:endParaRPr lang="en-US" altLang="zh-TW" sz="2800" dirty="0"/>
          </a:p>
          <a:p>
            <a:pPr lvl="1" eaLnBrk="1" hangingPunct="1"/>
            <a:r>
              <a:rPr lang="en-US" altLang="zh-TW" dirty="0"/>
              <a:t>All elements in </a:t>
            </a:r>
            <a:r>
              <a:rPr lang="pl-PL" altLang="zh-TW" b="1" i="1" dirty="0"/>
              <a:t>Z</a:t>
            </a:r>
            <a:r>
              <a:rPr lang="pl-PL" altLang="zh-TW" i="1" baseline="-25000" dirty="0"/>
              <a:t>N</a:t>
            </a:r>
            <a:r>
              <a:rPr lang="en-US" altLang="zh-TW" dirty="0"/>
              <a:t> have </a:t>
            </a:r>
            <a:r>
              <a:rPr lang="en-US" altLang="zh-TW" i="1" dirty="0"/>
              <a:t>different coordinates</a:t>
            </a:r>
          </a:p>
          <a:p>
            <a:pPr lvl="1" eaLnBrk="1" hangingPunct="1"/>
            <a:r>
              <a:rPr lang="en-US" altLang="zh-TW" dirty="0"/>
              <a:t>Given (</a:t>
            </a:r>
            <a:r>
              <a:rPr lang="en-US" altLang="zh-TW" i="1" dirty="0"/>
              <a:t>a</a:t>
            </a:r>
            <a:r>
              <a:rPr lang="en-US" altLang="zh-TW" baseline="-25000" dirty="0"/>
              <a:t>1</a:t>
            </a:r>
            <a:r>
              <a:rPr lang="en-US" altLang="zh-TW" dirty="0"/>
              <a:t>, </a:t>
            </a:r>
            <a:r>
              <a:rPr lang="en-US" altLang="zh-TW" i="1" dirty="0"/>
              <a:t>a</a:t>
            </a:r>
            <a:r>
              <a:rPr lang="en-US" altLang="zh-TW" baseline="-25000" dirty="0"/>
              <a:t>2</a:t>
            </a:r>
            <a:r>
              <a:rPr lang="en-US" altLang="zh-TW" dirty="0"/>
              <a:t>) with</a:t>
            </a:r>
            <a:r>
              <a:rPr lang="en-US" altLang="zh-TW" baseline="-25000" dirty="0"/>
              <a:t>  </a:t>
            </a:r>
            <a:r>
              <a:rPr lang="en-US" altLang="zh-TW" dirty="0"/>
              <a:t>0 </a:t>
            </a:r>
            <a:r>
              <a:rPr lang="en-US" altLang="zh-TW" dirty="0">
                <a:cs typeface="Arial" charset="0"/>
              </a:rPr>
              <a:t>≤</a:t>
            </a:r>
            <a:r>
              <a:rPr lang="en-US" altLang="zh-TW" dirty="0"/>
              <a:t> </a:t>
            </a:r>
            <a:r>
              <a:rPr lang="en-US" altLang="zh-TW" i="1" dirty="0"/>
              <a:t>a</a:t>
            </a:r>
            <a:r>
              <a:rPr lang="en-US" altLang="zh-TW" baseline="-25000" dirty="0"/>
              <a:t>1 </a:t>
            </a:r>
            <a:r>
              <a:rPr lang="en-US" altLang="zh-TW" dirty="0"/>
              <a:t>&lt; 3</a:t>
            </a:r>
            <a:r>
              <a:rPr lang="en-US" altLang="zh-TW" baseline="-25000" dirty="0"/>
              <a:t>  </a:t>
            </a:r>
            <a:r>
              <a:rPr lang="en-US" altLang="zh-TW" dirty="0"/>
              <a:t>and</a:t>
            </a:r>
            <a:r>
              <a:rPr lang="en-US" altLang="zh-TW" baseline="-25000" dirty="0"/>
              <a:t>  </a:t>
            </a:r>
            <a:r>
              <a:rPr lang="en-US" altLang="zh-TW" dirty="0"/>
              <a:t>0 </a:t>
            </a:r>
            <a:r>
              <a:rPr lang="en-US" altLang="zh-TW" dirty="0">
                <a:cs typeface="Arial" charset="0"/>
              </a:rPr>
              <a:t>≤ </a:t>
            </a:r>
            <a:r>
              <a:rPr lang="en-US" altLang="zh-TW" i="1" dirty="0"/>
              <a:t>a</a:t>
            </a:r>
            <a:r>
              <a:rPr lang="en-US" altLang="zh-TW" baseline="-25000" dirty="0"/>
              <a:t>2 </a:t>
            </a:r>
            <a:r>
              <a:rPr lang="en-US" altLang="zh-TW" dirty="0"/>
              <a:t>&lt; 5, we can reconstruct</a:t>
            </a:r>
            <a:r>
              <a:rPr lang="en-US" altLang="zh-TW" baseline="-25000" dirty="0"/>
              <a:t>  </a:t>
            </a:r>
            <a:r>
              <a:rPr lang="en-US" altLang="zh-TW" i="1" dirty="0"/>
              <a:t>a</a:t>
            </a:r>
          </a:p>
        </p:txBody>
      </p:sp>
      <p:graphicFrame>
        <p:nvGraphicFramePr>
          <p:cNvPr id="216068" name="Group 4"/>
          <p:cNvGraphicFramePr>
            <a:graphicFrameLocks noGrp="1"/>
          </p:cNvGraphicFramePr>
          <p:nvPr>
            <p:ph sz="half" idx="2"/>
          </p:nvPr>
        </p:nvGraphicFramePr>
        <p:xfrm>
          <a:off x="4716463" y="3230563"/>
          <a:ext cx="2952750" cy="1341436"/>
        </p:xfrm>
        <a:graphic>
          <a:graphicData uri="http://schemas.openxmlformats.org/drawingml/2006/table">
            <a:tbl>
              <a:tblPr/>
              <a:tblGrid>
                <a:gridCol w="49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0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T="45731" marB="4573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T="45731" marB="4573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marT="45731" marB="4573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T="45731" marB="4573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11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1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1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16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投影片編號版面配置區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9F5034BD-B629-4A16-AEAD-79F1801A0A13}" type="slidenum">
              <a:rPr kumimoji="0" lang="en-US" altLang="zh-TW" smtClean="0"/>
              <a:pPr eaLnBrk="1" hangingPunct="1"/>
              <a:t>36</a:t>
            </a:fld>
            <a:endParaRPr kumimoji="0" lang="en-US" altLang="zh-TW"/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zh-TW" sz="4000"/>
              <a:t>Chinese Remainder Theorem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472488" cy="4662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b="1" dirty="0"/>
              <a:t>Example</a:t>
            </a:r>
            <a:r>
              <a:rPr lang="en-US" altLang="zh-TW" i="1" dirty="0"/>
              <a:t>  N </a:t>
            </a:r>
            <a:r>
              <a:rPr lang="en-US" altLang="zh-TW" dirty="0"/>
              <a:t>= 24 = 4 </a:t>
            </a:r>
            <a:r>
              <a:rPr lang="en-US" altLang="zh-TW" b="1" dirty="0">
                <a:cs typeface="Arial" charset="0"/>
                <a:sym typeface="Symbol" pitchFamily="18" charset="2"/>
              </a:rPr>
              <a:t></a:t>
            </a:r>
            <a:r>
              <a:rPr lang="en-US" altLang="zh-TW" dirty="0"/>
              <a:t> 6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Every element </a:t>
            </a:r>
            <a:r>
              <a:rPr lang="en-US" altLang="zh-TW" i="1" dirty="0"/>
              <a:t>a</a:t>
            </a:r>
            <a:r>
              <a:rPr lang="en-US" altLang="zh-TW" i="1" baseline="-25000" dirty="0"/>
              <a:t> </a:t>
            </a:r>
            <a:r>
              <a:rPr lang="en-US" altLang="zh-TW" dirty="0">
                <a:sym typeface="Symbol" pitchFamily="18" charset="2"/>
              </a:rPr>
              <a:t>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pl-PL" altLang="zh-TW" b="1" i="1" dirty="0"/>
              <a:t>Z</a:t>
            </a:r>
            <a:r>
              <a:rPr lang="pl-PL" altLang="zh-TW" i="1" baseline="-25000" dirty="0"/>
              <a:t>N</a:t>
            </a:r>
            <a:r>
              <a:rPr lang="en-US" altLang="zh-TW" dirty="0"/>
              <a:t> can be represented by its coordinates (</a:t>
            </a:r>
            <a:r>
              <a:rPr lang="en-US" altLang="zh-TW" i="1" dirty="0"/>
              <a:t>a  </a:t>
            </a:r>
            <a:r>
              <a:rPr lang="en-US" altLang="zh-TW" dirty="0"/>
              <a:t>mod 4, </a:t>
            </a:r>
            <a:r>
              <a:rPr lang="en-US" altLang="zh-TW" i="1" dirty="0"/>
              <a:t>a  </a:t>
            </a:r>
            <a:r>
              <a:rPr lang="en-US" altLang="zh-TW" dirty="0"/>
              <a:t>mod 6)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This leads to the table: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2800" dirty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800" dirty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i="1" dirty="0"/>
              <a:t>a</a:t>
            </a:r>
            <a:r>
              <a:rPr lang="en-US" altLang="zh-TW" i="1" baseline="-25000" dirty="0"/>
              <a:t>  </a:t>
            </a:r>
            <a:r>
              <a:rPr lang="en-US" altLang="zh-TW" dirty="0"/>
              <a:t>and</a:t>
            </a:r>
            <a:r>
              <a:rPr lang="en-US" altLang="zh-TW" baseline="-25000" dirty="0"/>
              <a:t>  </a:t>
            </a:r>
            <a:r>
              <a:rPr lang="en-US" altLang="zh-TW" i="1" dirty="0"/>
              <a:t>a</a:t>
            </a:r>
            <a:r>
              <a:rPr lang="en-US" altLang="zh-TW" i="1" baseline="-25000" dirty="0"/>
              <a:t> </a:t>
            </a:r>
            <a:r>
              <a:rPr lang="en-US" altLang="zh-TW" dirty="0"/>
              <a:t>+12 (mod</a:t>
            </a:r>
            <a:r>
              <a:rPr lang="en-US" altLang="zh-TW" baseline="-25000" dirty="0"/>
              <a:t> </a:t>
            </a:r>
            <a:r>
              <a:rPr lang="en-US" altLang="zh-TW" dirty="0"/>
              <a:t>24) map to the </a:t>
            </a:r>
            <a:r>
              <a:rPr lang="en-US" altLang="zh-TW" i="1" dirty="0"/>
              <a:t>same coordinates</a:t>
            </a:r>
            <a:endParaRPr lang="en-US" altLang="zh-TW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Given (</a:t>
            </a:r>
            <a:r>
              <a:rPr lang="en-US" altLang="zh-TW" i="1" dirty="0"/>
              <a:t>a</a:t>
            </a:r>
            <a:r>
              <a:rPr lang="en-US" altLang="zh-TW" baseline="-25000" dirty="0"/>
              <a:t>1</a:t>
            </a:r>
            <a:r>
              <a:rPr lang="en-US" altLang="zh-TW" dirty="0"/>
              <a:t>, </a:t>
            </a:r>
            <a:r>
              <a:rPr lang="en-US" altLang="zh-TW" i="1" dirty="0"/>
              <a:t>a</a:t>
            </a:r>
            <a:r>
              <a:rPr lang="en-US" altLang="zh-TW" baseline="-25000" dirty="0"/>
              <a:t>2</a:t>
            </a:r>
            <a:r>
              <a:rPr lang="en-US" altLang="zh-TW" dirty="0"/>
              <a:t>) with 0 </a:t>
            </a:r>
            <a:r>
              <a:rPr lang="en-US" altLang="zh-TW" dirty="0">
                <a:cs typeface="Arial" charset="0"/>
              </a:rPr>
              <a:t>≤</a:t>
            </a:r>
            <a:r>
              <a:rPr lang="en-US" altLang="zh-TW" dirty="0"/>
              <a:t> </a:t>
            </a:r>
            <a:r>
              <a:rPr lang="en-US" altLang="zh-TW" i="1" dirty="0"/>
              <a:t>a</a:t>
            </a:r>
            <a:r>
              <a:rPr lang="en-US" altLang="zh-TW" baseline="-25000" dirty="0"/>
              <a:t>1 </a:t>
            </a:r>
            <a:r>
              <a:rPr lang="en-US" altLang="zh-TW" dirty="0"/>
              <a:t>&lt; 4 and 0 </a:t>
            </a:r>
            <a:r>
              <a:rPr lang="en-US" altLang="zh-TW" dirty="0">
                <a:cs typeface="Arial" charset="0"/>
              </a:rPr>
              <a:t>≤</a:t>
            </a:r>
            <a:r>
              <a:rPr lang="en-US" altLang="zh-TW" dirty="0"/>
              <a:t> </a:t>
            </a:r>
            <a:r>
              <a:rPr lang="en-US" altLang="zh-TW" i="1" dirty="0"/>
              <a:t>a</a:t>
            </a:r>
            <a:r>
              <a:rPr lang="en-US" altLang="zh-TW" baseline="-25000" dirty="0"/>
              <a:t>2 </a:t>
            </a:r>
            <a:r>
              <a:rPr lang="en-US" altLang="zh-TW" dirty="0"/>
              <a:t>&lt; 6, we can not uniquely reconstruct </a:t>
            </a:r>
            <a:r>
              <a:rPr lang="en-US" altLang="zh-TW" i="1" dirty="0"/>
              <a:t>a</a:t>
            </a:r>
            <a:endParaRPr lang="en-US" altLang="zh-TW" dirty="0"/>
          </a:p>
        </p:txBody>
      </p:sp>
      <p:graphicFrame>
        <p:nvGraphicFramePr>
          <p:cNvPr id="217092" name="Group 4"/>
          <p:cNvGraphicFramePr>
            <a:graphicFrameLocks noGrp="1"/>
          </p:cNvGraphicFramePr>
          <p:nvPr>
            <p:ph sz="quarter" idx="2"/>
          </p:nvPr>
        </p:nvGraphicFramePr>
        <p:xfrm>
          <a:off x="4716463" y="3141663"/>
          <a:ext cx="3959225" cy="1524000"/>
        </p:xfrm>
        <a:graphic>
          <a:graphicData uri="http://schemas.openxmlformats.org/drawingml/2006/table">
            <a:tbl>
              <a:tblPr/>
              <a:tblGrid>
                <a:gridCol w="357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0/12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8/20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4/16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1/13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9/21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5/17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6/18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2/14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10/22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7/19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3/15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11/23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1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1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D359A5C7-8CD1-4517-8965-328B6753DFA5}" type="slidenum">
              <a:rPr kumimoji="0" lang="en-US" altLang="zh-TW" smtClean="0"/>
              <a:pPr eaLnBrk="1" hangingPunct="1"/>
              <a:t>37</a:t>
            </a:fld>
            <a:endParaRPr kumimoji="0" lang="en-US" altLang="zh-TW"/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zh-TW" sz="4000"/>
              <a:t>Chinese Remainder Theorem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362950" cy="4679950"/>
          </a:xfrm>
        </p:spPr>
        <p:txBody>
          <a:bodyPr/>
          <a:lstStyle/>
          <a:p>
            <a:pPr eaLnBrk="1" hangingPunct="1"/>
            <a:r>
              <a:rPr lang="en-US" altLang="zh-TW" b="1" dirty="0"/>
              <a:t>Remark</a:t>
            </a:r>
            <a:endParaRPr lang="en-US" altLang="zh-TW" sz="2600" b="1" dirty="0"/>
          </a:p>
          <a:p>
            <a:pPr lvl="1" eaLnBrk="1" hangingPunct="1"/>
            <a:r>
              <a:rPr lang="en-US" altLang="zh-TW" dirty="0"/>
              <a:t>If  </a:t>
            </a:r>
            <a:r>
              <a:rPr lang="en-US" altLang="zh-TW" i="1" dirty="0"/>
              <a:t>N </a:t>
            </a:r>
            <a:r>
              <a:rPr lang="en-US" altLang="zh-TW" dirty="0"/>
              <a:t>= </a:t>
            </a:r>
            <a:r>
              <a:rPr lang="en-US" altLang="zh-TW" i="1" dirty="0"/>
              <a:t>m</a:t>
            </a:r>
            <a:r>
              <a:rPr lang="en-US" altLang="zh-TW" baseline="-25000" dirty="0"/>
              <a:t>1</a:t>
            </a:r>
            <a:r>
              <a:rPr lang="en-US" altLang="zh-TW" i="1" dirty="0"/>
              <a:t>m</a:t>
            </a:r>
            <a:r>
              <a:rPr lang="en-US" altLang="zh-TW" baseline="-25000" dirty="0"/>
              <a:t>2</a:t>
            </a:r>
            <a:r>
              <a:rPr lang="en-US" altLang="zh-TW" dirty="0"/>
              <a:t> with </a:t>
            </a:r>
            <a:r>
              <a:rPr lang="pl-PL" altLang="zh-TW" i="1" dirty="0"/>
              <a:t>m</a:t>
            </a:r>
            <a:r>
              <a:rPr lang="pl-PL" altLang="zh-TW" baseline="-25000" dirty="0"/>
              <a:t>1</a:t>
            </a:r>
            <a:r>
              <a:rPr lang="en-US" altLang="zh-TW" dirty="0"/>
              <a:t> </a:t>
            </a:r>
            <a:r>
              <a:rPr lang="en-US" altLang="zh-TW" dirty="0">
                <a:sym typeface="Symbol" pitchFamily="18" charset="2"/>
              </a:rPr>
              <a:t> </a:t>
            </a:r>
            <a:r>
              <a:rPr lang="pl-PL" altLang="zh-TW" i="1" dirty="0"/>
              <a:t>m</a:t>
            </a:r>
            <a:r>
              <a:rPr lang="pl-PL" altLang="zh-TW" baseline="-25000" dirty="0"/>
              <a:t>2</a:t>
            </a:r>
            <a:r>
              <a:rPr lang="en-US" altLang="zh-TW" dirty="0"/>
              <a:t>, computation modulo </a:t>
            </a:r>
            <a:r>
              <a:rPr lang="en-US" altLang="zh-TW" i="1" dirty="0"/>
              <a:t>N </a:t>
            </a:r>
            <a:r>
              <a:rPr lang="en-US" altLang="zh-TW" dirty="0"/>
              <a:t>can be replaced by modulo </a:t>
            </a:r>
            <a:r>
              <a:rPr lang="en-US" altLang="zh-TW" i="1" dirty="0"/>
              <a:t>m</a:t>
            </a:r>
            <a:r>
              <a:rPr lang="en-US" altLang="zh-TW" baseline="-25000" dirty="0"/>
              <a:t>1</a:t>
            </a:r>
            <a:r>
              <a:rPr lang="en-US" altLang="zh-TW" dirty="0"/>
              <a:t> and modulo </a:t>
            </a:r>
            <a:r>
              <a:rPr lang="en-US" altLang="zh-TW" i="1" dirty="0"/>
              <a:t>m</a:t>
            </a:r>
            <a:r>
              <a:rPr lang="en-US" altLang="zh-TW" baseline="-25000" dirty="0"/>
              <a:t>2</a:t>
            </a:r>
            <a:endParaRPr lang="en-US" altLang="zh-TW" dirty="0"/>
          </a:p>
          <a:p>
            <a:pPr lvl="2" eaLnBrk="1" hangingPunct="1"/>
            <a:r>
              <a:rPr lang="en-US" altLang="zh-TW" sz="2600" dirty="0"/>
              <a:t>i.e., </a:t>
            </a:r>
            <a:r>
              <a:rPr lang="pl-PL" altLang="zh-TW" sz="2600" b="1" i="1" dirty="0"/>
              <a:t>Z</a:t>
            </a:r>
            <a:r>
              <a:rPr lang="pl-PL" altLang="zh-TW" sz="2600" i="1" baseline="-25000" dirty="0"/>
              <a:t>N</a:t>
            </a:r>
            <a:r>
              <a:rPr lang="en-US" altLang="zh-TW" sz="2600" baseline="-25000" dirty="0"/>
              <a:t>  </a:t>
            </a:r>
            <a:r>
              <a:rPr lang="pl-PL" altLang="zh-TW" sz="260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≅</a:t>
            </a:r>
            <a:r>
              <a:rPr lang="pl-PL" altLang="zh-TW" sz="2600" baseline="-25000" dirty="0"/>
              <a:t> </a:t>
            </a:r>
            <a:r>
              <a:rPr lang="en-US" altLang="zh-TW" sz="2600" baseline="-25000" dirty="0"/>
              <a:t> </a:t>
            </a:r>
            <a:r>
              <a:rPr lang="pl-PL" altLang="zh-TW" sz="2600" b="1" i="1" dirty="0"/>
              <a:t>Z</a:t>
            </a:r>
            <a:r>
              <a:rPr lang="pl-PL" altLang="zh-TW" sz="2600" i="1" baseline="-25000" dirty="0"/>
              <a:t>m</a:t>
            </a:r>
            <a:r>
              <a:rPr lang="pl-PL" altLang="zh-TW" sz="2600" baseline="-50000" dirty="0"/>
              <a:t>1</a:t>
            </a:r>
            <a:r>
              <a:rPr lang="en-US" altLang="zh-TW" sz="2600" dirty="0"/>
              <a:t> </a:t>
            </a:r>
            <a:r>
              <a:rPr lang="en-US" altLang="zh-TW" sz="2600" dirty="0">
                <a:cs typeface="Arial" charset="0"/>
              </a:rPr>
              <a:t>×</a:t>
            </a:r>
            <a:r>
              <a:rPr lang="en-US" altLang="zh-TW" sz="2600" dirty="0"/>
              <a:t> </a:t>
            </a:r>
            <a:r>
              <a:rPr lang="pl-PL" altLang="zh-TW" sz="2600" b="1" i="1" dirty="0"/>
              <a:t>Z</a:t>
            </a:r>
            <a:r>
              <a:rPr lang="pl-PL" altLang="zh-TW" sz="2600" i="1" baseline="-25000" dirty="0"/>
              <a:t>m</a:t>
            </a:r>
            <a:r>
              <a:rPr lang="pl-PL" altLang="zh-TW" sz="2600" baseline="-50000" dirty="0"/>
              <a:t>2</a:t>
            </a:r>
            <a:r>
              <a:rPr lang="en-US" altLang="zh-TW" sz="2600" dirty="0"/>
              <a:t>  </a:t>
            </a:r>
            <a:r>
              <a:rPr lang="pl-PL" altLang="zh-TW" sz="2600" dirty="0"/>
              <a:t>iff  </a:t>
            </a:r>
            <a:r>
              <a:rPr lang="en-US" altLang="zh-TW" sz="2600" dirty="0" err="1"/>
              <a:t>gcd</a:t>
            </a:r>
            <a:r>
              <a:rPr lang="en-US" altLang="zh-TW" sz="2600" dirty="0"/>
              <a:t>(</a:t>
            </a:r>
            <a:r>
              <a:rPr lang="en-US" altLang="zh-TW" sz="2600" i="1" dirty="0"/>
              <a:t>m</a:t>
            </a:r>
            <a:r>
              <a:rPr lang="en-US" altLang="zh-TW" sz="2600" baseline="-25000" dirty="0"/>
              <a:t>1</a:t>
            </a:r>
            <a:r>
              <a:rPr lang="en-US" altLang="zh-TW" sz="2600" dirty="0"/>
              <a:t>, </a:t>
            </a:r>
            <a:r>
              <a:rPr lang="en-US" altLang="zh-TW" sz="2600" i="1" dirty="0"/>
              <a:t>m</a:t>
            </a:r>
            <a:r>
              <a:rPr lang="en-US" altLang="zh-TW" sz="2600" baseline="-25000" dirty="0"/>
              <a:t>2</a:t>
            </a:r>
            <a:r>
              <a:rPr lang="en-US" altLang="zh-TW" sz="2600" dirty="0"/>
              <a:t>) = 1</a:t>
            </a:r>
          </a:p>
          <a:p>
            <a:pPr lvl="1" eaLnBrk="1" hangingPunct="1"/>
            <a:r>
              <a:rPr lang="en-US" altLang="zh-TW" dirty="0"/>
              <a:t>If  </a:t>
            </a:r>
            <a:r>
              <a:rPr lang="en-US" altLang="zh-TW" i="1" dirty="0"/>
              <a:t>N </a:t>
            </a:r>
            <a:r>
              <a:rPr lang="en-US" altLang="zh-TW" dirty="0"/>
              <a:t>= </a:t>
            </a:r>
            <a:r>
              <a:rPr lang="en-US" altLang="zh-TW" i="1" dirty="0"/>
              <a:t>m</a:t>
            </a:r>
            <a:r>
              <a:rPr lang="en-US" altLang="zh-TW" baseline="-25000" dirty="0"/>
              <a:t>1 </a:t>
            </a:r>
            <a:r>
              <a:rPr lang="en-US" altLang="zh-TW" i="1" dirty="0"/>
              <a:t>m</a:t>
            </a:r>
            <a:r>
              <a:rPr lang="en-US" altLang="zh-TW" baseline="-25000" dirty="0"/>
              <a:t>2</a:t>
            </a:r>
            <a:r>
              <a:rPr lang="en-US" altLang="zh-TW" dirty="0"/>
              <a:t>, it is very easy to compute the coordinates of</a:t>
            </a:r>
            <a:r>
              <a:rPr lang="en-US" altLang="zh-TW" i="1" dirty="0"/>
              <a:t> a </a:t>
            </a:r>
            <a:r>
              <a:rPr lang="en-US" altLang="zh-TW" dirty="0">
                <a:latin typeface="MS PGothic" pitchFamily="34" charset="-128"/>
                <a:ea typeface="MS PGothic" pitchFamily="34" charset="-128"/>
                <a:cs typeface="Arial" charset="0"/>
                <a:sym typeface="Symbol" pitchFamily="18" charset="2"/>
              </a:rPr>
              <a:t></a:t>
            </a:r>
            <a:r>
              <a:rPr lang="en-US" altLang="zh-TW" baseline="-25000" dirty="0">
                <a:latin typeface="MS PGothic" pitchFamily="34" charset="-128"/>
                <a:ea typeface="MS PGothic" pitchFamily="34" charset="-128"/>
                <a:cs typeface="Arial" charset="0"/>
              </a:rPr>
              <a:t> </a:t>
            </a:r>
            <a:r>
              <a:rPr lang="en-US" altLang="zh-TW" b="1" i="1" dirty="0"/>
              <a:t>Z</a:t>
            </a:r>
            <a:r>
              <a:rPr lang="en-US" altLang="zh-TW" i="1" baseline="-25000" dirty="0"/>
              <a:t>N</a:t>
            </a:r>
            <a:r>
              <a:rPr lang="en-US" altLang="zh-TW" dirty="0"/>
              <a:t>, since they are simply </a:t>
            </a:r>
          </a:p>
          <a:p>
            <a:pPr algn="ctr" eaLnBrk="1" fontAlgn="b" hangingPunct="1">
              <a:buFont typeface="Wingdings" pitchFamily="2" charset="2"/>
              <a:buNone/>
            </a:pPr>
            <a:r>
              <a:rPr lang="en-US" altLang="zh-TW" sz="2600" dirty="0"/>
              <a:t>	(</a:t>
            </a:r>
            <a:r>
              <a:rPr lang="en-US" altLang="zh-TW" sz="2600" i="1" dirty="0"/>
              <a:t>a  </a:t>
            </a:r>
            <a:r>
              <a:rPr lang="en-US" altLang="zh-TW" sz="2600" dirty="0"/>
              <a:t>mod </a:t>
            </a:r>
            <a:r>
              <a:rPr lang="en-US" altLang="zh-TW" sz="2600" i="1" dirty="0"/>
              <a:t>m</a:t>
            </a:r>
            <a:r>
              <a:rPr lang="en-US" altLang="zh-TW" sz="2600" baseline="-25000" dirty="0"/>
              <a:t>1</a:t>
            </a:r>
            <a:r>
              <a:rPr lang="en-US" altLang="zh-TW" sz="2600" dirty="0"/>
              <a:t>, </a:t>
            </a:r>
            <a:r>
              <a:rPr lang="en-US" altLang="zh-TW" sz="2600" i="1" dirty="0"/>
              <a:t>a  </a:t>
            </a:r>
            <a:r>
              <a:rPr lang="en-US" altLang="zh-TW" sz="2600" dirty="0"/>
              <a:t>mod </a:t>
            </a:r>
            <a:r>
              <a:rPr lang="en-US" altLang="zh-TW" sz="2600" i="1" dirty="0"/>
              <a:t>m</a:t>
            </a:r>
            <a:r>
              <a:rPr lang="en-US" altLang="zh-TW" sz="2600" baseline="-25000" dirty="0"/>
              <a:t>2</a:t>
            </a:r>
            <a:r>
              <a:rPr lang="en-US" altLang="zh-TW" sz="2600" dirty="0"/>
              <a:t>)</a:t>
            </a:r>
          </a:p>
          <a:p>
            <a:pPr lvl="1" eaLnBrk="1" hangingPunct="1"/>
            <a:r>
              <a:rPr lang="en-US" altLang="zh-TW" dirty="0"/>
              <a:t>However, given the coordinates (</a:t>
            </a:r>
            <a:r>
              <a:rPr lang="en-US" altLang="zh-TW" i="1" dirty="0"/>
              <a:t>a</a:t>
            </a:r>
            <a:r>
              <a:rPr lang="en-US" altLang="zh-TW" baseline="-25000" dirty="0"/>
              <a:t>1</a:t>
            </a:r>
            <a:r>
              <a:rPr lang="en-US" altLang="zh-TW" dirty="0"/>
              <a:t>, </a:t>
            </a:r>
            <a:r>
              <a:rPr lang="en-US" altLang="zh-TW" i="1" dirty="0"/>
              <a:t>a</a:t>
            </a:r>
            <a:r>
              <a:rPr lang="en-US" altLang="zh-TW" baseline="-25000" dirty="0"/>
              <a:t>2</a:t>
            </a:r>
            <a:r>
              <a:rPr lang="en-US" altLang="zh-TW" dirty="0"/>
              <a:t>) of </a:t>
            </a:r>
            <a:r>
              <a:rPr lang="en-US" altLang="zh-TW" i="1" dirty="0"/>
              <a:t>a</a:t>
            </a:r>
            <a:r>
              <a:rPr lang="en-US" altLang="zh-TW" dirty="0"/>
              <a:t> with   0 </a:t>
            </a:r>
            <a:r>
              <a:rPr lang="en-US" altLang="zh-TW" dirty="0">
                <a:cs typeface="Arial" charset="0"/>
              </a:rPr>
              <a:t>≤</a:t>
            </a:r>
            <a:r>
              <a:rPr lang="en-US" altLang="zh-TW" dirty="0">
                <a:ea typeface="MS PGothic" pitchFamily="34" charset="-128"/>
              </a:rPr>
              <a:t> </a:t>
            </a:r>
            <a:r>
              <a:rPr lang="en-US" altLang="zh-TW" i="1" dirty="0"/>
              <a:t>a</a:t>
            </a:r>
            <a:r>
              <a:rPr lang="en-US" altLang="zh-TW" baseline="-25000" dirty="0"/>
              <a:t>1 </a:t>
            </a:r>
            <a:r>
              <a:rPr lang="en-US" altLang="zh-TW" dirty="0"/>
              <a:t>&lt; </a:t>
            </a:r>
            <a:r>
              <a:rPr lang="en-US" altLang="zh-TW" i="1" dirty="0"/>
              <a:t>m</a:t>
            </a:r>
            <a:r>
              <a:rPr lang="en-US" altLang="zh-TW" baseline="-25000" dirty="0"/>
              <a:t>1</a:t>
            </a:r>
            <a:r>
              <a:rPr lang="en-US" altLang="zh-TW" dirty="0"/>
              <a:t> and 0 </a:t>
            </a:r>
            <a:r>
              <a:rPr lang="en-US" altLang="zh-TW" dirty="0">
                <a:cs typeface="Arial" charset="0"/>
              </a:rPr>
              <a:t>≤</a:t>
            </a:r>
            <a:r>
              <a:rPr lang="en-US" altLang="zh-TW" dirty="0">
                <a:ea typeface="MS PGothic" pitchFamily="34" charset="-128"/>
              </a:rPr>
              <a:t> </a:t>
            </a:r>
            <a:r>
              <a:rPr lang="en-US" altLang="zh-TW" i="1" dirty="0"/>
              <a:t>a</a:t>
            </a:r>
            <a:r>
              <a:rPr lang="en-US" altLang="zh-TW" baseline="-25000" dirty="0"/>
              <a:t>2 </a:t>
            </a:r>
            <a:r>
              <a:rPr lang="en-US" altLang="zh-TW" dirty="0"/>
              <a:t>&lt; </a:t>
            </a:r>
            <a:r>
              <a:rPr lang="en-US" altLang="zh-TW" i="1" dirty="0"/>
              <a:t>m</a:t>
            </a:r>
            <a:r>
              <a:rPr lang="en-US" altLang="zh-TW" baseline="-25000" dirty="0"/>
              <a:t>2</a:t>
            </a:r>
            <a:r>
              <a:rPr lang="en-US" altLang="zh-TW" dirty="0"/>
              <a:t>, how do we compute the corresponding </a:t>
            </a:r>
            <a:r>
              <a:rPr lang="en-US" altLang="zh-TW" i="1" dirty="0"/>
              <a:t>a</a:t>
            </a:r>
            <a:r>
              <a:rPr lang="en-US" altLang="zh-TW" dirty="0"/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8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4BAC10E4-D98E-4E8B-9AE0-43D8FDA7DFF0}" type="slidenum">
              <a:rPr kumimoji="0" lang="en-US" altLang="zh-TW" smtClean="0"/>
              <a:pPr eaLnBrk="1" hangingPunct="1"/>
              <a:t>38</a:t>
            </a:fld>
            <a:endParaRPr kumimoji="0" lang="en-US" altLang="zh-TW"/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zh-TW" sz="4000"/>
              <a:t>Chinese Remainder Theorem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TW" b="1" dirty="0"/>
              <a:t>Example</a:t>
            </a:r>
            <a:r>
              <a:rPr lang="en-US" altLang="zh-TW" dirty="0"/>
              <a:t>  Solve the system</a:t>
            </a:r>
            <a:r>
              <a:rPr lang="en-US" altLang="zh-TW" baseline="-25000" dirty="0"/>
              <a:t>  </a:t>
            </a:r>
            <a:r>
              <a:rPr lang="en-US" altLang="zh-TW" i="1" dirty="0"/>
              <a:t>x </a:t>
            </a:r>
            <a:r>
              <a:rPr lang="en-US" altLang="zh-TW" dirty="0">
                <a:ea typeface="MS PGothic" pitchFamily="34" charset="-128"/>
                <a:cs typeface="Arial" charset="0"/>
                <a:sym typeface="Symbol" pitchFamily="18" charset="2"/>
              </a:rPr>
              <a:t></a:t>
            </a:r>
            <a:r>
              <a:rPr lang="en-US" altLang="zh-TW" dirty="0">
                <a:ea typeface="MS PGothic" pitchFamily="34" charset="-128"/>
              </a:rPr>
              <a:t> </a:t>
            </a:r>
            <a:r>
              <a:rPr lang="en-US" altLang="zh-TW" dirty="0"/>
              <a:t>4</a:t>
            </a:r>
            <a:r>
              <a:rPr lang="en-US" altLang="zh-TW" baseline="-25000" dirty="0"/>
              <a:t>  </a:t>
            </a:r>
            <a:r>
              <a:rPr lang="en-US" altLang="zh-TW" dirty="0"/>
              <a:t>(mod 7)  and</a:t>
            </a:r>
            <a:r>
              <a:rPr lang="en-US" altLang="zh-TW" baseline="-25000" dirty="0"/>
              <a:t>  </a:t>
            </a:r>
            <a:r>
              <a:rPr lang="en-US" altLang="zh-TW" i="1" dirty="0"/>
              <a:t>x </a:t>
            </a:r>
            <a:r>
              <a:rPr lang="en-US" altLang="zh-TW" dirty="0">
                <a:ea typeface="MS PGothic" pitchFamily="34" charset="-128"/>
                <a:sym typeface="Symbol" pitchFamily="18" charset="2"/>
              </a:rPr>
              <a:t></a:t>
            </a:r>
            <a:r>
              <a:rPr lang="en-US" altLang="zh-TW" dirty="0">
                <a:ea typeface="MS PGothic" pitchFamily="34" charset="-128"/>
              </a:rPr>
              <a:t> </a:t>
            </a:r>
            <a:r>
              <a:rPr lang="en-US" altLang="zh-TW" dirty="0"/>
              <a:t>3</a:t>
            </a:r>
            <a:r>
              <a:rPr lang="en-US" altLang="zh-TW" baseline="-25000" dirty="0"/>
              <a:t>  </a:t>
            </a:r>
            <a:r>
              <a:rPr lang="en-US" altLang="zh-TW" dirty="0"/>
              <a:t>(mod 5)</a:t>
            </a:r>
            <a:endParaRPr lang="en-US" altLang="zh-TW" b="1" u="sng" dirty="0"/>
          </a:p>
          <a:p>
            <a:pPr eaLnBrk="1" hangingPunct="1">
              <a:lnSpc>
                <a:spcPct val="110000"/>
              </a:lnSpc>
            </a:pPr>
            <a:r>
              <a:rPr lang="en-US" altLang="zh-TW" b="1" dirty="0"/>
              <a:t>Solution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2400" dirty="0"/>
              <a:t>	We have  </a:t>
            </a:r>
            <a:r>
              <a:rPr lang="en-US" altLang="zh-TW" sz="2400" i="1" dirty="0"/>
              <a:t>x </a:t>
            </a:r>
            <a:r>
              <a:rPr lang="en-US" altLang="zh-TW" sz="2400" dirty="0"/>
              <a:t>= 4 + 7</a:t>
            </a:r>
            <a:r>
              <a:rPr lang="en-US" altLang="zh-TW" sz="2400" i="1" dirty="0"/>
              <a:t>u  </a:t>
            </a:r>
            <a:r>
              <a:rPr lang="en-US" altLang="zh-TW" sz="2400" dirty="0"/>
              <a:t>and  </a:t>
            </a:r>
            <a:r>
              <a:rPr lang="en-US" altLang="zh-TW" sz="2400" i="1" dirty="0"/>
              <a:t>x </a:t>
            </a:r>
            <a:r>
              <a:rPr lang="en-US" altLang="zh-TW" sz="2400" dirty="0">
                <a:ea typeface="MS PGothic" pitchFamily="34" charset="-128"/>
                <a:sym typeface="Symbol" pitchFamily="18" charset="2"/>
              </a:rPr>
              <a:t></a:t>
            </a:r>
            <a:r>
              <a:rPr lang="en-US" altLang="zh-TW" sz="2400" dirty="0">
                <a:ea typeface="MS PGothic" pitchFamily="34" charset="-128"/>
              </a:rPr>
              <a:t> </a:t>
            </a:r>
            <a:r>
              <a:rPr lang="en-US" altLang="zh-TW" sz="2400" dirty="0"/>
              <a:t>3  (mod 5)  for some </a:t>
            </a:r>
            <a:r>
              <a:rPr lang="en-US" altLang="zh-TW" sz="2400" i="1" dirty="0"/>
              <a:t>u </a:t>
            </a:r>
            <a:r>
              <a:rPr lang="en-US" altLang="zh-TW" sz="2400" dirty="0">
                <a:ea typeface="MS PGothic" pitchFamily="34" charset="-128"/>
                <a:sym typeface="Symbol" pitchFamily="18" charset="2"/>
              </a:rPr>
              <a:t></a:t>
            </a:r>
            <a:r>
              <a:rPr lang="en-US" altLang="zh-TW" sz="2400" dirty="0"/>
              <a:t> </a:t>
            </a:r>
            <a:r>
              <a:rPr lang="en-US" altLang="zh-TW" sz="2400" b="1" i="1" dirty="0"/>
              <a:t>Z</a:t>
            </a:r>
            <a:r>
              <a:rPr lang="en-US" altLang="zh-TW" sz="2400" dirty="0"/>
              <a:t>.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2400" dirty="0"/>
              <a:t>	Substituting in the 2nd equation gives 4 + 7</a:t>
            </a:r>
            <a:r>
              <a:rPr lang="en-US" altLang="zh-TW" sz="2400" i="1" dirty="0"/>
              <a:t>u </a:t>
            </a:r>
            <a:r>
              <a:rPr lang="en-US" altLang="zh-TW" sz="2400" dirty="0">
                <a:ea typeface="MS PGothic" pitchFamily="34" charset="-128"/>
                <a:sym typeface="Symbol" pitchFamily="18" charset="2"/>
              </a:rPr>
              <a:t></a:t>
            </a:r>
            <a:r>
              <a:rPr lang="en-US" altLang="zh-TW" sz="2400" dirty="0">
                <a:ea typeface="MS PGothic" pitchFamily="34" charset="-128"/>
              </a:rPr>
              <a:t> </a:t>
            </a:r>
            <a:r>
              <a:rPr lang="en-US" altLang="zh-TW" sz="2400" dirty="0"/>
              <a:t>3 (mod 5).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2400" dirty="0"/>
              <a:t>	Therefore, </a:t>
            </a:r>
            <a:r>
              <a:rPr lang="en-US" altLang="zh-TW" sz="2400" i="1" dirty="0"/>
              <a:t>u </a:t>
            </a:r>
            <a:r>
              <a:rPr lang="en-US" altLang="zh-TW" sz="2400" dirty="0"/>
              <a:t>is given by  2</a:t>
            </a:r>
            <a:r>
              <a:rPr lang="en-US" altLang="zh-TW" sz="2400" i="1" dirty="0"/>
              <a:t>u </a:t>
            </a:r>
            <a:r>
              <a:rPr lang="en-US" altLang="zh-TW" sz="2400" dirty="0">
                <a:ea typeface="MS PGothic" pitchFamily="34" charset="-128"/>
                <a:sym typeface="Symbol" pitchFamily="18" charset="2"/>
              </a:rPr>
              <a:t></a:t>
            </a:r>
            <a:r>
              <a:rPr lang="en-US" altLang="zh-TW" sz="2400" dirty="0">
                <a:ea typeface="MS PGothic" pitchFamily="34" charset="-128"/>
              </a:rPr>
              <a:t> </a:t>
            </a:r>
            <a:r>
              <a:rPr lang="en-US" altLang="zh-TW" sz="2400" dirty="0"/>
              <a:t>7</a:t>
            </a:r>
            <a:r>
              <a:rPr lang="en-US" altLang="zh-TW" sz="2400" i="1" dirty="0"/>
              <a:t>u </a:t>
            </a:r>
            <a:r>
              <a:rPr lang="en-US" altLang="zh-TW" sz="2400" dirty="0">
                <a:ea typeface="MS PGothic" pitchFamily="34" charset="-128"/>
                <a:sym typeface="Symbol" pitchFamily="18" charset="2"/>
              </a:rPr>
              <a:t></a:t>
            </a:r>
            <a:r>
              <a:rPr lang="en-US" altLang="zh-TW" sz="2400" dirty="0">
                <a:ea typeface="MS PGothic" pitchFamily="34" charset="-128"/>
              </a:rPr>
              <a:t> </a:t>
            </a:r>
            <a:r>
              <a:rPr lang="en-US" altLang="zh-TW" sz="2400" dirty="0"/>
              <a:t>3</a:t>
            </a:r>
            <a:r>
              <a:rPr lang="en-US" altLang="zh-TW" sz="2400" baseline="-25000" dirty="0"/>
              <a:t> </a:t>
            </a:r>
            <a:r>
              <a:rPr lang="en-US" altLang="zh-TW" sz="2400" dirty="0">
                <a:sym typeface="Symbol" pitchFamily="18" charset="2"/>
              </a:rPr>
              <a:t></a:t>
            </a:r>
            <a:r>
              <a:rPr lang="en-US" altLang="zh-TW" sz="2400" baseline="-25000" dirty="0"/>
              <a:t> </a:t>
            </a:r>
            <a:r>
              <a:rPr lang="en-US" altLang="zh-TW" sz="2400" dirty="0"/>
              <a:t>4 </a:t>
            </a:r>
            <a:r>
              <a:rPr lang="en-US" altLang="zh-TW" sz="2400" dirty="0">
                <a:ea typeface="MS PGothic" pitchFamily="34" charset="-128"/>
                <a:sym typeface="Symbol" pitchFamily="18" charset="2"/>
              </a:rPr>
              <a:t></a:t>
            </a:r>
            <a:r>
              <a:rPr lang="en-US" altLang="zh-TW" sz="2400" dirty="0">
                <a:ea typeface="MS PGothic" pitchFamily="34" charset="-128"/>
              </a:rPr>
              <a:t> </a:t>
            </a:r>
            <a:r>
              <a:rPr lang="en-US" altLang="zh-TW" sz="2400" dirty="0"/>
              <a:t>4  (mod 5).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2400" dirty="0"/>
              <a:t>	Hence we compute</a:t>
            </a:r>
            <a:r>
              <a:rPr lang="en-US" altLang="zh-TW" sz="2400" baseline="-25000" dirty="0"/>
              <a:t>  </a:t>
            </a:r>
            <a:r>
              <a:rPr lang="en-US" altLang="zh-TW" sz="2400" i="1" dirty="0"/>
              <a:t>u</a:t>
            </a:r>
            <a:r>
              <a:rPr lang="en-US" altLang="zh-TW" sz="2400" i="1" baseline="-25000" dirty="0"/>
              <a:t>  </a:t>
            </a:r>
            <a:r>
              <a:rPr lang="en-US" altLang="zh-TW" sz="2400" dirty="0"/>
              <a:t>as  </a:t>
            </a:r>
            <a:r>
              <a:rPr lang="en-US" altLang="zh-TW" sz="2400" i="1" dirty="0"/>
              <a:t>u </a:t>
            </a:r>
            <a:r>
              <a:rPr lang="en-US" altLang="zh-TW" sz="2400" dirty="0">
                <a:ea typeface="MS PGothic" pitchFamily="34" charset="-128"/>
                <a:sym typeface="Symbol" pitchFamily="18" charset="2"/>
              </a:rPr>
              <a:t></a:t>
            </a:r>
            <a:r>
              <a:rPr lang="en-US" altLang="zh-TW" sz="2400" dirty="0">
                <a:ea typeface="MS PGothic" pitchFamily="34" charset="-128"/>
              </a:rPr>
              <a:t> </a:t>
            </a:r>
            <a:r>
              <a:rPr lang="en-US" altLang="zh-TW" sz="2400" dirty="0"/>
              <a:t>4</a:t>
            </a:r>
            <a:r>
              <a:rPr lang="en-US" altLang="zh-TW" sz="2400" baseline="-25000" dirty="0"/>
              <a:t> </a:t>
            </a:r>
            <a:r>
              <a:rPr lang="en-US" altLang="zh-TW" sz="2400" i="1" dirty="0"/>
              <a:t>/</a:t>
            </a:r>
            <a:r>
              <a:rPr lang="en-US" altLang="zh-TW" sz="2400" baseline="-25000" dirty="0"/>
              <a:t> </a:t>
            </a:r>
            <a:r>
              <a:rPr lang="en-US" altLang="zh-TW" sz="2400" dirty="0"/>
              <a:t>2 </a:t>
            </a:r>
            <a:r>
              <a:rPr lang="en-US" altLang="zh-TW" sz="2400" dirty="0">
                <a:ea typeface="MS PGothic" pitchFamily="34" charset="-128"/>
                <a:sym typeface="Symbol" pitchFamily="18" charset="2"/>
              </a:rPr>
              <a:t></a:t>
            </a:r>
            <a:r>
              <a:rPr lang="en-US" altLang="zh-TW" sz="2400" dirty="0">
                <a:ea typeface="MS PGothic" pitchFamily="34" charset="-128"/>
              </a:rPr>
              <a:t> </a:t>
            </a:r>
            <a:r>
              <a:rPr lang="en-US" altLang="zh-TW" sz="2400" dirty="0"/>
              <a:t>2  (mod 5).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2400" dirty="0"/>
              <a:t>	But then  </a:t>
            </a:r>
            <a:r>
              <a:rPr lang="en-US" altLang="zh-TW" sz="2400" i="1" dirty="0"/>
              <a:t>x </a:t>
            </a:r>
            <a:r>
              <a:rPr lang="en-US" altLang="zh-TW" sz="2400" dirty="0">
                <a:ea typeface="MS PGothic" pitchFamily="34" charset="-128"/>
                <a:sym typeface="Symbol" pitchFamily="18" charset="2"/>
              </a:rPr>
              <a:t></a:t>
            </a:r>
            <a:r>
              <a:rPr lang="en-US" altLang="zh-TW" sz="2400" dirty="0">
                <a:ea typeface="MS PGothic" pitchFamily="34" charset="-128"/>
              </a:rPr>
              <a:t> </a:t>
            </a:r>
            <a:r>
              <a:rPr lang="en-US" altLang="zh-TW" sz="2400" dirty="0"/>
              <a:t>4 + 7</a:t>
            </a:r>
            <a:r>
              <a:rPr lang="en-US" altLang="zh-TW" sz="2400" i="1" dirty="0"/>
              <a:t>u </a:t>
            </a:r>
            <a:r>
              <a:rPr lang="en-US" altLang="zh-TW" sz="2400" dirty="0">
                <a:ea typeface="MS PGothic" pitchFamily="34" charset="-128"/>
                <a:sym typeface="Symbol" pitchFamily="18" charset="2"/>
              </a:rPr>
              <a:t></a:t>
            </a:r>
            <a:r>
              <a:rPr lang="en-US" altLang="zh-TW" sz="2400" dirty="0">
                <a:ea typeface="MS PGothic" pitchFamily="34" charset="-128"/>
              </a:rPr>
              <a:t> </a:t>
            </a:r>
            <a:r>
              <a:rPr lang="en-US" altLang="zh-TW" sz="2400" dirty="0"/>
              <a:t>4 + 7</a:t>
            </a:r>
            <a:r>
              <a:rPr lang="en-US" altLang="zh-TW" sz="2400" dirty="0">
                <a:ea typeface="MS PGothic" pitchFamily="34" charset="-128"/>
              </a:rPr>
              <a:t>×</a:t>
            </a:r>
            <a:r>
              <a:rPr lang="en-US" altLang="zh-TW" sz="2400" dirty="0"/>
              <a:t>2 </a:t>
            </a:r>
            <a:r>
              <a:rPr lang="en-US" altLang="zh-TW" sz="2400" dirty="0">
                <a:ea typeface="MS PGothic" pitchFamily="34" charset="-128"/>
                <a:sym typeface="Symbol" pitchFamily="18" charset="2"/>
              </a:rPr>
              <a:t></a:t>
            </a:r>
            <a:r>
              <a:rPr lang="en-US" altLang="zh-TW" sz="2400" dirty="0">
                <a:ea typeface="MS PGothic" pitchFamily="34" charset="-128"/>
              </a:rPr>
              <a:t> </a:t>
            </a:r>
            <a:r>
              <a:rPr lang="en-US" altLang="zh-TW" sz="2400" dirty="0"/>
              <a:t>18  (mod 35).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9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31F8EB69-D60B-4138-B2A3-B54B43AF2B8B}" type="slidenum">
              <a:rPr kumimoji="0" lang="en-US" altLang="zh-TW" smtClean="0"/>
              <a:pPr eaLnBrk="1" hangingPunct="1"/>
              <a:t>39</a:t>
            </a:fld>
            <a:endParaRPr kumimoji="0" lang="en-US" altLang="zh-TW"/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zh-TW" sz="4000"/>
              <a:t>Chinese Remainder Theorem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43063"/>
            <a:ext cx="8435975" cy="4567237"/>
          </a:xfrm>
        </p:spPr>
        <p:txBody>
          <a:bodyPr/>
          <a:lstStyle/>
          <a:p>
            <a:pPr eaLnBrk="1" hangingPunct="1"/>
            <a:r>
              <a:rPr lang="en-US" altLang="zh-TW" b="1" dirty="0"/>
              <a:t>Proposition</a:t>
            </a:r>
            <a:r>
              <a:rPr lang="en-US" altLang="zh-TW" dirty="0"/>
              <a:t>  The system</a:t>
            </a:r>
            <a:r>
              <a:rPr lang="en-US" altLang="zh-TW" i="1" baseline="-25000" dirty="0"/>
              <a:t>  </a:t>
            </a:r>
            <a:r>
              <a:rPr lang="en-US" altLang="zh-TW" i="1" dirty="0"/>
              <a:t>x </a:t>
            </a:r>
            <a:r>
              <a:rPr lang="en-US" altLang="zh-TW" dirty="0">
                <a:ea typeface="MS PGothic" pitchFamily="34" charset="-128"/>
                <a:cs typeface="Arial" charset="0"/>
                <a:sym typeface="Symbol" pitchFamily="18" charset="2"/>
              </a:rPr>
              <a:t></a:t>
            </a:r>
            <a:r>
              <a:rPr lang="en-US" altLang="zh-TW" dirty="0">
                <a:ea typeface="MS PGothic" pitchFamily="34" charset="-128"/>
                <a:cs typeface="Arial" charset="0"/>
              </a:rPr>
              <a:t> </a:t>
            </a:r>
            <a:r>
              <a:rPr lang="en-US" altLang="zh-TW" i="1" dirty="0">
                <a:cs typeface="Arial" charset="0"/>
              </a:rPr>
              <a:t>a</a:t>
            </a:r>
            <a:r>
              <a:rPr lang="en-US" altLang="zh-TW" baseline="-25000" dirty="0">
                <a:cs typeface="Arial" charset="0"/>
              </a:rPr>
              <a:t>1</a:t>
            </a:r>
            <a:r>
              <a:rPr lang="en-US" altLang="zh-TW" dirty="0">
                <a:cs typeface="Arial" charset="0"/>
              </a:rPr>
              <a:t> (mod </a:t>
            </a:r>
            <a:r>
              <a:rPr lang="en-US" altLang="zh-TW" i="1" dirty="0">
                <a:cs typeface="Arial" charset="0"/>
              </a:rPr>
              <a:t>m</a:t>
            </a:r>
            <a:r>
              <a:rPr lang="en-US" altLang="zh-TW" baseline="-25000" dirty="0">
                <a:cs typeface="Arial" charset="0"/>
              </a:rPr>
              <a:t>1</a:t>
            </a:r>
            <a:r>
              <a:rPr lang="en-US" altLang="zh-TW" dirty="0">
                <a:cs typeface="Arial" charset="0"/>
              </a:rPr>
              <a:t>)</a:t>
            </a:r>
            <a:r>
              <a:rPr lang="en-US" altLang="zh-TW" baseline="-25000" dirty="0">
                <a:cs typeface="Arial" charset="0"/>
              </a:rPr>
              <a:t>  </a:t>
            </a:r>
            <a:r>
              <a:rPr lang="en-US" altLang="zh-TW" dirty="0">
                <a:cs typeface="Arial" charset="0"/>
              </a:rPr>
              <a:t>and  </a:t>
            </a:r>
            <a:r>
              <a:rPr lang="en-US" altLang="zh-TW" i="1" dirty="0">
                <a:cs typeface="Arial" charset="0"/>
              </a:rPr>
              <a:t>x </a:t>
            </a:r>
            <a:r>
              <a:rPr lang="en-US" altLang="zh-TW" dirty="0">
                <a:ea typeface="MS PGothic" pitchFamily="34" charset="-128"/>
                <a:sym typeface="Symbol" pitchFamily="18" charset="2"/>
              </a:rPr>
              <a:t></a:t>
            </a:r>
            <a:r>
              <a:rPr lang="en-US" altLang="zh-TW" dirty="0">
                <a:ea typeface="MS PGothic" pitchFamily="34" charset="-128"/>
              </a:rPr>
              <a:t> </a:t>
            </a:r>
            <a:r>
              <a:rPr lang="en-US" altLang="zh-TW" i="1" dirty="0"/>
              <a:t>a</a:t>
            </a:r>
            <a:r>
              <a:rPr lang="en-US" altLang="zh-TW" baseline="-25000" dirty="0"/>
              <a:t>2</a:t>
            </a:r>
            <a:r>
              <a:rPr lang="en-US" altLang="zh-TW" dirty="0"/>
              <a:t> (mod </a:t>
            </a:r>
            <a:r>
              <a:rPr lang="en-US" altLang="zh-TW" i="1" dirty="0"/>
              <a:t>m</a:t>
            </a:r>
            <a:r>
              <a:rPr lang="en-US" altLang="zh-TW" baseline="-25000" dirty="0"/>
              <a:t>2</a:t>
            </a:r>
            <a:r>
              <a:rPr lang="en-US" altLang="zh-TW" dirty="0"/>
              <a:t>)</a:t>
            </a:r>
            <a:r>
              <a:rPr lang="en-US" altLang="zh-TW" baseline="-25000" dirty="0"/>
              <a:t>  </a:t>
            </a:r>
            <a:r>
              <a:rPr lang="en-US" altLang="zh-TW" dirty="0"/>
              <a:t>has a solution if  </a:t>
            </a:r>
            <a:r>
              <a:rPr lang="en-US" altLang="zh-TW" i="1" dirty="0"/>
              <a:t>m</a:t>
            </a:r>
            <a:r>
              <a:rPr lang="en-US" altLang="zh-TW" baseline="-25000" dirty="0"/>
              <a:t>1 </a:t>
            </a:r>
            <a:r>
              <a:rPr lang="en-US" altLang="zh-TW" dirty="0">
                <a:cs typeface="Arial" charset="0"/>
                <a:sym typeface="Symbol" pitchFamily="18" charset="2"/>
              </a:rPr>
              <a:t> </a:t>
            </a:r>
            <a:r>
              <a:rPr lang="en-US" altLang="zh-TW" i="1" dirty="0"/>
              <a:t>m</a:t>
            </a:r>
            <a:r>
              <a:rPr lang="en-US" altLang="zh-TW" baseline="-25000" dirty="0"/>
              <a:t>2</a:t>
            </a:r>
            <a:r>
              <a:rPr lang="en-US" altLang="zh-TW" dirty="0"/>
              <a:t>.  Any two solutions are congruent modulo </a:t>
            </a:r>
            <a:r>
              <a:rPr lang="en-US" altLang="zh-TW" i="1" dirty="0"/>
              <a:t>m</a:t>
            </a:r>
            <a:r>
              <a:rPr lang="en-US" altLang="zh-TW" baseline="-25000" dirty="0"/>
              <a:t>1</a:t>
            </a:r>
            <a:r>
              <a:rPr lang="en-US" altLang="zh-TW" i="1" dirty="0"/>
              <a:t>m</a:t>
            </a:r>
            <a:r>
              <a:rPr lang="en-US" altLang="zh-TW" baseline="-25000" dirty="0"/>
              <a:t>2</a:t>
            </a:r>
            <a:r>
              <a:rPr lang="en-US" altLang="zh-TW" i="1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b="1" dirty="0"/>
              <a:t>Proof </a:t>
            </a:r>
            <a:r>
              <a:rPr lang="en-US" altLang="zh-TW" dirty="0"/>
              <a:t> </a:t>
            </a:r>
          </a:p>
          <a:p>
            <a:pPr lvl="1" eaLnBrk="1" hangingPunct="1"/>
            <a:r>
              <a:rPr lang="en-US" altLang="zh-TW" dirty="0"/>
              <a:t>If  </a:t>
            </a:r>
            <a:r>
              <a:rPr lang="en-US" altLang="zh-TW" i="1" dirty="0"/>
              <a:t>t</a:t>
            </a:r>
            <a:r>
              <a:rPr lang="en-US" altLang="zh-TW" dirty="0"/>
              <a:t> = </a:t>
            </a:r>
            <a:r>
              <a:rPr lang="en-US" altLang="zh-TW" i="1" dirty="0"/>
              <a:t>m</a:t>
            </a:r>
            <a:r>
              <a:rPr lang="en-US" altLang="zh-TW" baseline="-25000" dirty="0"/>
              <a:t>1</a:t>
            </a:r>
            <a:r>
              <a:rPr lang="en-US" altLang="zh-TW" baseline="30000" dirty="0">
                <a:sym typeface="Symbol"/>
              </a:rPr>
              <a:t></a:t>
            </a:r>
            <a:r>
              <a:rPr lang="en-US" altLang="zh-TW" baseline="30000" dirty="0"/>
              <a:t>1 </a:t>
            </a:r>
            <a:r>
              <a:rPr lang="en-US" altLang="zh-TW" dirty="0"/>
              <a:t>(</a:t>
            </a:r>
            <a:r>
              <a:rPr lang="en-US" altLang="zh-TW" i="1" dirty="0"/>
              <a:t>a</a:t>
            </a:r>
            <a:r>
              <a:rPr lang="en-US" altLang="zh-TW" baseline="-25000" dirty="0"/>
              <a:t>2 </a:t>
            </a:r>
            <a:r>
              <a:rPr lang="en-US" altLang="zh-TW" dirty="0">
                <a:sym typeface="Symbol" pitchFamily="18" charset="2"/>
              </a:rPr>
              <a:t>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i="1" dirty="0"/>
              <a:t>a</a:t>
            </a:r>
            <a:r>
              <a:rPr lang="en-US" altLang="zh-TW" baseline="-25000" dirty="0"/>
              <a:t>1</a:t>
            </a:r>
            <a:r>
              <a:rPr lang="en-US" altLang="zh-TW" dirty="0"/>
              <a:t>)  mod </a:t>
            </a:r>
            <a:r>
              <a:rPr lang="en-US" altLang="zh-TW" i="1" dirty="0"/>
              <a:t>m</a:t>
            </a:r>
            <a:r>
              <a:rPr lang="en-US" altLang="zh-TW" baseline="-25000" dirty="0"/>
              <a:t>2</a:t>
            </a:r>
            <a:r>
              <a:rPr lang="en-US" altLang="zh-TW" dirty="0"/>
              <a:t>, then </a:t>
            </a:r>
            <a:r>
              <a:rPr lang="en-US" altLang="zh-TW" baseline="-25000" dirty="0"/>
              <a:t> </a:t>
            </a:r>
            <a:r>
              <a:rPr lang="en-US" altLang="zh-TW" i="1" dirty="0"/>
              <a:t>x</a:t>
            </a:r>
            <a:r>
              <a:rPr lang="en-US" altLang="zh-TW" baseline="-25000" dirty="0"/>
              <a:t> </a:t>
            </a:r>
            <a:r>
              <a:rPr lang="en-US" altLang="zh-TW" dirty="0"/>
              <a:t>=</a:t>
            </a:r>
            <a:r>
              <a:rPr lang="en-US" altLang="zh-TW" baseline="-25000" dirty="0"/>
              <a:t> </a:t>
            </a:r>
            <a:r>
              <a:rPr lang="en-US" altLang="zh-TW" i="1" dirty="0"/>
              <a:t>a</a:t>
            </a:r>
            <a:r>
              <a:rPr lang="en-US" altLang="zh-TW" baseline="-25000" dirty="0"/>
              <a:t>1 </a:t>
            </a:r>
            <a:r>
              <a:rPr lang="en-US" altLang="zh-TW" dirty="0"/>
              <a:t>+</a:t>
            </a:r>
            <a:r>
              <a:rPr lang="en-US" altLang="zh-TW" baseline="-25000" dirty="0"/>
              <a:t> </a:t>
            </a:r>
            <a:r>
              <a:rPr lang="en-US" altLang="zh-TW" i="1" dirty="0"/>
              <a:t>m</a:t>
            </a:r>
            <a:r>
              <a:rPr lang="en-US" altLang="zh-TW" baseline="-25000" dirty="0"/>
              <a:t>1</a:t>
            </a:r>
            <a:r>
              <a:rPr lang="en-US" altLang="zh-TW" i="1" dirty="0"/>
              <a:t>t</a:t>
            </a:r>
            <a:r>
              <a:rPr lang="en-US" altLang="zh-TW" dirty="0"/>
              <a:t>  is such a solution.</a:t>
            </a:r>
          </a:p>
          <a:p>
            <a:pPr lvl="1" eaLnBrk="1" hangingPunct="1">
              <a:lnSpc>
                <a:spcPct val="85000"/>
              </a:lnSpc>
            </a:pPr>
            <a:r>
              <a:rPr lang="en-US" altLang="zh-TW" dirty="0"/>
              <a:t>Assume </a:t>
            </a:r>
            <a:r>
              <a:rPr lang="en-US" altLang="zh-TW" i="1" dirty="0"/>
              <a:t>x</a:t>
            </a:r>
            <a:r>
              <a:rPr lang="en-US" altLang="zh-TW" baseline="-25000" dirty="0"/>
              <a:t>1</a:t>
            </a:r>
            <a:r>
              <a:rPr lang="en-US" altLang="zh-TW" dirty="0"/>
              <a:t> and </a:t>
            </a:r>
            <a:r>
              <a:rPr lang="en-US" altLang="zh-TW" i="1" dirty="0"/>
              <a:t>x</a:t>
            </a:r>
            <a:r>
              <a:rPr lang="en-US" altLang="zh-TW" baseline="-25000" dirty="0"/>
              <a:t>2</a:t>
            </a:r>
            <a:r>
              <a:rPr lang="en-US" altLang="zh-TW" dirty="0"/>
              <a:t> are two solutions. </a:t>
            </a:r>
          </a:p>
          <a:p>
            <a:pPr lvl="1" eaLnBrk="1" hangingPunct="1">
              <a:lnSpc>
                <a:spcPct val="85000"/>
              </a:lnSpc>
              <a:buFont typeface="Wingdings" pitchFamily="2" charset="2"/>
              <a:buNone/>
            </a:pPr>
            <a:r>
              <a:rPr lang="en-US" altLang="zh-TW" dirty="0"/>
              <a:t>	</a:t>
            </a:r>
            <a:r>
              <a:rPr lang="en-US" altLang="zh-TW" i="1" dirty="0"/>
              <a:t>x</a:t>
            </a:r>
            <a:r>
              <a:rPr lang="en-US" altLang="zh-TW" baseline="-25000" dirty="0"/>
              <a:t>1</a:t>
            </a:r>
            <a:r>
              <a:rPr lang="en-US" altLang="zh-TW" i="1" dirty="0"/>
              <a:t> </a:t>
            </a:r>
            <a:r>
              <a:rPr lang="en-US" altLang="zh-TW" dirty="0">
                <a:ea typeface="MS PGothic" pitchFamily="34" charset="-128"/>
                <a:sym typeface="Symbol" pitchFamily="18" charset="2"/>
              </a:rPr>
              <a:t></a:t>
            </a:r>
            <a:r>
              <a:rPr lang="en-US" altLang="zh-TW" dirty="0">
                <a:ea typeface="MS PGothic" pitchFamily="34" charset="-128"/>
              </a:rPr>
              <a:t> </a:t>
            </a:r>
            <a:r>
              <a:rPr lang="en-US" altLang="zh-TW" i="1" dirty="0"/>
              <a:t>a</a:t>
            </a:r>
            <a:r>
              <a:rPr lang="en-US" altLang="zh-TW" baseline="-25000" dirty="0"/>
              <a:t>1</a:t>
            </a:r>
            <a:r>
              <a:rPr lang="en-US" altLang="zh-TW" dirty="0"/>
              <a:t> </a:t>
            </a:r>
            <a:r>
              <a:rPr lang="en-US" altLang="zh-TW" dirty="0">
                <a:ea typeface="MS PGothic" pitchFamily="34" charset="-128"/>
                <a:sym typeface="Symbol" pitchFamily="18" charset="2"/>
              </a:rPr>
              <a:t></a:t>
            </a:r>
            <a:r>
              <a:rPr lang="en-US" altLang="zh-TW" dirty="0">
                <a:ea typeface="MS PGothic" pitchFamily="34" charset="-128"/>
              </a:rPr>
              <a:t> </a:t>
            </a:r>
            <a:r>
              <a:rPr lang="en-US" altLang="zh-TW" i="1" dirty="0"/>
              <a:t>x</a:t>
            </a:r>
            <a:r>
              <a:rPr lang="en-US" altLang="zh-TW" baseline="-25000" dirty="0"/>
              <a:t>2</a:t>
            </a:r>
            <a:r>
              <a:rPr lang="en-US" altLang="zh-TW" dirty="0"/>
              <a:t> (mod </a:t>
            </a:r>
            <a:r>
              <a:rPr lang="en-US" altLang="zh-TW" i="1" dirty="0"/>
              <a:t>m</a:t>
            </a:r>
            <a:r>
              <a:rPr lang="en-US" altLang="zh-TW" baseline="-25000" dirty="0"/>
              <a:t>1</a:t>
            </a:r>
            <a:r>
              <a:rPr lang="en-US" altLang="zh-TW" dirty="0"/>
              <a:t>)  and  </a:t>
            </a:r>
            <a:r>
              <a:rPr lang="en-US" altLang="zh-TW" i="1" dirty="0"/>
              <a:t>x</a:t>
            </a:r>
            <a:r>
              <a:rPr lang="en-US" altLang="zh-TW" baseline="-25000" dirty="0"/>
              <a:t>1</a:t>
            </a:r>
            <a:r>
              <a:rPr lang="en-US" altLang="zh-TW" i="1" dirty="0"/>
              <a:t> </a:t>
            </a:r>
            <a:r>
              <a:rPr lang="en-US" altLang="zh-TW" dirty="0">
                <a:ea typeface="MS PGothic" pitchFamily="34" charset="-128"/>
                <a:sym typeface="Symbol" pitchFamily="18" charset="2"/>
              </a:rPr>
              <a:t></a:t>
            </a:r>
            <a:r>
              <a:rPr lang="en-US" altLang="zh-TW" dirty="0">
                <a:ea typeface="MS PGothic" pitchFamily="34" charset="-128"/>
              </a:rPr>
              <a:t> </a:t>
            </a:r>
            <a:r>
              <a:rPr lang="en-US" altLang="zh-TW" i="1" dirty="0"/>
              <a:t>a</a:t>
            </a:r>
            <a:r>
              <a:rPr lang="en-US" altLang="zh-TW" baseline="-25000" dirty="0"/>
              <a:t>2</a:t>
            </a:r>
            <a:r>
              <a:rPr lang="en-US" altLang="zh-TW" dirty="0"/>
              <a:t> </a:t>
            </a:r>
            <a:r>
              <a:rPr lang="en-US" altLang="zh-TW" dirty="0">
                <a:ea typeface="MS PGothic" pitchFamily="34" charset="-128"/>
                <a:sym typeface="Symbol" pitchFamily="18" charset="2"/>
              </a:rPr>
              <a:t></a:t>
            </a:r>
            <a:r>
              <a:rPr lang="en-US" altLang="zh-TW" dirty="0">
                <a:ea typeface="MS PGothic" pitchFamily="34" charset="-128"/>
              </a:rPr>
              <a:t> </a:t>
            </a:r>
            <a:r>
              <a:rPr lang="en-US" altLang="zh-TW" i="1" dirty="0"/>
              <a:t>x</a:t>
            </a:r>
            <a:r>
              <a:rPr lang="en-US" altLang="zh-TW" baseline="-25000" dirty="0"/>
              <a:t>2</a:t>
            </a:r>
            <a:r>
              <a:rPr lang="en-US" altLang="zh-TW" dirty="0"/>
              <a:t> (mod </a:t>
            </a:r>
            <a:r>
              <a:rPr lang="en-US" altLang="zh-TW" i="1" dirty="0"/>
              <a:t>m</a:t>
            </a:r>
            <a:r>
              <a:rPr lang="en-US" altLang="zh-TW" baseline="-25000" dirty="0"/>
              <a:t>2</a:t>
            </a:r>
            <a:r>
              <a:rPr lang="en-US" altLang="zh-TW" dirty="0"/>
              <a:t>)</a:t>
            </a:r>
          </a:p>
          <a:p>
            <a:pPr lvl="1" eaLnBrk="1" hangingPunct="1">
              <a:lnSpc>
                <a:spcPct val="85000"/>
              </a:lnSpc>
              <a:buFont typeface="Wingdings" pitchFamily="2" charset="2"/>
              <a:buNone/>
            </a:pPr>
            <a:r>
              <a:rPr lang="en-US" altLang="zh-TW" dirty="0">
                <a:sym typeface="Symbol" pitchFamily="18" charset="2"/>
              </a:rPr>
              <a:t>	</a:t>
            </a:r>
            <a:r>
              <a:rPr lang="en-US" altLang="zh-TW" dirty="0"/>
              <a:t>  </a:t>
            </a:r>
            <a:r>
              <a:rPr lang="en-US" altLang="zh-TW" i="1" dirty="0"/>
              <a:t>m</a:t>
            </a:r>
            <a:r>
              <a:rPr lang="en-US" altLang="zh-TW" baseline="-25000" dirty="0"/>
              <a:t>1 </a:t>
            </a:r>
            <a:r>
              <a:rPr lang="en-US" altLang="zh-TW" dirty="0"/>
              <a:t>|</a:t>
            </a:r>
            <a:r>
              <a:rPr lang="en-US" altLang="zh-TW" baseline="-25000" dirty="0"/>
              <a:t> </a:t>
            </a:r>
            <a:r>
              <a:rPr lang="en-US" altLang="zh-TW" dirty="0"/>
              <a:t>(</a:t>
            </a:r>
            <a:r>
              <a:rPr lang="en-US" altLang="zh-TW" i="1" dirty="0"/>
              <a:t>x</a:t>
            </a:r>
            <a:r>
              <a:rPr lang="en-US" altLang="zh-TW" baseline="-25000" dirty="0"/>
              <a:t>1 </a:t>
            </a:r>
            <a:r>
              <a:rPr lang="en-US" altLang="zh-TW" dirty="0">
                <a:sym typeface="Symbol" pitchFamily="18" charset="2"/>
              </a:rPr>
              <a:t>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i="1" dirty="0"/>
              <a:t>x</a:t>
            </a:r>
            <a:r>
              <a:rPr lang="en-US" altLang="zh-TW" baseline="-25000" dirty="0"/>
              <a:t>2</a:t>
            </a:r>
            <a:r>
              <a:rPr lang="en-US" altLang="zh-TW" dirty="0"/>
              <a:t>)  and  </a:t>
            </a:r>
            <a:r>
              <a:rPr lang="en-US" altLang="zh-TW" i="1" dirty="0"/>
              <a:t>m</a:t>
            </a:r>
            <a:r>
              <a:rPr lang="en-US" altLang="zh-TW" baseline="-25000" dirty="0"/>
              <a:t>2</a:t>
            </a:r>
            <a:r>
              <a:rPr lang="en-US" altLang="zh-TW" dirty="0"/>
              <a:t> |</a:t>
            </a:r>
            <a:r>
              <a:rPr lang="en-US" altLang="zh-TW" baseline="-25000" dirty="0"/>
              <a:t> </a:t>
            </a:r>
            <a:r>
              <a:rPr lang="en-US" altLang="zh-TW" dirty="0"/>
              <a:t>(</a:t>
            </a:r>
            <a:r>
              <a:rPr lang="en-US" altLang="zh-TW" i="1" dirty="0"/>
              <a:t>x</a:t>
            </a:r>
            <a:r>
              <a:rPr lang="en-US" altLang="zh-TW" baseline="-25000" dirty="0"/>
              <a:t>1 </a:t>
            </a:r>
            <a:r>
              <a:rPr lang="en-US" altLang="zh-TW" dirty="0">
                <a:sym typeface="Symbol" pitchFamily="18" charset="2"/>
              </a:rPr>
              <a:t>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i="1" dirty="0"/>
              <a:t>x</a:t>
            </a:r>
            <a:r>
              <a:rPr lang="en-US" altLang="zh-TW" baseline="-25000" dirty="0"/>
              <a:t>2</a:t>
            </a:r>
            <a:r>
              <a:rPr lang="en-US" altLang="zh-TW" dirty="0"/>
              <a:t>) </a:t>
            </a:r>
          </a:p>
          <a:p>
            <a:pPr lvl="1" eaLnBrk="1" hangingPunct="1">
              <a:lnSpc>
                <a:spcPct val="85000"/>
              </a:lnSpc>
              <a:buFont typeface="Wingdings" pitchFamily="2" charset="2"/>
              <a:buNone/>
            </a:pPr>
            <a:r>
              <a:rPr lang="en-US" altLang="zh-TW" dirty="0">
                <a:sym typeface="Symbol" pitchFamily="18" charset="2"/>
              </a:rPr>
              <a:t>	</a:t>
            </a:r>
            <a:r>
              <a:rPr lang="en-US" altLang="zh-TW" dirty="0"/>
              <a:t>  </a:t>
            </a:r>
            <a:r>
              <a:rPr lang="en-US" altLang="zh-TW" i="1" dirty="0"/>
              <a:t>m</a:t>
            </a:r>
            <a:r>
              <a:rPr lang="en-US" altLang="zh-TW" baseline="-25000" dirty="0"/>
              <a:t>1 </a:t>
            </a:r>
            <a:r>
              <a:rPr lang="en-US" altLang="zh-TW" i="1" dirty="0"/>
              <a:t>m</a:t>
            </a:r>
            <a:r>
              <a:rPr lang="en-US" altLang="zh-TW" baseline="-25000" dirty="0"/>
              <a:t>2</a:t>
            </a:r>
            <a:r>
              <a:rPr lang="en-US" altLang="zh-TW" dirty="0"/>
              <a:t> |</a:t>
            </a:r>
            <a:r>
              <a:rPr lang="en-US" altLang="zh-TW" baseline="-25000" dirty="0"/>
              <a:t> </a:t>
            </a:r>
            <a:r>
              <a:rPr lang="en-US" altLang="zh-TW" dirty="0"/>
              <a:t>(</a:t>
            </a:r>
            <a:r>
              <a:rPr lang="en-US" altLang="zh-TW" i="1" dirty="0"/>
              <a:t>x</a:t>
            </a:r>
            <a:r>
              <a:rPr lang="en-US" altLang="zh-TW" baseline="-25000" dirty="0"/>
              <a:t>1 </a:t>
            </a:r>
            <a:r>
              <a:rPr lang="en-US" altLang="zh-TW" dirty="0">
                <a:sym typeface="Symbol" pitchFamily="18" charset="2"/>
              </a:rPr>
              <a:t>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i="1" dirty="0"/>
              <a:t>x</a:t>
            </a:r>
            <a:r>
              <a:rPr lang="en-US" altLang="zh-TW" baseline="-25000" dirty="0"/>
              <a:t>2</a:t>
            </a:r>
            <a:r>
              <a:rPr lang="en-US" altLang="zh-TW" dirty="0"/>
              <a:t>)  since  </a:t>
            </a:r>
            <a:r>
              <a:rPr lang="en-US" altLang="zh-TW" i="1" dirty="0"/>
              <a:t>m</a:t>
            </a:r>
            <a:r>
              <a:rPr lang="en-US" altLang="zh-TW" baseline="-25000" dirty="0"/>
              <a:t>1</a:t>
            </a:r>
            <a:r>
              <a:rPr lang="en-US" altLang="zh-TW" dirty="0"/>
              <a:t> </a:t>
            </a:r>
            <a:r>
              <a:rPr lang="en-US" altLang="zh-TW" dirty="0">
                <a:sym typeface="Symbol" pitchFamily="18" charset="2"/>
              </a:rPr>
              <a:t></a:t>
            </a:r>
            <a:r>
              <a:rPr lang="en-US" altLang="zh-TW" dirty="0"/>
              <a:t> </a:t>
            </a:r>
            <a:r>
              <a:rPr lang="en-US" altLang="zh-TW" i="1" dirty="0"/>
              <a:t>m</a:t>
            </a:r>
            <a:r>
              <a:rPr lang="en-US" altLang="zh-TW" baseline="-25000" dirty="0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投影片編號版面配置區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52CF0E06-4B32-420F-A0AD-A1F9DBF76A71}" type="slidenum">
              <a:rPr kumimoji="0" lang="en-US" altLang="zh-TW" smtClean="0"/>
              <a:pPr eaLnBrk="1" hangingPunct="1"/>
              <a:t>40</a:t>
            </a:fld>
            <a:endParaRPr kumimoji="0" lang="en-US" altLang="zh-TW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zh-TW" sz="4000"/>
              <a:t>Chinese Remainder Theorem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507413" cy="4411662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TW" b="1" dirty="0"/>
              <a:t>Chinese Remainder Theorem</a:t>
            </a:r>
            <a:r>
              <a:rPr lang="en-US" altLang="zh-TW" dirty="0"/>
              <a:t>  If  </a:t>
            </a:r>
            <a:r>
              <a:rPr lang="en-US" altLang="zh-TW" i="1" dirty="0"/>
              <a:t>m</a:t>
            </a:r>
            <a:r>
              <a:rPr lang="en-US" altLang="zh-TW" baseline="-25000" dirty="0"/>
              <a:t>1</a:t>
            </a:r>
            <a:r>
              <a:rPr lang="en-US" altLang="zh-TW" dirty="0"/>
              <a:t>, …, </a:t>
            </a:r>
            <a:r>
              <a:rPr lang="en-US" altLang="zh-TW" i="1" dirty="0" err="1"/>
              <a:t>m</a:t>
            </a:r>
            <a:r>
              <a:rPr lang="en-US" altLang="zh-TW" i="1" baseline="-25000" dirty="0" err="1"/>
              <a:t>r</a:t>
            </a:r>
            <a:r>
              <a:rPr lang="en-US" altLang="zh-TW" i="1" dirty="0"/>
              <a:t>  </a:t>
            </a:r>
            <a:r>
              <a:rPr lang="en-US" altLang="zh-TW" dirty="0"/>
              <a:t>are pairwise relatively prime, then the system</a:t>
            </a:r>
            <a:r>
              <a:rPr lang="en-US" altLang="zh-TW" i="1" dirty="0"/>
              <a:t>  x </a:t>
            </a:r>
            <a:r>
              <a:rPr lang="en-US" altLang="zh-TW" dirty="0">
                <a:ea typeface="MS PGothic" pitchFamily="34" charset="-128"/>
                <a:cs typeface="Arial" charset="0"/>
                <a:sym typeface="Symbol" pitchFamily="18" charset="2"/>
              </a:rPr>
              <a:t></a:t>
            </a:r>
            <a:r>
              <a:rPr lang="en-US" altLang="zh-TW" dirty="0">
                <a:ea typeface="MS PGothic" pitchFamily="34" charset="-128"/>
              </a:rPr>
              <a:t> </a:t>
            </a:r>
            <a:r>
              <a:rPr lang="en-US" altLang="zh-TW" i="1" dirty="0" err="1"/>
              <a:t>a</a:t>
            </a:r>
            <a:r>
              <a:rPr lang="en-US" altLang="zh-TW" i="1" baseline="-25000" dirty="0" err="1"/>
              <a:t>i</a:t>
            </a:r>
            <a:r>
              <a:rPr lang="en-US" altLang="zh-TW" dirty="0"/>
              <a:t> (mod </a:t>
            </a:r>
            <a:r>
              <a:rPr lang="en-US" altLang="zh-TW" i="1" dirty="0"/>
              <a:t>m</a:t>
            </a:r>
            <a:r>
              <a:rPr lang="en-US" altLang="zh-TW" i="1" baseline="-25000" dirty="0"/>
              <a:t>i</a:t>
            </a:r>
            <a:r>
              <a:rPr lang="en-US" altLang="zh-TW" dirty="0"/>
              <a:t>) 1</a:t>
            </a:r>
            <a:r>
              <a:rPr lang="en-US" altLang="zh-TW" sz="1200" baseline="-25000" dirty="0"/>
              <a:t> </a:t>
            </a:r>
            <a:r>
              <a:rPr lang="en-US" altLang="zh-TW" dirty="0">
                <a:sym typeface="Symbol" pitchFamily="18" charset="2"/>
              </a:rPr>
              <a:t> </a:t>
            </a:r>
            <a:r>
              <a:rPr lang="en-US" altLang="zh-TW" i="1" dirty="0" err="1">
                <a:sym typeface="Symbol" pitchFamily="18" charset="2"/>
              </a:rPr>
              <a:t>i</a:t>
            </a:r>
            <a:r>
              <a:rPr lang="en-US" altLang="zh-TW" dirty="0">
                <a:sym typeface="Symbol" pitchFamily="18" charset="2"/>
              </a:rPr>
              <a:t>  </a:t>
            </a:r>
            <a:r>
              <a:rPr lang="en-US" altLang="zh-TW" i="1" dirty="0">
                <a:sym typeface="Symbol" pitchFamily="18" charset="2"/>
              </a:rPr>
              <a:t>r</a:t>
            </a:r>
            <a:r>
              <a:rPr lang="en-US" altLang="zh-TW" dirty="0"/>
              <a:t>  has a unique solution modulo </a:t>
            </a:r>
            <a:r>
              <a:rPr lang="en-US" altLang="zh-TW" i="1" dirty="0"/>
              <a:t>M </a:t>
            </a:r>
            <a:r>
              <a:rPr lang="en-US" altLang="zh-TW" dirty="0"/>
              <a:t>= </a:t>
            </a:r>
            <a:r>
              <a:rPr lang="en-US" altLang="zh-TW" i="1" dirty="0"/>
              <a:t>m</a:t>
            </a:r>
            <a:r>
              <a:rPr lang="en-US" altLang="zh-TW" baseline="-25000" dirty="0"/>
              <a:t>1</a:t>
            </a:r>
            <a:r>
              <a:rPr lang="en-US" altLang="zh-TW" i="1" dirty="0"/>
              <a:t>m</a:t>
            </a:r>
            <a:r>
              <a:rPr lang="en-US" altLang="zh-TW" baseline="-25000" dirty="0"/>
              <a:t>2 </a:t>
            </a:r>
            <a:r>
              <a:rPr lang="en-US" altLang="zh-TW" dirty="0"/>
              <a:t>…</a:t>
            </a:r>
            <a:r>
              <a:rPr lang="en-US" altLang="zh-TW" i="1" dirty="0" err="1"/>
              <a:t>m</a:t>
            </a:r>
            <a:r>
              <a:rPr lang="en-US" altLang="zh-TW" i="1" baseline="-25000" dirty="0" err="1"/>
              <a:t>r</a:t>
            </a:r>
            <a:endParaRPr lang="en-US" altLang="zh-TW" dirty="0"/>
          </a:p>
          <a:p>
            <a:pPr eaLnBrk="1" hangingPunct="1">
              <a:lnSpc>
                <a:spcPct val="110000"/>
              </a:lnSpc>
            </a:pPr>
            <a:r>
              <a:rPr lang="en-US" altLang="zh-TW" sz="2600" b="1" dirty="0"/>
              <a:t>Proof 1</a:t>
            </a:r>
            <a:r>
              <a:rPr lang="en-US" altLang="zh-TW" sz="2600" dirty="0"/>
              <a:t>  Induction on  </a:t>
            </a:r>
            <a:r>
              <a:rPr lang="en-US" altLang="zh-TW" sz="2600" i="1" dirty="0"/>
              <a:t>r</a:t>
            </a:r>
            <a:endParaRPr lang="en-US" altLang="zh-TW" sz="2000" u="sng" dirty="0"/>
          </a:p>
          <a:p>
            <a:pPr eaLnBrk="1" hangingPunct="1">
              <a:lnSpc>
                <a:spcPct val="110000"/>
              </a:lnSpc>
            </a:pPr>
            <a:r>
              <a:rPr lang="en-US" altLang="zh-TW" sz="2600" b="1" dirty="0"/>
              <a:t>Proof 2</a:t>
            </a:r>
            <a:r>
              <a:rPr lang="en-US" altLang="zh-TW" sz="2600" dirty="0"/>
              <a:t>                                    is a solution where 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2600" i="1" dirty="0"/>
              <a:t>		       	</a:t>
            </a:r>
            <a:r>
              <a:rPr lang="pl-PL" altLang="zh-TW" sz="2600" i="1" dirty="0"/>
              <a:t>M</a:t>
            </a:r>
            <a:r>
              <a:rPr lang="pl-PL" altLang="zh-TW" sz="2600" i="1" baseline="-25000" dirty="0"/>
              <a:t>i</a:t>
            </a:r>
            <a:r>
              <a:rPr lang="pl-PL" altLang="zh-TW" sz="2600" i="1" dirty="0"/>
              <a:t> </a:t>
            </a:r>
            <a:r>
              <a:rPr lang="pl-PL" altLang="zh-TW" sz="2600" dirty="0"/>
              <a:t>= </a:t>
            </a:r>
            <a:r>
              <a:rPr lang="pl-PL" altLang="zh-TW" sz="2600" i="1" dirty="0"/>
              <a:t>M</a:t>
            </a:r>
            <a:r>
              <a:rPr lang="en-US" altLang="zh-TW" sz="2600" i="1" baseline="-25000" dirty="0"/>
              <a:t> </a:t>
            </a:r>
            <a:r>
              <a:rPr lang="en-US" altLang="zh-TW" sz="2600" i="1" dirty="0"/>
              <a:t>/</a:t>
            </a:r>
            <a:r>
              <a:rPr lang="en-US" altLang="zh-TW" sz="2600" baseline="-25000" dirty="0"/>
              <a:t> </a:t>
            </a:r>
            <a:r>
              <a:rPr lang="pl-PL" altLang="zh-TW" sz="2600" i="1" dirty="0"/>
              <a:t>m</a:t>
            </a:r>
            <a:r>
              <a:rPr lang="pl-PL" altLang="zh-TW" sz="2600" i="1" baseline="-25000" dirty="0"/>
              <a:t>i</a:t>
            </a:r>
            <a:r>
              <a:rPr lang="pl-PL" altLang="zh-TW" sz="2600" i="1" dirty="0"/>
              <a:t>  </a:t>
            </a:r>
            <a:r>
              <a:rPr lang="pl-PL" altLang="zh-TW" sz="2600" dirty="0"/>
              <a:t>and  </a:t>
            </a:r>
            <a:r>
              <a:rPr lang="pl-PL" altLang="zh-TW" sz="2600" i="1" dirty="0"/>
              <a:t>y</a:t>
            </a:r>
            <a:r>
              <a:rPr lang="pl-PL" altLang="zh-TW" sz="2600" i="1" baseline="-25000" dirty="0"/>
              <a:t>i</a:t>
            </a:r>
            <a:r>
              <a:rPr lang="pl-PL" altLang="zh-TW" sz="2600" i="1" dirty="0"/>
              <a:t> </a:t>
            </a:r>
            <a:r>
              <a:rPr lang="pl-PL" altLang="zh-TW" sz="2600" dirty="0">
                <a:sym typeface="Symbol" pitchFamily="18" charset="2"/>
              </a:rPr>
              <a:t></a:t>
            </a:r>
            <a:r>
              <a:rPr lang="pl-PL" altLang="zh-TW" sz="2600" dirty="0"/>
              <a:t> </a:t>
            </a:r>
            <a:r>
              <a:rPr lang="pl-PL" altLang="zh-TW" sz="2600" i="1" dirty="0"/>
              <a:t>M</a:t>
            </a:r>
            <a:r>
              <a:rPr lang="pl-PL" altLang="zh-TW" sz="2600" i="1" baseline="-25000" dirty="0"/>
              <a:t>i</a:t>
            </a:r>
            <a:r>
              <a:rPr lang="en-US" altLang="zh-TW" sz="800" i="1" baseline="-25000" dirty="0"/>
              <a:t> </a:t>
            </a:r>
            <a:r>
              <a:rPr lang="en-US" altLang="zh-TW" sz="2600" i="1" baseline="30000" dirty="0">
                <a:sym typeface="Symbol"/>
              </a:rPr>
              <a:t></a:t>
            </a:r>
            <a:r>
              <a:rPr lang="en-US" altLang="zh-TW" sz="2600" baseline="30000" dirty="0"/>
              <a:t>1</a:t>
            </a:r>
            <a:r>
              <a:rPr lang="pl-PL" altLang="zh-TW" sz="2600" i="1" dirty="0"/>
              <a:t> </a:t>
            </a:r>
            <a:r>
              <a:rPr lang="pl-PL" altLang="zh-TW" sz="2600" dirty="0"/>
              <a:t>(mod </a:t>
            </a:r>
            <a:r>
              <a:rPr lang="pl-PL" altLang="zh-TW" sz="2600" i="1" dirty="0"/>
              <a:t>m</a:t>
            </a:r>
            <a:r>
              <a:rPr lang="pl-PL" altLang="zh-TW" sz="2600" i="1" baseline="-25000" dirty="0"/>
              <a:t>i</a:t>
            </a:r>
            <a:r>
              <a:rPr lang="pl-PL" altLang="zh-TW" sz="2600" dirty="0"/>
              <a:t>)</a:t>
            </a:r>
            <a:endParaRPr lang="en-US" altLang="zh-TW" sz="2600" dirty="0"/>
          </a:p>
          <a:p>
            <a:pPr eaLnBrk="1" hangingPunct="1">
              <a:lnSpc>
                <a:spcPct val="110000"/>
              </a:lnSpc>
            </a:pPr>
            <a:r>
              <a:rPr lang="en-US" altLang="zh-TW" sz="2600" b="1" dirty="0"/>
              <a:t>Note</a:t>
            </a:r>
            <a:r>
              <a:rPr lang="en-US" altLang="zh-TW" sz="2600" dirty="0"/>
              <a:t>  </a:t>
            </a:r>
            <a:r>
              <a:rPr lang="en-US" altLang="zh-TW" sz="2600" i="1" dirty="0" err="1"/>
              <a:t>M</a:t>
            </a:r>
            <a:r>
              <a:rPr lang="en-US" altLang="zh-TW" sz="2600" i="1" baseline="-25000" dirty="0" err="1"/>
              <a:t>i</a:t>
            </a:r>
            <a:r>
              <a:rPr lang="en-US" altLang="zh-TW" sz="2600" i="1" baseline="-25000" dirty="0"/>
              <a:t> </a:t>
            </a:r>
            <a:r>
              <a:rPr lang="en-US" altLang="zh-TW" sz="2600" dirty="0">
                <a:cs typeface="Arial" charset="0"/>
                <a:sym typeface="Symbol" pitchFamily="18" charset="2"/>
              </a:rPr>
              <a:t> </a:t>
            </a:r>
            <a:r>
              <a:rPr lang="en-US" altLang="zh-TW" sz="2600" dirty="0"/>
              <a:t>0 (mod </a:t>
            </a:r>
            <a:r>
              <a:rPr lang="en-US" altLang="zh-TW" sz="2600" i="1" dirty="0" err="1"/>
              <a:t>m</a:t>
            </a:r>
            <a:r>
              <a:rPr lang="en-US" altLang="zh-TW" sz="2600" i="1" baseline="-25000" dirty="0" err="1"/>
              <a:t>j</a:t>
            </a:r>
            <a:r>
              <a:rPr lang="en-US" altLang="zh-TW" sz="2600" dirty="0"/>
              <a:t>)</a:t>
            </a:r>
            <a:r>
              <a:rPr lang="en-US" altLang="zh-TW" sz="2600" i="1" dirty="0"/>
              <a:t> </a:t>
            </a:r>
            <a:r>
              <a:rPr lang="en-US" altLang="zh-TW" sz="2600" dirty="0"/>
              <a:t>for </a:t>
            </a:r>
            <a:r>
              <a:rPr lang="en-US" altLang="zh-TW" sz="2600" i="1" dirty="0"/>
              <a:t>j </a:t>
            </a:r>
            <a:r>
              <a:rPr lang="en-US" altLang="zh-TW" sz="2600" dirty="0">
                <a:sym typeface="Symbol" pitchFamily="18" charset="2"/>
              </a:rPr>
              <a:t></a:t>
            </a:r>
            <a:r>
              <a:rPr lang="en-US" altLang="zh-TW" sz="2600" dirty="0"/>
              <a:t> </a:t>
            </a:r>
            <a:r>
              <a:rPr lang="en-US" altLang="zh-TW" sz="2600" i="1" dirty="0" err="1"/>
              <a:t>i</a:t>
            </a:r>
            <a:r>
              <a:rPr lang="en-US" altLang="zh-TW" sz="2600" i="1" dirty="0"/>
              <a:t>  </a:t>
            </a:r>
            <a:r>
              <a:rPr lang="en-US" altLang="zh-TW" sz="2600" dirty="0"/>
              <a:t>and  </a:t>
            </a:r>
            <a:r>
              <a:rPr lang="en-US" altLang="zh-TW" sz="2600" i="1" dirty="0" err="1"/>
              <a:t>M</a:t>
            </a:r>
            <a:r>
              <a:rPr lang="en-US" altLang="zh-TW" sz="2600" i="1" baseline="-25000" dirty="0" err="1"/>
              <a:t>i</a:t>
            </a:r>
            <a:r>
              <a:rPr lang="en-US" altLang="zh-TW" sz="2600" i="1" dirty="0"/>
              <a:t> </a:t>
            </a:r>
            <a:r>
              <a:rPr lang="en-US" altLang="zh-TW" sz="2200" dirty="0">
                <a:cs typeface="Arial" charset="0"/>
                <a:sym typeface="Symbol" pitchFamily="18" charset="2"/>
              </a:rPr>
              <a:t></a:t>
            </a:r>
            <a:r>
              <a:rPr lang="en-US" altLang="zh-TW" sz="2600" i="1" dirty="0"/>
              <a:t> </a:t>
            </a:r>
            <a:r>
              <a:rPr lang="en-US" altLang="zh-TW" sz="2600" i="1" dirty="0" err="1"/>
              <a:t>y</a:t>
            </a:r>
            <a:r>
              <a:rPr lang="en-US" altLang="zh-TW" sz="2600" i="1" baseline="-25000" dirty="0" err="1"/>
              <a:t>i</a:t>
            </a:r>
            <a:r>
              <a:rPr lang="en-US" altLang="zh-TW" sz="2600" i="1" dirty="0"/>
              <a:t> </a:t>
            </a:r>
            <a:r>
              <a:rPr lang="pl-PL" altLang="zh-TW" sz="2600" dirty="0">
                <a:sym typeface="Symbol" pitchFamily="18" charset="2"/>
              </a:rPr>
              <a:t></a:t>
            </a:r>
            <a:r>
              <a:rPr lang="en-US" altLang="zh-TW" sz="2600" dirty="0">
                <a:cs typeface="Arial" charset="0"/>
              </a:rPr>
              <a:t> </a:t>
            </a:r>
            <a:r>
              <a:rPr lang="en-US" altLang="zh-TW" sz="2600" dirty="0"/>
              <a:t>1 (mod </a:t>
            </a:r>
            <a:r>
              <a:rPr lang="en-US" altLang="zh-TW" sz="2600" i="1" dirty="0"/>
              <a:t>m</a:t>
            </a:r>
            <a:r>
              <a:rPr lang="en-US" altLang="zh-TW" sz="2600" i="1" baseline="-25000" dirty="0"/>
              <a:t>i</a:t>
            </a:r>
            <a:r>
              <a:rPr lang="en-US" altLang="zh-TW" sz="2600" dirty="0"/>
              <a:t>)</a:t>
            </a:r>
          </a:p>
        </p:txBody>
      </p:sp>
      <p:graphicFrame>
        <p:nvGraphicFramePr>
          <p:cNvPr id="221188" name="Object 4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208521814"/>
              </p:ext>
            </p:extLst>
          </p:nvPr>
        </p:nvGraphicFramePr>
        <p:xfrm>
          <a:off x="2190750" y="4252913"/>
          <a:ext cx="3024188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9720" imgH="279360" progId="Equation.DSMT4">
                  <p:embed/>
                </p:oleObj>
              </mc:Choice>
              <mc:Fallback>
                <p:oleObj name="Equation" r:id="rId2" imgW="1269720" imgH="2793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4252913"/>
                        <a:ext cx="3024188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1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21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2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投影片編號版面配置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D160C6FE-C0B1-4E64-8295-5AD01839C2D4}" type="slidenum">
              <a:rPr kumimoji="0" lang="en-US" altLang="zh-TW" smtClean="0"/>
              <a:pPr eaLnBrk="1" hangingPunct="1"/>
              <a:t>41</a:t>
            </a:fld>
            <a:endParaRPr kumimoji="0" lang="en-US" altLang="zh-TW"/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zh-TW" sz="4000"/>
              <a:t>Chinese Remainder Theorem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363272" cy="4411662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TW" sz="3000" b="1" dirty="0"/>
              <a:t>Example</a:t>
            </a:r>
            <a:r>
              <a:rPr lang="en-US" altLang="zh-TW" sz="3000" baseline="-25000" dirty="0"/>
              <a:t>  </a:t>
            </a:r>
            <a:r>
              <a:rPr lang="en-US" altLang="zh-TW" dirty="0"/>
              <a:t>(</a:t>
            </a:r>
            <a:r>
              <a:rPr lang="zh-TW" altLang="en-US" dirty="0">
                <a:solidFill>
                  <a:srgbClr val="000000"/>
                </a:solidFill>
                <a:ea typeface="標楷體" pitchFamily="65" charset="-120"/>
              </a:rPr>
              <a:t>孫子算經</a:t>
            </a:r>
            <a:r>
              <a:rPr lang="en-US" altLang="zh-TW" dirty="0">
                <a:solidFill>
                  <a:srgbClr val="000000"/>
                </a:solidFill>
                <a:ea typeface="標楷體" pitchFamily="65" charset="-120"/>
              </a:rPr>
              <a:t>)</a:t>
            </a:r>
            <a:r>
              <a:rPr lang="zh-TW" altLang="en-US" dirty="0">
                <a:solidFill>
                  <a:srgbClr val="000000"/>
                </a:solidFill>
                <a:ea typeface="標楷體" pitchFamily="65" charset="-120"/>
              </a:rPr>
              <a:t> </a:t>
            </a:r>
            <a:r>
              <a:rPr lang="en-US" altLang="zh-TW" sz="3000" dirty="0"/>
              <a:t>Find the unique</a:t>
            </a:r>
            <a:r>
              <a:rPr lang="en-US" altLang="zh-TW" sz="2400" baseline="-25000" dirty="0"/>
              <a:t>  </a:t>
            </a:r>
            <a:r>
              <a:rPr lang="en-US" altLang="zh-TW" sz="3000" i="1" dirty="0"/>
              <a:t>x</a:t>
            </a:r>
            <a:r>
              <a:rPr lang="en-US" altLang="zh-TW" sz="3000" i="1" baseline="-25000" dirty="0"/>
              <a:t>  </a:t>
            </a:r>
            <a:r>
              <a:rPr lang="en-US" altLang="zh-TW" sz="3000" dirty="0"/>
              <a:t>modulo  </a:t>
            </a:r>
            <a:r>
              <a:rPr lang="en-US" altLang="zh-TW" sz="3000" i="1" dirty="0"/>
              <a:t>M</a:t>
            </a:r>
            <a:r>
              <a:rPr lang="en-US" altLang="zh-TW" sz="3000" baseline="-25000" dirty="0"/>
              <a:t> </a:t>
            </a:r>
            <a:r>
              <a:rPr lang="en-US" altLang="zh-TW" sz="3000" dirty="0"/>
              <a:t>=</a:t>
            </a:r>
            <a:r>
              <a:rPr lang="en-US" altLang="zh-TW" sz="3000" baseline="-25000" dirty="0"/>
              <a:t> </a:t>
            </a:r>
            <a:r>
              <a:rPr lang="en-US" altLang="zh-TW" sz="3000" dirty="0"/>
              <a:t>105</a:t>
            </a:r>
            <a:r>
              <a:rPr lang="en-US" altLang="zh-TW" sz="3000" baseline="-25000" dirty="0"/>
              <a:t> </a:t>
            </a:r>
            <a:r>
              <a:rPr lang="en-US" altLang="zh-TW" sz="3000" dirty="0"/>
              <a:t>= 3</a:t>
            </a:r>
            <a:r>
              <a:rPr lang="en-US" altLang="zh-TW" sz="800" dirty="0"/>
              <a:t> </a:t>
            </a:r>
            <a:r>
              <a:rPr lang="en-US" altLang="zh-TW" sz="3000" dirty="0">
                <a:cs typeface="Arial" charset="0"/>
                <a:sym typeface="Symbol" pitchFamily="18" charset="2"/>
              </a:rPr>
              <a:t></a:t>
            </a:r>
            <a:r>
              <a:rPr lang="en-US" altLang="zh-TW" sz="800" dirty="0">
                <a:cs typeface="Arial" charset="0"/>
                <a:sym typeface="Symbol" pitchFamily="18" charset="2"/>
              </a:rPr>
              <a:t> </a:t>
            </a:r>
            <a:r>
              <a:rPr lang="en-US" altLang="zh-TW" sz="3000" dirty="0"/>
              <a:t>5</a:t>
            </a:r>
            <a:r>
              <a:rPr lang="en-US" altLang="zh-TW" sz="800" dirty="0"/>
              <a:t> </a:t>
            </a:r>
            <a:r>
              <a:rPr lang="en-US" altLang="zh-TW" sz="3000" dirty="0">
                <a:cs typeface="Arial" charset="0"/>
                <a:sym typeface="Symbol" pitchFamily="18" charset="2"/>
              </a:rPr>
              <a:t></a:t>
            </a:r>
            <a:r>
              <a:rPr lang="en-US" altLang="zh-TW" sz="800" dirty="0">
                <a:cs typeface="Arial" charset="0"/>
                <a:sym typeface="Symbol" pitchFamily="18" charset="2"/>
              </a:rPr>
              <a:t> </a:t>
            </a:r>
            <a:r>
              <a:rPr lang="en-US" altLang="zh-TW" sz="3000" dirty="0"/>
              <a:t>7</a:t>
            </a:r>
            <a:r>
              <a:rPr lang="en-US" altLang="zh-TW" sz="3000" baseline="-25000" dirty="0"/>
              <a:t>  </a:t>
            </a:r>
            <a:r>
              <a:rPr lang="en-US" altLang="zh-TW" sz="3000" dirty="0"/>
              <a:t>such that  </a:t>
            </a:r>
            <a:r>
              <a:rPr lang="en-US" altLang="zh-TW" sz="3000" i="1" dirty="0"/>
              <a:t>x </a:t>
            </a:r>
            <a:r>
              <a:rPr lang="en-US" altLang="zh-TW" sz="3000" dirty="0">
                <a:cs typeface="Arial" charset="0"/>
                <a:sym typeface="Symbol" pitchFamily="18" charset="2"/>
              </a:rPr>
              <a:t> </a:t>
            </a:r>
            <a:r>
              <a:rPr lang="en-US" altLang="zh-TW" sz="3000" dirty="0"/>
              <a:t>2 (mod 3),      </a:t>
            </a:r>
            <a:r>
              <a:rPr lang="en-US" altLang="zh-TW" sz="3000" i="1" dirty="0"/>
              <a:t>x </a:t>
            </a:r>
            <a:r>
              <a:rPr lang="en-US" altLang="zh-TW" sz="3000" dirty="0">
                <a:cs typeface="Arial" charset="0"/>
                <a:sym typeface="Symbol" pitchFamily="18" charset="2"/>
              </a:rPr>
              <a:t> </a:t>
            </a:r>
            <a:r>
              <a:rPr lang="en-US" altLang="zh-TW" sz="3000" dirty="0"/>
              <a:t>3 (mod 5), and</a:t>
            </a:r>
            <a:r>
              <a:rPr lang="en-US" altLang="zh-TW" sz="3000" baseline="-25000" dirty="0"/>
              <a:t>  </a:t>
            </a:r>
            <a:r>
              <a:rPr lang="en-US" altLang="zh-TW" sz="3000" i="1" dirty="0"/>
              <a:t>x </a:t>
            </a:r>
            <a:r>
              <a:rPr lang="en-US" altLang="zh-TW" sz="3000" dirty="0">
                <a:cs typeface="Arial" charset="0"/>
                <a:sym typeface="Symbol" pitchFamily="18" charset="2"/>
              </a:rPr>
              <a:t> </a:t>
            </a:r>
            <a:r>
              <a:rPr lang="en-US" altLang="zh-TW" sz="3000" dirty="0"/>
              <a:t>2 (mod 7)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3000" b="1" dirty="0"/>
              <a:t>Solution</a:t>
            </a:r>
            <a:r>
              <a:rPr lang="en-US" altLang="zh-TW" sz="3000" dirty="0"/>
              <a:t> 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2100" i="1" dirty="0"/>
              <a:t>	</a:t>
            </a:r>
            <a:r>
              <a:rPr lang="en-US" altLang="zh-TW" sz="2600" i="1" dirty="0"/>
              <a:t>M</a:t>
            </a:r>
            <a:r>
              <a:rPr lang="en-US" altLang="zh-TW" sz="2600" baseline="-25000" dirty="0"/>
              <a:t>1</a:t>
            </a:r>
            <a:r>
              <a:rPr lang="en-US" altLang="zh-TW" sz="2600" dirty="0"/>
              <a:t> = 35, </a:t>
            </a:r>
            <a:r>
              <a:rPr lang="en-US" altLang="zh-TW" sz="2600" i="1" dirty="0"/>
              <a:t>y</a:t>
            </a:r>
            <a:r>
              <a:rPr lang="en-US" altLang="zh-TW" sz="2600" baseline="-25000" dirty="0"/>
              <a:t>1</a:t>
            </a:r>
            <a:r>
              <a:rPr lang="en-US" altLang="zh-TW" sz="2600" dirty="0"/>
              <a:t> = 2;  </a:t>
            </a:r>
            <a:r>
              <a:rPr lang="en-US" altLang="zh-TW" sz="2600" i="1" dirty="0"/>
              <a:t>M</a:t>
            </a:r>
            <a:r>
              <a:rPr lang="en-US" altLang="zh-TW" sz="2600" baseline="-25000" dirty="0"/>
              <a:t>2</a:t>
            </a:r>
            <a:r>
              <a:rPr lang="en-US" altLang="zh-TW" sz="2600" dirty="0"/>
              <a:t> = 21, </a:t>
            </a:r>
            <a:r>
              <a:rPr lang="en-US" altLang="zh-TW" sz="2600" i="1" dirty="0"/>
              <a:t>y</a:t>
            </a:r>
            <a:r>
              <a:rPr lang="en-US" altLang="zh-TW" sz="2600" baseline="-25000" dirty="0"/>
              <a:t>2</a:t>
            </a:r>
            <a:r>
              <a:rPr lang="en-US" altLang="zh-TW" sz="2600" dirty="0"/>
              <a:t> = 1;  </a:t>
            </a:r>
            <a:r>
              <a:rPr lang="en-US" altLang="zh-TW" sz="2600" i="1" dirty="0"/>
              <a:t>M</a:t>
            </a:r>
            <a:r>
              <a:rPr lang="en-US" altLang="zh-TW" sz="2600" baseline="-25000" dirty="0"/>
              <a:t>3</a:t>
            </a:r>
            <a:r>
              <a:rPr lang="en-US" altLang="zh-TW" sz="2600" dirty="0"/>
              <a:t> = 15, </a:t>
            </a:r>
            <a:r>
              <a:rPr lang="en-US" altLang="zh-TW" sz="2600" i="1" dirty="0"/>
              <a:t>y</a:t>
            </a:r>
            <a:r>
              <a:rPr lang="en-US" altLang="zh-TW" sz="2600" baseline="-25000" dirty="0"/>
              <a:t>3</a:t>
            </a:r>
            <a:r>
              <a:rPr lang="en-US" altLang="zh-TW" sz="2600" dirty="0"/>
              <a:t> = 1.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2600" dirty="0"/>
              <a:t>	Therefore </a:t>
            </a:r>
            <a:r>
              <a:rPr lang="en-US" altLang="zh-TW" sz="2600" i="1" dirty="0"/>
              <a:t>	</a:t>
            </a:r>
            <a:r>
              <a:rPr lang="en-US" altLang="zh-TW" sz="2600" dirty="0">
                <a:cs typeface="Arial" charset="0"/>
              </a:rPr>
              <a:t>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2600" dirty="0">
                <a:cs typeface="Arial" charset="0"/>
              </a:rPr>
              <a:t>	  </a:t>
            </a:r>
            <a:r>
              <a:rPr lang="en-US" altLang="zh-TW" sz="2600" dirty="0">
                <a:cs typeface="Arial" charset="0"/>
                <a:sym typeface="Symbol" pitchFamily="18" charset="2"/>
              </a:rPr>
              <a:t>=</a:t>
            </a:r>
            <a:r>
              <a:rPr lang="en-US" altLang="zh-TW" sz="2600" dirty="0">
                <a:cs typeface="Arial" charset="0"/>
              </a:rPr>
              <a:t> </a:t>
            </a:r>
            <a:r>
              <a:rPr lang="en-US" altLang="zh-TW" sz="2600" dirty="0"/>
              <a:t>2</a:t>
            </a:r>
            <a:r>
              <a:rPr lang="en-US" altLang="zh-TW" sz="2600" baseline="-25000" dirty="0"/>
              <a:t> </a:t>
            </a:r>
            <a:r>
              <a:rPr lang="pl-PL" altLang="zh-TW" sz="2600" dirty="0">
                <a:cs typeface="Arial" charset="0"/>
                <a:sym typeface="Symbol" pitchFamily="18" charset="2"/>
              </a:rPr>
              <a:t></a:t>
            </a:r>
            <a:r>
              <a:rPr lang="en-US" altLang="zh-TW" sz="2600" baseline="-25000" dirty="0">
                <a:cs typeface="Arial" charset="0"/>
                <a:sym typeface="Symbol" pitchFamily="18" charset="2"/>
              </a:rPr>
              <a:t> </a:t>
            </a:r>
            <a:r>
              <a:rPr lang="en-US" altLang="zh-TW" sz="2600" dirty="0"/>
              <a:t>35</a:t>
            </a:r>
            <a:r>
              <a:rPr lang="en-US" altLang="zh-TW" sz="2600" baseline="-25000" dirty="0"/>
              <a:t> </a:t>
            </a:r>
            <a:r>
              <a:rPr lang="pl-PL" altLang="zh-TW" sz="2600" dirty="0">
                <a:cs typeface="Arial" charset="0"/>
                <a:sym typeface="Symbol" pitchFamily="18" charset="2"/>
              </a:rPr>
              <a:t></a:t>
            </a:r>
            <a:r>
              <a:rPr lang="en-US" altLang="zh-TW" sz="2600" baseline="-25000" dirty="0">
                <a:cs typeface="Arial" charset="0"/>
                <a:sym typeface="Symbol" pitchFamily="18" charset="2"/>
              </a:rPr>
              <a:t> </a:t>
            </a:r>
            <a:r>
              <a:rPr lang="en-US" altLang="zh-TW" sz="2600" dirty="0"/>
              <a:t>2 + 3</a:t>
            </a:r>
            <a:r>
              <a:rPr lang="en-US" altLang="zh-TW" sz="2600" baseline="-25000" dirty="0"/>
              <a:t> </a:t>
            </a:r>
            <a:r>
              <a:rPr lang="pl-PL" altLang="zh-TW" sz="2600" dirty="0">
                <a:cs typeface="Arial" charset="0"/>
                <a:sym typeface="Symbol" pitchFamily="18" charset="2"/>
              </a:rPr>
              <a:t></a:t>
            </a:r>
            <a:r>
              <a:rPr lang="en-US" altLang="zh-TW" sz="2600" baseline="-25000" dirty="0">
                <a:cs typeface="Arial" charset="0"/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2</a:t>
            </a:r>
            <a:r>
              <a:rPr lang="en-US" altLang="zh-TW" sz="2600" dirty="0"/>
              <a:t>1</a:t>
            </a:r>
            <a:r>
              <a:rPr lang="en-US" altLang="zh-TW" sz="2600" baseline="-25000" dirty="0"/>
              <a:t> </a:t>
            </a:r>
            <a:r>
              <a:rPr lang="pl-PL" altLang="zh-TW" sz="2600" dirty="0">
                <a:cs typeface="Arial" charset="0"/>
                <a:sym typeface="Symbol" pitchFamily="18" charset="2"/>
              </a:rPr>
              <a:t></a:t>
            </a:r>
            <a:r>
              <a:rPr lang="en-US" altLang="zh-TW" sz="2600" baseline="-25000" dirty="0">
                <a:cs typeface="Arial" charset="0"/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1</a:t>
            </a:r>
            <a:r>
              <a:rPr lang="en-US" altLang="zh-TW" sz="2600" dirty="0"/>
              <a:t> + 2</a:t>
            </a:r>
            <a:r>
              <a:rPr lang="en-US" altLang="zh-TW" sz="2600" baseline="-25000" dirty="0"/>
              <a:t> </a:t>
            </a:r>
            <a:r>
              <a:rPr lang="pl-PL" altLang="zh-TW" sz="2600" dirty="0">
                <a:cs typeface="Arial" charset="0"/>
                <a:sym typeface="Symbol" pitchFamily="18" charset="2"/>
              </a:rPr>
              <a:t></a:t>
            </a:r>
            <a:r>
              <a:rPr lang="en-US" altLang="zh-TW" sz="2600" baseline="-25000" dirty="0">
                <a:cs typeface="Arial" charset="0"/>
                <a:sym typeface="Symbol" pitchFamily="18" charset="2"/>
              </a:rPr>
              <a:t> </a:t>
            </a:r>
            <a:r>
              <a:rPr lang="en-US" altLang="zh-TW" sz="2600" dirty="0"/>
              <a:t>15</a:t>
            </a:r>
            <a:r>
              <a:rPr lang="en-US" altLang="zh-TW" sz="2600" baseline="-25000" dirty="0"/>
              <a:t> </a:t>
            </a:r>
            <a:r>
              <a:rPr lang="pl-PL" altLang="zh-TW" sz="2600" dirty="0">
                <a:cs typeface="Arial" charset="0"/>
                <a:sym typeface="Symbol" pitchFamily="18" charset="2"/>
              </a:rPr>
              <a:t></a:t>
            </a:r>
            <a:r>
              <a:rPr lang="en-US" altLang="zh-TW" sz="2600" baseline="-25000" dirty="0">
                <a:cs typeface="Arial" charset="0"/>
                <a:sym typeface="Symbol" pitchFamily="18" charset="2"/>
              </a:rPr>
              <a:t> </a:t>
            </a:r>
            <a:r>
              <a:rPr lang="en-US" altLang="zh-TW" sz="2600" dirty="0"/>
              <a:t>1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2600" dirty="0"/>
              <a:t>	  = 140</a:t>
            </a:r>
            <a:r>
              <a:rPr lang="zh-TW" altLang="en-US" sz="2600" dirty="0"/>
              <a:t> </a:t>
            </a:r>
            <a:r>
              <a:rPr lang="en-US" altLang="zh-TW" sz="2600" dirty="0"/>
              <a:t>+</a:t>
            </a:r>
            <a:r>
              <a:rPr lang="zh-TW" altLang="en-US" sz="2600" dirty="0"/>
              <a:t> </a:t>
            </a:r>
            <a:r>
              <a:rPr lang="en-US" altLang="zh-TW" sz="2600" dirty="0"/>
              <a:t>63 + 30 = 233 </a:t>
            </a:r>
            <a:r>
              <a:rPr lang="en-US" altLang="zh-TW" sz="2600" dirty="0">
                <a:cs typeface="Arial" charset="0"/>
                <a:sym typeface="Symbol" pitchFamily="18" charset="2"/>
              </a:rPr>
              <a:t></a:t>
            </a:r>
            <a:r>
              <a:rPr lang="en-US" altLang="zh-TW" sz="2600" dirty="0">
                <a:cs typeface="Arial" charset="0"/>
              </a:rPr>
              <a:t> </a:t>
            </a:r>
            <a:r>
              <a:rPr lang="en-US" altLang="zh-TW" sz="2600" dirty="0"/>
              <a:t>23  (mod 105)</a:t>
            </a:r>
          </a:p>
        </p:txBody>
      </p:sp>
      <p:graphicFrame>
        <p:nvGraphicFramePr>
          <p:cNvPr id="222212" name="Object 4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966935757"/>
              </p:ext>
            </p:extLst>
          </p:nvPr>
        </p:nvGraphicFramePr>
        <p:xfrm>
          <a:off x="2483768" y="4365625"/>
          <a:ext cx="28860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9720" imgH="279360" progId="Equation.DSMT4">
                  <p:embed/>
                </p:oleObj>
              </mc:Choice>
              <mc:Fallback>
                <p:oleObj name="Equation" r:id="rId2" imgW="1269720" imgH="2793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4365625"/>
                        <a:ext cx="288607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投影片編號版面配置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2B36AB9D-749B-43FD-A343-CE70C951B9C3}" type="slidenum">
              <a:rPr kumimoji="0" lang="en-US" altLang="zh-TW" smtClean="0"/>
              <a:pPr eaLnBrk="1" hangingPunct="1"/>
              <a:t>42</a:t>
            </a:fld>
            <a:endParaRPr kumimoji="0" lang="en-US" altLang="zh-TW"/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zh-TW" sz="4000"/>
              <a:t>Chinese Remainder Theorem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56792"/>
            <a:ext cx="8362950" cy="4734073"/>
          </a:xfrm>
        </p:spPr>
        <p:txBody>
          <a:bodyPr/>
          <a:lstStyle/>
          <a:p>
            <a:pPr eaLnBrk="1" hangingPunct="1"/>
            <a:r>
              <a:rPr lang="en-US" altLang="zh-TW" sz="2000" b="1" u="sng" dirty="0"/>
              <a:t>Algorithm</a:t>
            </a:r>
            <a:r>
              <a:rPr lang="en-US" altLang="zh-TW" sz="2000" dirty="0"/>
              <a:t>  Chinese remainder algorithm</a:t>
            </a:r>
            <a:endParaRPr lang="en-US" altLang="zh-TW" sz="2000" b="1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b="1" dirty="0"/>
              <a:t>	Input:</a:t>
            </a:r>
            <a:r>
              <a:rPr lang="en-US" altLang="zh-TW" sz="2000" dirty="0"/>
              <a:t>  Vectors  </a:t>
            </a:r>
            <a:r>
              <a:rPr lang="en-US" altLang="zh-TW" sz="2000" b="1" i="1" dirty="0"/>
              <a:t>a</a:t>
            </a:r>
            <a:r>
              <a:rPr lang="en-US" altLang="zh-TW" sz="2000" dirty="0"/>
              <a:t> = (</a:t>
            </a:r>
            <a:r>
              <a:rPr lang="en-US" altLang="zh-TW" sz="2000" i="1" dirty="0"/>
              <a:t>a</a:t>
            </a:r>
            <a:r>
              <a:rPr lang="en-US" altLang="zh-TW" sz="2000" baseline="-25000" dirty="0"/>
              <a:t>1</a:t>
            </a:r>
            <a:r>
              <a:rPr lang="en-US" altLang="zh-TW" sz="2000" dirty="0"/>
              <a:t>, …, </a:t>
            </a:r>
            <a:r>
              <a:rPr lang="en-US" altLang="zh-TW" sz="2000" i="1" dirty="0" err="1"/>
              <a:t>a</a:t>
            </a:r>
            <a:r>
              <a:rPr lang="en-US" altLang="zh-TW" sz="2000" i="1" baseline="-25000" dirty="0" err="1"/>
              <a:t>r</a:t>
            </a:r>
            <a:r>
              <a:rPr lang="en-US" altLang="zh-TW" sz="2000" dirty="0"/>
              <a:t>)  and  </a:t>
            </a:r>
            <a:r>
              <a:rPr lang="en-US" altLang="zh-TW" sz="2000" b="1" i="1" dirty="0"/>
              <a:t>m</a:t>
            </a:r>
            <a:r>
              <a:rPr lang="en-US" altLang="zh-TW" sz="2000" dirty="0"/>
              <a:t> = (</a:t>
            </a:r>
            <a:r>
              <a:rPr lang="en-US" altLang="zh-TW" sz="2000" i="1" dirty="0"/>
              <a:t>m</a:t>
            </a:r>
            <a:r>
              <a:rPr lang="en-US" altLang="zh-TW" sz="2000" baseline="-25000" dirty="0"/>
              <a:t>1</a:t>
            </a:r>
            <a:r>
              <a:rPr lang="en-US" altLang="zh-TW" sz="2000" dirty="0"/>
              <a:t>, …, </a:t>
            </a:r>
            <a:r>
              <a:rPr lang="en-US" altLang="zh-TW" sz="2000" i="1" dirty="0" err="1"/>
              <a:t>m</a:t>
            </a:r>
            <a:r>
              <a:rPr lang="en-US" altLang="zh-TW" sz="2000" i="1" baseline="-25000" dirty="0" err="1"/>
              <a:t>r</a:t>
            </a:r>
            <a:r>
              <a:rPr lang="en-US" altLang="zh-TW" sz="2000" dirty="0"/>
              <a:t>)  with  </a:t>
            </a:r>
            <a:r>
              <a:rPr lang="en-US" altLang="zh-TW" sz="2000" i="1" dirty="0"/>
              <a:t>m</a:t>
            </a:r>
            <a:r>
              <a:rPr lang="en-US" altLang="zh-TW" sz="2000" i="1" baseline="-25000" dirty="0"/>
              <a:t>i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Symbol" pitchFamily="18" charset="2"/>
              </a:rPr>
              <a:t></a:t>
            </a:r>
            <a:r>
              <a:rPr lang="en-US" altLang="zh-TW" sz="2000" dirty="0"/>
              <a:t> </a:t>
            </a:r>
            <a:r>
              <a:rPr lang="en-US" altLang="zh-TW" sz="2000" i="1" dirty="0" err="1"/>
              <a:t>m</a:t>
            </a:r>
            <a:r>
              <a:rPr lang="en-US" altLang="zh-TW" sz="2000" i="1" baseline="-25000" dirty="0" err="1"/>
              <a:t>j</a:t>
            </a:r>
            <a:endParaRPr lang="en-US" altLang="zh-TW" sz="2000" b="1" i="1" baseline="-250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b="1" dirty="0"/>
              <a:t>	Output:</a:t>
            </a:r>
            <a:r>
              <a:rPr lang="en-US" altLang="zh-TW" sz="2000" dirty="0"/>
              <a:t>  Integer </a:t>
            </a:r>
            <a:r>
              <a:rPr lang="en-US" altLang="zh-TW" sz="2000" i="1" dirty="0"/>
              <a:t>CRA</a:t>
            </a:r>
            <a:r>
              <a:rPr lang="en-US" altLang="zh-TW" sz="2000" dirty="0"/>
              <a:t> with </a:t>
            </a:r>
            <a:r>
              <a:rPr lang="en-US" altLang="zh-TW" sz="2000" i="1" dirty="0"/>
              <a:t>CRA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Symbol" pitchFamily="18" charset="2"/>
              </a:rPr>
              <a:t></a:t>
            </a:r>
            <a:r>
              <a:rPr lang="en-US" altLang="zh-TW" sz="2000" dirty="0"/>
              <a:t> </a:t>
            </a:r>
            <a:r>
              <a:rPr lang="en-US" altLang="zh-TW" sz="2000" i="1" dirty="0" err="1"/>
              <a:t>a</a:t>
            </a:r>
            <a:r>
              <a:rPr lang="en-US" altLang="zh-TW" sz="2000" i="1" baseline="-25000" dirty="0" err="1"/>
              <a:t>i</a:t>
            </a:r>
            <a:r>
              <a:rPr lang="en-US" altLang="zh-TW" sz="2000" dirty="0"/>
              <a:t> mod </a:t>
            </a:r>
            <a:r>
              <a:rPr lang="en-US" altLang="zh-TW" sz="2000" i="1" dirty="0"/>
              <a:t>m</a:t>
            </a:r>
            <a:r>
              <a:rPr lang="en-US" altLang="zh-TW" sz="2000" i="1" baseline="-25000" dirty="0"/>
              <a:t>i</a:t>
            </a:r>
            <a:endParaRPr lang="en-US" altLang="zh-TW" sz="2000" b="1" baseline="-250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b="1" dirty="0"/>
              <a:t>	Function</a:t>
            </a:r>
            <a:r>
              <a:rPr lang="en-US" altLang="zh-TW" sz="2000" dirty="0"/>
              <a:t> </a:t>
            </a:r>
            <a:r>
              <a:rPr lang="en-US" altLang="zh-TW" sz="2000" i="1" dirty="0"/>
              <a:t>CRA</a:t>
            </a:r>
            <a:r>
              <a:rPr lang="en-US" altLang="zh-TW" sz="2000" baseline="-25000" dirty="0"/>
              <a:t> </a:t>
            </a:r>
            <a:r>
              <a:rPr lang="en-US" altLang="zh-TW" sz="2000" dirty="0"/>
              <a:t>(</a:t>
            </a:r>
            <a:r>
              <a:rPr lang="en-US" altLang="zh-TW" sz="2000" b="1" i="1" dirty="0"/>
              <a:t>a</a:t>
            </a:r>
            <a:r>
              <a:rPr lang="en-US" altLang="zh-TW" sz="2000" dirty="0"/>
              <a:t>, </a:t>
            </a:r>
            <a:r>
              <a:rPr lang="en-US" altLang="zh-TW" sz="2000" b="1" i="1" dirty="0"/>
              <a:t>m</a:t>
            </a:r>
            <a:r>
              <a:rPr lang="en-US" altLang="zh-TW" sz="2000" dirty="0"/>
              <a:t>, </a:t>
            </a:r>
            <a:r>
              <a:rPr lang="en-US" altLang="zh-TW" sz="2000" i="1" dirty="0"/>
              <a:t>r</a:t>
            </a:r>
            <a:r>
              <a:rPr lang="en-US" altLang="zh-TW" sz="2000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dirty="0"/>
              <a:t>		</a:t>
            </a:r>
            <a:r>
              <a:rPr lang="en-US" altLang="zh-TW" sz="2000" b="1" dirty="0"/>
              <a:t>If</a:t>
            </a:r>
            <a:r>
              <a:rPr lang="en-US" altLang="zh-TW" sz="2000" dirty="0"/>
              <a:t>  </a:t>
            </a:r>
            <a:r>
              <a:rPr lang="en-US" altLang="zh-TW" sz="2000" i="1" dirty="0"/>
              <a:t>r</a:t>
            </a:r>
            <a:r>
              <a:rPr lang="en-US" altLang="zh-TW" sz="2000" dirty="0"/>
              <a:t> = 1  </a:t>
            </a:r>
            <a:r>
              <a:rPr lang="en-US" altLang="zh-TW" sz="2000" b="1" dirty="0"/>
              <a:t>Then</a:t>
            </a:r>
            <a:endParaRPr lang="en-US" altLang="zh-TW" sz="20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dirty="0"/>
              <a:t>			</a:t>
            </a:r>
            <a:r>
              <a:rPr lang="en-US" altLang="zh-TW" sz="2000" b="1" dirty="0"/>
              <a:t>Set</a:t>
            </a:r>
            <a:r>
              <a:rPr lang="en-US" altLang="zh-TW" sz="2000" dirty="0"/>
              <a:t>  </a:t>
            </a:r>
            <a:r>
              <a:rPr lang="en-US" altLang="zh-TW" sz="2000" i="1" dirty="0"/>
              <a:t>CRA</a:t>
            </a:r>
            <a:r>
              <a:rPr lang="en-US" altLang="zh-TW" sz="2000" dirty="0"/>
              <a:t> = </a:t>
            </a:r>
            <a:r>
              <a:rPr lang="en-US" altLang="zh-TW" sz="2000" i="1" dirty="0"/>
              <a:t>a</a:t>
            </a:r>
            <a:r>
              <a:rPr lang="en-US" altLang="zh-TW" sz="2000" baseline="-25000" dirty="0"/>
              <a:t>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dirty="0"/>
              <a:t>		</a:t>
            </a:r>
            <a:r>
              <a:rPr lang="en-US" altLang="zh-TW" sz="2000" b="1" dirty="0"/>
              <a:t>Else</a:t>
            </a:r>
            <a:endParaRPr lang="en-US" altLang="zh-TW" sz="20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dirty="0"/>
              <a:t>			</a:t>
            </a:r>
            <a:r>
              <a:rPr lang="en-US" altLang="zh-TW" sz="2000" b="1" dirty="0"/>
              <a:t>Set</a:t>
            </a:r>
            <a:r>
              <a:rPr lang="en-US" altLang="zh-TW" sz="2000" dirty="0"/>
              <a:t>  </a:t>
            </a:r>
            <a:r>
              <a:rPr lang="en-US" altLang="zh-TW" sz="2000" i="1" dirty="0"/>
              <a:t>t</a:t>
            </a:r>
            <a:r>
              <a:rPr lang="en-US" altLang="zh-TW" sz="2000" dirty="0"/>
              <a:t> = </a:t>
            </a:r>
            <a:r>
              <a:rPr lang="en-US" altLang="zh-TW" sz="2000" i="1" dirty="0"/>
              <a:t>m</a:t>
            </a:r>
            <a:r>
              <a:rPr lang="en-US" altLang="zh-TW" sz="2000" i="1" baseline="-25000" dirty="0"/>
              <a:t>r</a:t>
            </a:r>
            <a:r>
              <a:rPr lang="en-US" altLang="zh-TW" sz="2000" baseline="-25000" dirty="0">
                <a:sym typeface="Symbol" pitchFamily="18" charset="2"/>
              </a:rPr>
              <a:t></a:t>
            </a:r>
            <a:r>
              <a:rPr lang="en-US" altLang="zh-TW" sz="2000" baseline="-25000" dirty="0"/>
              <a:t>1</a:t>
            </a:r>
            <a:r>
              <a:rPr lang="en-US" altLang="zh-TW" sz="2000" baseline="30000" dirty="0">
                <a:sym typeface="Symbol"/>
              </a:rPr>
              <a:t></a:t>
            </a:r>
            <a:r>
              <a:rPr lang="en-US" altLang="zh-TW" sz="2000" baseline="30000" dirty="0"/>
              <a:t>1</a:t>
            </a:r>
            <a:r>
              <a:rPr lang="en-US" altLang="zh-TW" sz="2000" dirty="0"/>
              <a:t> (</a:t>
            </a:r>
            <a:r>
              <a:rPr lang="en-US" altLang="zh-TW" sz="2000" i="1" dirty="0" err="1"/>
              <a:t>a</a:t>
            </a:r>
            <a:r>
              <a:rPr lang="en-US" altLang="zh-TW" sz="2000" i="1" baseline="-25000" dirty="0" err="1"/>
              <a:t>r</a:t>
            </a:r>
            <a:r>
              <a:rPr lang="en-US" altLang="zh-TW" sz="2000" dirty="0"/>
              <a:t> – </a:t>
            </a:r>
            <a:r>
              <a:rPr lang="en-US" altLang="zh-TW" sz="2000" i="1" dirty="0" err="1"/>
              <a:t>a</a:t>
            </a:r>
            <a:r>
              <a:rPr lang="en-US" altLang="zh-TW" sz="2000" i="1" baseline="-25000" dirty="0" err="1"/>
              <a:t>r</a:t>
            </a:r>
            <a:r>
              <a:rPr lang="en-US" altLang="zh-TW" sz="2000" i="1" baseline="-25000" dirty="0"/>
              <a:t> </a:t>
            </a:r>
            <a:r>
              <a:rPr lang="en-US" altLang="zh-TW" sz="2000" baseline="-25000" dirty="0">
                <a:sym typeface="Symbol" pitchFamily="18" charset="2"/>
              </a:rPr>
              <a:t></a:t>
            </a:r>
            <a:r>
              <a:rPr lang="en-US" altLang="zh-TW" sz="2000" baseline="-25000" dirty="0"/>
              <a:t>1</a:t>
            </a:r>
            <a:r>
              <a:rPr lang="en-US" altLang="zh-TW" sz="2000" dirty="0"/>
              <a:t>) mod </a:t>
            </a:r>
            <a:r>
              <a:rPr lang="en-US" altLang="zh-TW" sz="2000" i="1" dirty="0" err="1"/>
              <a:t>m</a:t>
            </a:r>
            <a:r>
              <a:rPr lang="en-US" altLang="zh-TW" sz="2000" i="1" baseline="-25000" dirty="0" err="1"/>
              <a:t>r</a:t>
            </a:r>
            <a:endParaRPr lang="en-US" altLang="zh-TW" sz="2000" baseline="-250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dirty="0"/>
              <a:t>			</a:t>
            </a:r>
            <a:r>
              <a:rPr lang="en-US" altLang="zh-TW" sz="2000" b="1" dirty="0"/>
              <a:t>Set</a:t>
            </a:r>
            <a:r>
              <a:rPr lang="en-US" altLang="zh-TW" sz="2000" dirty="0"/>
              <a:t>  </a:t>
            </a:r>
            <a:r>
              <a:rPr lang="en-US" altLang="zh-TW" sz="2000" i="1" dirty="0" err="1"/>
              <a:t>a</a:t>
            </a:r>
            <a:r>
              <a:rPr lang="en-US" altLang="zh-TW" sz="2000" i="1" baseline="-25000" dirty="0" err="1"/>
              <a:t>r</a:t>
            </a:r>
            <a:r>
              <a:rPr lang="en-US" altLang="zh-TW" sz="2000" i="1" baseline="-25000" dirty="0"/>
              <a:t> </a:t>
            </a:r>
            <a:r>
              <a:rPr lang="en-US" altLang="zh-TW" sz="2000" baseline="-25000" dirty="0">
                <a:sym typeface="Symbol" pitchFamily="18" charset="2"/>
              </a:rPr>
              <a:t></a:t>
            </a:r>
            <a:r>
              <a:rPr lang="en-US" altLang="zh-TW" sz="2000" baseline="-25000" dirty="0"/>
              <a:t>1</a:t>
            </a:r>
            <a:r>
              <a:rPr lang="en-US" altLang="zh-TW" sz="2000" dirty="0"/>
              <a:t> = </a:t>
            </a:r>
            <a:r>
              <a:rPr lang="en-US" altLang="zh-TW" sz="2000" i="1" dirty="0" err="1"/>
              <a:t>a</a:t>
            </a:r>
            <a:r>
              <a:rPr lang="en-US" altLang="zh-TW" sz="2000" i="1" baseline="-25000" dirty="0" err="1"/>
              <a:t>r</a:t>
            </a:r>
            <a:r>
              <a:rPr lang="en-US" altLang="zh-TW" sz="2000" i="1" baseline="-25000" dirty="0"/>
              <a:t> </a:t>
            </a:r>
            <a:r>
              <a:rPr lang="en-US" altLang="zh-TW" sz="2000" baseline="-25000" dirty="0">
                <a:sym typeface="Symbol" pitchFamily="18" charset="2"/>
              </a:rPr>
              <a:t></a:t>
            </a:r>
            <a:r>
              <a:rPr lang="en-US" altLang="zh-TW" sz="2000" baseline="-25000" dirty="0"/>
              <a:t>1</a:t>
            </a:r>
            <a:r>
              <a:rPr lang="en-US" altLang="zh-TW" sz="2000" dirty="0"/>
              <a:t> + </a:t>
            </a:r>
            <a:r>
              <a:rPr lang="en-US" altLang="zh-TW" sz="2000" i="1" dirty="0"/>
              <a:t>t </a:t>
            </a:r>
            <a:r>
              <a:rPr lang="en-US" altLang="zh-TW" sz="2000" i="1" dirty="0" err="1"/>
              <a:t>m</a:t>
            </a:r>
            <a:r>
              <a:rPr lang="en-US" altLang="zh-TW" sz="2000" i="1" baseline="-25000" dirty="0" err="1"/>
              <a:t>r</a:t>
            </a:r>
            <a:r>
              <a:rPr lang="en-US" altLang="zh-TW" sz="2000" i="1" baseline="-25000" dirty="0"/>
              <a:t> </a:t>
            </a:r>
            <a:r>
              <a:rPr lang="en-US" altLang="zh-TW" sz="2000" baseline="-25000" dirty="0">
                <a:sym typeface="Symbol" pitchFamily="18" charset="2"/>
              </a:rPr>
              <a:t></a:t>
            </a:r>
            <a:r>
              <a:rPr lang="en-US" altLang="zh-TW" sz="2000" baseline="-25000" dirty="0"/>
              <a:t>1</a:t>
            </a:r>
            <a:endParaRPr lang="en-US" altLang="zh-TW" sz="20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dirty="0"/>
              <a:t>			</a:t>
            </a:r>
            <a:r>
              <a:rPr lang="en-US" altLang="zh-TW" sz="2000" b="1" dirty="0"/>
              <a:t>Set</a:t>
            </a:r>
            <a:r>
              <a:rPr lang="en-US" altLang="zh-TW" sz="2000" dirty="0"/>
              <a:t>  </a:t>
            </a:r>
            <a:r>
              <a:rPr lang="en-US" altLang="zh-TW" sz="2000" i="1" dirty="0"/>
              <a:t>m</a:t>
            </a:r>
            <a:r>
              <a:rPr lang="en-US" altLang="zh-TW" sz="2000" i="1" baseline="-25000" dirty="0"/>
              <a:t>r</a:t>
            </a:r>
            <a:r>
              <a:rPr lang="en-US" altLang="zh-TW" sz="2000" baseline="-25000" dirty="0">
                <a:sym typeface="Symbol" pitchFamily="18" charset="2"/>
              </a:rPr>
              <a:t></a:t>
            </a:r>
            <a:r>
              <a:rPr lang="en-US" altLang="zh-TW" sz="2000" baseline="-25000" dirty="0"/>
              <a:t>1</a:t>
            </a:r>
            <a:r>
              <a:rPr lang="en-US" altLang="zh-TW" sz="2000" dirty="0"/>
              <a:t> = </a:t>
            </a:r>
            <a:r>
              <a:rPr lang="en-US" altLang="zh-TW" sz="2000" i="1" dirty="0" err="1"/>
              <a:t>m</a:t>
            </a:r>
            <a:r>
              <a:rPr lang="en-US" altLang="zh-TW" sz="2000" i="1" baseline="-25000" dirty="0" err="1"/>
              <a:t>r</a:t>
            </a:r>
            <a:r>
              <a:rPr lang="en-US" altLang="zh-TW" sz="2000" i="1" baseline="-25000" dirty="0"/>
              <a:t> </a:t>
            </a:r>
            <a:r>
              <a:rPr lang="en-US" altLang="zh-TW" sz="2000" baseline="-25000" dirty="0">
                <a:sym typeface="Symbol" pitchFamily="18" charset="2"/>
              </a:rPr>
              <a:t></a:t>
            </a:r>
            <a:r>
              <a:rPr lang="en-US" altLang="zh-TW" sz="2000" baseline="-25000" dirty="0"/>
              <a:t>1 </a:t>
            </a:r>
            <a:r>
              <a:rPr lang="en-US" altLang="zh-TW" sz="2000" i="1" dirty="0" err="1"/>
              <a:t>m</a:t>
            </a:r>
            <a:r>
              <a:rPr lang="en-US" altLang="zh-TW" sz="2000" i="1" baseline="-25000" dirty="0" err="1"/>
              <a:t>r</a:t>
            </a:r>
            <a:r>
              <a:rPr lang="en-US" altLang="zh-TW" sz="2000" baseline="-25000" dirty="0"/>
              <a:t> </a:t>
            </a:r>
            <a:endParaRPr lang="en-US" altLang="zh-TW" sz="20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dirty="0"/>
              <a:t>			</a:t>
            </a:r>
            <a:r>
              <a:rPr lang="en-US" altLang="zh-TW" sz="2000" b="1" dirty="0"/>
              <a:t>Set</a:t>
            </a:r>
            <a:r>
              <a:rPr lang="en-US" altLang="zh-TW" sz="2000" dirty="0"/>
              <a:t>  </a:t>
            </a:r>
            <a:r>
              <a:rPr lang="en-US" altLang="zh-TW" sz="2000" i="1" dirty="0"/>
              <a:t>CRA</a:t>
            </a:r>
            <a:r>
              <a:rPr lang="en-US" altLang="zh-TW" sz="2000" dirty="0"/>
              <a:t> = </a:t>
            </a:r>
            <a:r>
              <a:rPr lang="en-US" altLang="zh-TW" sz="2000" i="1" dirty="0"/>
              <a:t>CRA</a:t>
            </a:r>
            <a:r>
              <a:rPr lang="en-US" altLang="zh-TW" sz="2000" baseline="-25000" dirty="0"/>
              <a:t> </a:t>
            </a:r>
            <a:r>
              <a:rPr lang="en-US" altLang="zh-TW" sz="2000" dirty="0"/>
              <a:t>(</a:t>
            </a:r>
            <a:r>
              <a:rPr lang="en-US" altLang="zh-TW" sz="2000" b="1" i="1" dirty="0"/>
              <a:t>a</a:t>
            </a:r>
            <a:r>
              <a:rPr lang="en-US" altLang="zh-TW" sz="2000" dirty="0"/>
              <a:t>, </a:t>
            </a:r>
            <a:r>
              <a:rPr lang="en-US" altLang="zh-TW" sz="2000" b="1" i="1" dirty="0"/>
              <a:t>m</a:t>
            </a:r>
            <a:r>
              <a:rPr lang="en-US" altLang="zh-TW" sz="2000" dirty="0"/>
              <a:t>, </a:t>
            </a:r>
            <a:r>
              <a:rPr lang="en-US" altLang="zh-TW" sz="2000" i="1" dirty="0"/>
              <a:t>r</a:t>
            </a:r>
            <a:r>
              <a:rPr lang="en-US" altLang="zh-TW" sz="2000" i="1" baseline="-25000" dirty="0"/>
              <a:t> </a:t>
            </a:r>
            <a:r>
              <a:rPr lang="en-US" altLang="zh-TW" sz="2000" dirty="0">
                <a:sym typeface="Symbol" pitchFamily="18" charset="2"/>
              </a:rPr>
              <a:t></a:t>
            </a:r>
            <a:r>
              <a:rPr lang="en-US" altLang="zh-TW" sz="2000" dirty="0"/>
              <a:t>1)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dirty="0"/>
              <a:t>		</a:t>
            </a:r>
            <a:r>
              <a:rPr lang="en-US" altLang="zh-TW" sz="2000" b="1" dirty="0"/>
              <a:t>End If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b="1" dirty="0"/>
              <a:t>	End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3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23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23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23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23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23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232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C143561E-FFA6-4542-82E6-B87BED72D304}" type="slidenum">
              <a:rPr kumimoji="0" lang="en-US" altLang="zh-TW" smtClean="0"/>
              <a:pPr eaLnBrk="1" hangingPunct="1"/>
              <a:t>43</a:t>
            </a:fld>
            <a:endParaRPr kumimoji="0" lang="en-US" altLang="zh-TW"/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Arithmetic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Modular Function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GCD and Euclidean Algorithm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Extended GCD Algorithm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Fundamental Theorem of Arithmetic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Modular Arithmetic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Chinese Remainder Theorem</a:t>
            </a:r>
          </a:p>
          <a:p>
            <a:pPr marL="571500" indent="-571500" eaLnBrk="1" hangingPunct="1">
              <a:buFont typeface="Wingdings" pitchFamily="2" charset="2"/>
              <a:buAutoNum type="arabicPeriod"/>
              <a:defRPr/>
            </a:pPr>
            <a:r>
              <a:rPr lang="en-US" altLang="zh-TW" b="1" dirty="0"/>
              <a:t>Theorems of Fermat and Euler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87F36C9C-C96D-4E8C-ADD7-A6B22245D7D3}" type="slidenum">
              <a:rPr kumimoji="0" lang="en-US" altLang="zh-TW" smtClean="0"/>
              <a:pPr eaLnBrk="1" hangingPunct="1"/>
              <a:t>44</a:t>
            </a:fld>
            <a:endParaRPr kumimoji="0" lang="en-US" altLang="zh-TW"/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/>
              <a:t>Fermat's Little Theorem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43063"/>
            <a:ext cx="8229600" cy="4567237"/>
          </a:xfrm>
        </p:spPr>
        <p:txBody>
          <a:bodyPr/>
          <a:lstStyle/>
          <a:p>
            <a:r>
              <a:rPr lang="en-US" altLang="zh-TW" sz="3200" b="1" dirty="0"/>
              <a:t>Fermat's Little Theorem</a:t>
            </a:r>
            <a:r>
              <a:rPr lang="en-US" altLang="zh-TW" dirty="0"/>
              <a:t>  </a:t>
            </a:r>
            <a:r>
              <a:rPr lang="en-US" altLang="zh-TW" i="1" dirty="0"/>
              <a:t>p</a:t>
            </a:r>
            <a:r>
              <a:rPr lang="en-US" altLang="zh-TW" baseline="-25000" dirty="0"/>
              <a:t>  </a:t>
            </a:r>
            <a:r>
              <a:rPr lang="en-US" altLang="zh-TW" dirty="0"/>
              <a:t>is a prime and </a:t>
            </a:r>
            <a:r>
              <a:rPr lang="en-US" altLang="zh-TW" i="1" dirty="0"/>
              <a:t>a</a:t>
            </a:r>
            <a:r>
              <a:rPr lang="en-US" altLang="zh-TW" dirty="0"/>
              <a:t> </a:t>
            </a:r>
            <a:r>
              <a:rPr lang="en-US" altLang="zh-TW" dirty="0">
                <a:sym typeface="Symbol" pitchFamily="18" charset="2"/>
              </a:rPr>
              <a:t> </a:t>
            </a:r>
            <a:r>
              <a:rPr lang="en-US" altLang="zh-TW" i="1" dirty="0"/>
              <a:t>p</a:t>
            </a:r>
            <a:r>
              <a:rPr lang="en-US" altLang="zh-TW" i="1" baseline="-25000" dirty="0"/>
              <a:t> </a:t>
            </a:r>
            <a:r>
              <a:rPr lang="en-US" altLang="zh-TW" dirty="0"/>
              <a:t>, then  </a:t>
            </a:r>
            <a:r>
              <a:rPr lang="en-US" altLang="zh-TW" i="1" dirty="0"/>
              <a:t>a</a:t>
            </a:r>
            <a:r>
              <a:rPr lang="en-US" altLang="zh-TW" sz="1600" i="1" baseline="30000" dirty="0"/>
              <a:t> </a:t>
            </a:r>
            <a:r>
              <a:rPr lang="en-US" altLang="zh-TW" i="1" baseline="30000" dirty="0"/>
              <a:t>p</a:t>
            </a:r>
            <a:r>
              <a:rPr lang="en-US" altLang="zh-TW" sz="1600" i="1" baseline="-25000" dirty="0"/>
              <a:t> </a:t>
            </a:r>
            <a:r>
              <a:rPr lang="en-US" altLang="zh-TW" baseline="30000" dirty="0">
                <a:sym typeface="Symbol" pitchFamily="18" charset="2"/>
              </a:rPr>
              <a:t></a:t>
            </a:r>
            <a:r>
              <a:rPr lang="en-US" altLang="zh-TW" baseline="30000" dirty="0"/>
              <a:t>1</a:t>
            </a:r>
            <a:r>
              <a:rPr lang="en-US" altLang="zh-TW" dirty="0"/>
              <a:t> </a:t>
            </a:r>
            <a:r>
              <a:rPr lang="en-US" altLang="zh-TW" dirty="0">
                <a:sym typeface="Symbol" pitchFamily="18" charset="2"/>
              </a:rPr>
              <a:t> </a:t>
            </a:r>
            <a:r>
              <a:rPr lang="en-US" altLang="zh-TW" dirty="0"/>
              <a:t>1 (mod </a:t>
            </a:r>
            <a:r>
              <a:rPr lang="en-US" altLang="zh-TW" i="1" dirty="0"/>
              <a:t>p</a:t>
            </a:r>
            <a:r>
              <a:rPr lang="en-US" altLang="zh-TW" dirty="0"/>
              <a:t>)</a:t>
            </a:r>
          </a:p>
          <a:p>
            <a:r>
              <a:rPr lang="en-US" altLang="zh-TW" b="1" dirty="0"/>
              <a:t>Remark</a:t>
            </a:r>
          </a:p>
          <a:p>
            <a:pPr lvl="1"/>
            <a:r>
              <a:rPr lang="en-US" altLang="zh-TW" dirty="0"/>
              <a:t>Note that the multiplicative group </a:t>
            </a:r>
            <a:r>
              <a:rPr lang="en-US" altLang="zh-TW" b="1" i="1" dirty="0" err="1"/>
              <a:t>Z</a:t>
            </a:r>
            <a:r>
              <a:rPr lang="en-US" altLang="zh-TW" i="1" baseline="-25000" dirty="0" err="1"/>
              <a:t>p</a:t>
            </a:r>
            <a:r>
              <a:rPr lang="en-US" altLang="zh-TW" i="1" dirty="0"/>
              <a:t>* </a:t>
            </a:r>
            <a:r>
              <a:rPr lang="en-US" altLang="zh-TW" dirty="0"/>
              <a:t> has order     |</a:t>
            </a:r>
            <a:r>
              <a:rPr lang="en-US" altLang="zh-TW" sz="1600" i="1" baseline="-25000" dirty="0">
                <a:solidFill>
                  <a:srgbClr val="000000"/>
                </a:solidFill>
                <a:cs typeface="+mn-cs"/>
              </a:rPr>
              <a:t> </a:t>
            </a:r>
            <a:r>
              <a:rPr lang="en-US" altLang="zh-TW" b="1" i="1" dirty="0" err="1"/>
              <a:t>Z</a:t>
            </a:r>
            <a:r>
              <a:rPr lang="en-US" altLang="zh-TW" i="1" baseline="-25000" dirty="0" err="1"/>
              <a:t>p</a:t>
            </a:r>
            <a:r>
              <a:rPr lang="en-US" altLang="zh-TW" i="1" dirty="0"/>
              <a:t>*</a:t>
            </a:r>
            <a:r>
              <a:rPr lang="en-US" altLang="zh-TW" sz="1600" i="1" dirty="0"/>
              <a:t> </a:t>
            </a:r>
            <a:r>
              <a:rPr lang="en-US" altLang="zh-TW" dirty="0"/>
              <a:t>| = </a:t>
            </a:r>
            <a:r>
              <a:rPr lang="en-US" altLang="zh-TW" i="1" dirty="0"/>
              <a:t>p</a:t>
            </a:r>
            <a:r>
              <a:rPr lang="en-US" altLang="zh-TW" baseline="-25000" dirty="0"/>
              <a:t> </a:t>
            </a:r>
            <a:r>
              <a:rPr lang="en-US" altLang="zh-TW" dirty="0">
                <a:sym typeface="Symbol" pitchFamily="18" charset="2"/>
              </a:rPr>
              <a:t>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1, hence</a:t>
            </a:r>
            <a:r>
              <a:rPr lang="en-US" altLang="zh-TW" baseline="-25000" dirty="0">
                <a:sym typeface="Symbol" pitchFamily="18" charset="2"/>
              </a:rPr>
              <a:t>  </a:t>
            </a:r>
            <a:r>
              <a:rPr lang="en-US" altLang="zh-TW" i="1" dirty="0"/>
              <a:t>a</a:t>
            </a:r>
            <a:r>
              <a:rPr lang="en-US" altLang="zh-TW" sz="1200" i="1" baseline="-25000" dirty="0"/>
              <a:t> </a:t>
            </a:r>
            <a:r>
              <a:rPr lang="en-US" altLang="zh-TW" i="1" baseline="30000" dirty="0"/>
              <a:t>p</a:t>
            </a:r>
            <a:r>
              <a:rPr lang="en-US" altLang="zh-TW" sz="1600" i="1" baseline="-25000" dirty="0"/>
              <a:t> </a:t>
            </a:r>
            <a:r>
              <a:rPr lang="en-US" altLang="zh-TW" baseline="30000" dirty="0">
                <a:sym typeface="Symbol" pitchFamily="18" charset="2"/>
              </a:rPr>
              <a:t></a:t>
            </a:r>
            <a:r>
              <a:rPr lang="en-US" altLang="zh-TW" baseline="30000" dirty="0"/>
              <a:t>1</a:t>
            </a:r>
            <a:r>
              <a:rPr lang="en-US" altLang="zh-TW" dirty="0"/>
              <a:t> </a:t>
            </a:r>
            <a:r>
              <a:rPr lang="en-US" altLang="zh-TW" dirty="0">
                <a:sym typeface="Symbol" pitchFamily="18" charset="2"/>
              </a:rPr>
              <a:t>= </a:t>
            </a:r>
            <a:r>
              <a:rPr lang="en-US" altLang="zh-TW" dirty="0"/>
              <a:t>1</a:t>
            </a:r>
            <a:r>
              <a:rPr lang="en-US" altLang="zh-TW" baseline="-25000" dirty="0">
                <a:sym typeface="Symbol" pitchFamily="18" charset="2"/>
              </a:rPr>
              <a:t>  </a:t>
            </a:r>
            <a:r>
              <a:rPr lang="en-US" altLang="zh-TW" dirty="0">
                <a:sym typeface="Symbol" pitchFamily="18" charset="2"/>
              </a:rPr>
              <a:t>for every</a:t>
            </a:r>
            <a:r>
              <a:rPr lang="en-US" altLang="zh-TW" baseline="-25000" dirty="0">
                <a:sym typeface="Symbol" pitchFamily="18" charset="2"/>
              </a:rPr>
              <a:t>  </a:t>
            </a:r>
            <a:r>
              <a:rPr lang="en-US" altLang="zh-TW" i="1" dirty="0">
                <a:sym typeface="Symbol" pitchFamily="18" charset="2"/>
              </a:rPr>
              <a:t>a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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b="1" i="1" dirty="0" err="1"/>
              <a:t>Z</a:t>
            </a:r>
            <a:r>
              <a:rPr lang="en-US" altLang="zh-TW" i="1" baseline="-25000" dirty="0" err="1"/>
              <a:t>p</a:t>
            </a:r>
            <a:r>
              <a:rPr lang="en-US" altLang="zh-TW" i="1" dirty="0"/>
              <a:t>* </a:t>
            </a:r>
            <a:endParaRPr lang="en-US" altLang="zh-TW" dirty="0">
              <a:sym typeface="Symbol" pitchFamily="18" charset="2"/>
            </a:endParaRPr>
          </a:p>
          <a:p>
            <a:pPr lvl="1"/>
            <a:r>
              <a:rPr lang="en-US" altLang="zh-TW" dirty="0"/>
              <a:t>History</a:t>
            </a:r>
          </a:p>
          <a:p>
            <a:pPr lvl="2"/>
            <a:r>
              <a:rPr lang="en-US" altLang="zh-TW" dirty="0"/>
              <a:t>The Chinese knew  </a:t>
            </a:r>
            <a:r>
              <a:rPr lang="en-US" altLang="zh-TW" i="1" dirty="0"/>
              <a:t>p</a:t>
            </a:r>
            <a:r>
              <a:rPr lang="en-US" altLang="zh-TW" baseline="-25000" dirty="0"/>
              <a:t> </a:t>
            </a:r>
            <a:r>
              <a:rPr lang="en-US" altLang="zh-TW" dirty="0"/>
              <a:t>|</a:t>
            </a:r>
            <a:r>
              <a:rPr lang="en-US" altLang="zh-TW" baseline="-25000" dirty="0"/>
              <a:t> </a:t>
            </a:r>
            <a:r>
              <a:rPr lang="en-US" altLang="zh-TW" dirty="0"/>
              <a:t>(2</a:t>
            </a:r>
            <a:r>
              <a:rPr lang="en-US" altLang="zh-TW" sz="800" baseline="-25000" dirty="0"/>
              <a:t> </a:t>
            </a:r>
            <a:r>
              <a:rPr lang="en-US" altLang="zh-TW" i="1" baseline="40000" dirty="0"/>
              <a:t>p </a:t>
            </a:r>
            <a:r>
              <a:rPr lang="en-US" altLang="zh-TW" dirty="0">
                <a:sym typeface="Symbol" pitchFamily="18" charset="2"/>
              </a:rPr>
              <a:t>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/>
              <a:t>2)  as early as 500 B.C.</a:t>
            </a:r>
          </a:p>
          <a:p>
            <a:pPr lvl="2"/>
            <a:r>
              <a:rPr lang="en-US" altLang="zh-TW" dirty="0"/>
              <a:t>Fermat rediscovered this fact in 1640, and stated that he had a proof </a:t>
            </a:r>
          </a:p>
          <a:p>
            <a:pPr lvl="2"/>
            <a:r>
              <a:rPr lang="en-US" altLang="zh-TW" dirty="0"/>
              <a:t>Euler published the first proof in 1736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495EF879-AE2C-491E-B473-F698528E6E5D}" type="slidenum">
              <a:rPr kumimoji="0" lang="en-US" altLang="zh-TW" smtClean="0"/>
              <a:pPr eaLnBrk="1" hangingPunct="1"/>
              <a:t>45</a:t>
            </a:fld>
            <a:endParaRPr kumimoji="0" lang="en-US" altLang="zh-TW"/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Fermat's Little Theorem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662487"/>
          </a:xfrm>
        </p:spPr>
        <p:txBody>
          <a:bodyPr/>
          <a:lstStyle/>
          <a:p>
            <a:r>
              <a:rPr lang="en-US" altLang="zh-TW" b="1" dirty="0"/>
              <a:t>Proof</a:t>
            </a:r>
            <a:r>
              <a:rPr lang="en-US" altLang="zh-TW" dirty="0"/>
              <a:t>  </a:t>
            </a:r>
            <a:r>
              <a:rPr lang="en-US" altLang="zh-TW" sz="2600" dirty="0"/>
              <a:t>If  </a:t>
            </a:r>
            <a:r>
              <a:rPr lang="en-US" altLang="zh-TW" sz="2600" i="1" dirty="0"/>
              <a:t>ma</a:t>
            </a:r>
            <a:r>
              <a:rPr lang="en-US" altLang="zh-TW" sz="2600" dirty="0"/>
              <a:t> </a:t>
            </a:r>
            <a:r>
              <a:rPr lang="en-US" altLang="zh-TW" sz="2600" dirty="0">
                <a:sym typeface="Symbol" pitchFamily="18" charset="2"/>
              </a:rPr>
              <a:t></a:t>
            </a:r>
            <a:r>
              <a:rPr lang="en-US" altLang="zh-TW" sz="2600" dirty="0"/>
              <a:t> </a:t>
            </a:r>
            <a:r>
              <a:rPr lang="en-US" altLang="zh-TW" sz="2600" i="1" dirty="0" err="1"/>
              <a:t>na</a:t>
            </a:r>
            <a:r>
              <a:rPr lang="en-US" altLang="zh-TW" sz="2600" dirty="0"/>
              <a:t> (mod </a:t>
            </a:r>
            <a:r>
              <a:rPr lang="en-US" altLang="zh-TW" sz="2600" i="1" dirty="0"/>
              <a:t>p</a:t>
            </a:r>
            <a:r>
              <a:rPr lang="en-US" altLang="zh-TW" sz="2600" dirty="0"/>
              <a:t>),  then  </a:t>
            </a:r>
            <a:r>
              <a:rPr lang="en-US" altLang="zh-TW" sz="2600" i="1" dirty="0"/>
              <a:t>m</a:t>
            </a:r>
            <a:r>
              <a:rPr lang="en-US" altLang="zh-TW" sz="2600" dirty="0"/>
              <a:t> </a:t>
            </a:r>
            <a:r>
              <a:rPr lang="en-US" altLang="zh-TW" sz="2600" dirty="0">
                <a:sym typeface="Symbol" pitchFamily="18" charset="2"/>
              </a:rPr>
              <a:t></a:t>
            </a:r>
            <a:r>
              <a:rPr lang="en-US" altLang="zh-TW" sz="2600" dirty="0"/>
              <a:t> </a:t>
            </a:r>
            <a:r>
              <a:rPr lang="en-US" altLang="zh-TW" sz="2600" i="1" dirty="0"/>
              <a:t>n</a:t>
            </a:r>
            <a:r>
              <a:rPr lang="en-US" altLang="zh-TW" sz="2600" dirty="0"/>
              <a:t> (mod </a:t>
            </a:r>
            <a:r>
              <a:rPr lang="en-US" altLang="zh-TW" sz="2600" i="1" dirty="0"/>
              <a:t>p</a:t>
            </a:r>
            <a:r>
              <a:rPr lang="en-US" altLang="zh-TW" sz="2600" dirty="0"/>
              <a:t>) since </a:t>
            </a:r>
            <a:r>
              <a:rPr lang="en-US" altLang="zh-TW" sz="2600" i="1" dirty="0"/>
              <a:t>a</a:t>
            </a:r>
            <a:r>
              <a:rPr lang="en-US" altLang="zh-TW" sz="2600" dirty="0"/>
              <a:t> </a:t>
            </a:r>
            <a:r>
              <a:rPr lang="en-US" altLang="zh-TW" sz="2600" dirty="0">
                <a:sym typeface="Symbol" pitchFamily="18" charset="2"/>
              </a:rPr>
              <a:t> </a:t>
            </a:r>
            <a:r>
              <a:rPr lang="en-US" altLang="zh-TW" sz="2600" i="1" dirty="0"/>
              <a:t>p</a:t>
            </a:r>
            <a:r>
              <a:rPr lang="en-US" altLang="zh-TW" sz="2600" dirty="0"/>
              <a:t>.  Hence  {</a:t>
            </a:r>
            <a:r>
              <a:rPr lang="en-US" altLang="zh-TW" sz="1200" baseline="-25000" dirty="0"/>
              <a:t> </a:t>
            </a:r>
            <a:r>
              <a:rPr lang="en-US" altLang="zh-TW" sz="2600" i="1" dirty="0"/>
              <a:t>a</a:t>
            </a:r>
            <a:r>
              <a:rPr lang="en-US" altLang="zh-TW" sz="2600" dirty="0"/>
              <a:t>, 2</a:t>
            </a:r>
            <a:r>
              <a:rPr lang="en-US" altLang="zh-TW" sz="2600" i="1" dirty="0"/>
              <a:t>a</a:t>
            </a:r>
            <a:r>
              <a:rPr lang="en-US" altLang="zh-TW" sz="2600" dirty="0"/>
              <a:t>, ..., (</a:t>
            </a:r>
            <a:r>
              <a:rPr lang="en-US" altLang="zh-TW" sz="2600" i="1" dirty="0"/>
              <a:t>p</a:t>
            </a:r>
            <a:r>
              <a:rPr lang="en-US" altLang="zh-TW" sz="2600" baseline="-25000" dirty="0"/>
              <a:t> </a:t>
            </a:r>
            <a:r>
              <a:rPr lang="en-US" altLang="zh-TW" sz="2600" dirty="0">
                <a:sym typeface="Symbol" pitchFamily="18" charset="2"/>
              </a:rPr>
              <a:t></a:t>
            </a:r>
            <a:r>
              <a:rPr lang="en-US" altLang="zh-TW" sz="2600" dirty="0"/>
              <a:t>1)</a:t>
            </a:r>
            <a:r>
              <a:rPr lang="en-US" altLang="zh-TW" sz="800" baseline="-25000" dirty="0"/>
              <a:t> </a:t>
            </a:r>
            <a:r>
              <a:rPr lang="en-US" altLang="zh-TW" sz="2600" i="1" dirty="0"/>
              <a:t>a</a:t>
            </a:r>
            <a:r>
              <a:rPr lang="en-US" altLang="zh-TW" sz="2600" i="1" baseline="-25000" dirty="0"/>
              <a:t> </a:t>
            </a:r>
            <a:r>
              <a:rPr lang="en-US" altLang="zh-TW" sz="2600" dirty="0"/>
              <a:t>} mod </a:t>
            </a:r>
            <a:r>
              <a:rPr lang="en-US" altLang="zh-TW" sz="2600" i="1" dirty="0"/>
              <a:t>p</a:t>
            </a:r>
            <a:r>
              <a:rPr lang="en-US" altLang="zh-TW" sz="2600" dirty="0"/>
              <a:t>  is      a permutation of  {1, 2, ..., </a:t>
            </a:r>
            <a:r>
              <a:rPr lang="en-US" altLang="zh-TW" sz="2600" i="1" dirty="0"/>
              <a:t>p</a:t>
            </a:r>
            <a:r>
              <a:rPr lang="en-US" altLang="zh-TW" sz="2600" baseline="-25000" dirty="0"/>
              <a:t> </a:t>
            </a:r>
            <a:r>
              <a:rPr lang="en-US" altLang="zh-TW" sz="2600" dirty="0">
                <a:sym typeface="Symbol" pitchFamily="18" charset="2"/>
              </a:rPr>
              <a:t></a:t>
            </a:r>
            <a:r>
              <a:rPr lang="en-US" altLang="zh-TW" sz="2600" dirty="0"/>
              <a:t>1}. Therefore</a:t>
            </a:r>
          </a:p>
          <a:p>
            <a:pPr>
              <a:buNone/>
            </a:pPr>
            <a:r>
              <a:rPr lang="en-US" altLang="zh-TW" sz="2600" dirty="0"/>
              <a:t>	(</a:t>
            </a:r>
            <a:r>
              <a:rPr lang="en-US" altLang="zh-TW" sz="2600" i="1" dirty="0"/>
              <a:t>a</a:t>
            </a:r>
            <a:r>
              <a:rPr lang="en-US" altLang="zh-TW" sz="2600" dirty="0"/>
              <a:t>) (2</a:t>
            </a:r>
            <a:r>
              <a:rPr lang="en-US" altLang="zh-TW" sz="2600" i="1" dirty="0"/>
              <a:t>a</a:t>
            </a:r>
            <a:r>
              <a:rPr lang="en-US" altLang="zh-TW" sz="2600" dirty="0"/>
              <a:t>) ... ((</a:t>
            </a:r>
            <a:r>
              <a:rPr lang="en-US" altLang="zh-TW" sz="2600" i="1" dirty="0"/>
              <a:t>p</a:t>
            </a:r>
            <a:r>
              <a:rPr lang="en-US" altLang="zh-TW" sz="2600" baseline="-25000" dirty="0"/>
              <a:t> </a:t>
            </a:r>
            <a:r>
              <a:rPr lang="en-US" altLang="zh-TW" sz="2600" dirty="0">
                <a:sym typeface="Symbol" pitchFamily="18" charset="2"/>
              </a:rPr>
              <a:t></a:t>
            </a:r>
            <a:r>
              <a:rPr lang="en-US" altLang="zh-TW" sz="2600" dirty="0"/>
              <a:t>1)</a:t>
            </a:r>
            <a:r>
              <a:rPr lang="en-US" altLang="zh-TW" sz="800" baseline="-25000" dirty="0">
                <a:solidFill>
                  <a:srgbClr val="000000"/>
                </a:solidFill>
              </a:rPr>
              <a:t> </a:t>
            </a:r>
            <a:r>
              <a:rPr lang="en-US" altLang="zh-TW" sz="2600" i="1" dirty="0"/>
              <a:t>a</a:t>
            </a:r>
            <a:r>
              <a:rPr lang="en-US" altLang="zh-TW" sz="2600" dirty="0"/>
              <a:t>) </a:t>
            </a:r>
            <a:r>
              <a:rPr lang="en-US" altLang="zh-TW" sz="2600" dirty="0">
                <a:sym typeface="Symbol" pitchFamily="18" charset="2"/>
              </a:rPr>
              <a:t> </a:t>
            </a:r>
            <a:r>
              <a:rPr lang="en-US" altLang="zh-TW" sz="2600" dirty="0"/>
              <a:t>1</a:t>
            </a:r>
            <a:r>
              <a:rPr lang="en-US" altLang="zh-TW" sz="2600" baseline="-25000" dirty="0"/>
              <a:t> </a:t>
            </a:r>
            <a:r>
              <a:rPr lang="en-US" altLang="zh-TW" sz="2600" dirty="0">
                <a:sym typeface="Symbol" pitchFamily="18" charset="2"/>
              </a:rPr>
              <a:t> </a:t>
            </a:r>
            <a:r>
              <a:rPr lang="en-US" altLang="zh-TW" sz="2600" dirty="0"/>
              <a:t>2 </a:t>
            </a:r>
            <a:r>
              <a:rPr lang="en-US" altLang="zh-TW" sz="2600" dirty="0">
                <a:sym typeface="Symbol" pitchFamily="18" charset="2"/>
              </a:rPr>
              <a:t> … (</a:t>
            </a:r>
            <a:r>
              <a:rPr lang="en-US" altLang="zh-TW" sz="2600" i="1" dirty="0"/>
              <a:t>p</a:t>
            </a:r>
            <a:r>
              <a:rPr lang="en-US" altLang="zh-TW" sz="2600" baseline="-25000" dirty="0"/>
              <a:t> </a:t>
            </a:r>
            <a:r>
              <a:rPr lang="en-US" altLang="zh-TW" sz="2600" dirty="0">
                <a:sym typeface="Symbol" pitchFamily="18" charset="2"/>
              </a:rPr>
              <a:t></a:t>
            </a:r>
            <a:r>
              <a:rPr lang="en-US" altLang="zh-TW" sz="2600" dirty="0"/>
              <a:t>1)  (mod </a:t>
            </a:r>
            <a:r>
              <a:rPr lang="en-US" altLang="zh-TW" sz="2600" i="1" dirty="0"/>
              <a:t>p</a:t>
            </a:r>
            <a:r>
              <a:rPr lang="en-US" altLang="zh-TW" sz="2600" dirty="0"/>
              <a:t>)</a:t>
            </a:r>
          </a:p>
          <a:p>
            <a:pPr>
              <a:buFont typeface="Wingdings" pitchFamily="2" charset="2"/>
              <a:buNone/>
            </a:pPr>
            <a:r>
              <a:rPr lang="en-US" altLang="zh-TW" sz="2600" dirty="0"/>
              <a:t>	</a:t>
            </a:r>
            <a:r>
              <a:rPr lang="en-US" altLang="zh-TW" sz="2600" dirty="0">
                <a:sym typeface="Symbol" pitchFamily="18" charset="2"/>
              </a:rPr>
              <a:t>  </a:t>
            </a:r>
            <a:r>
              <a:rPr lang="en-US" altLang="zh-TW" sz="2600" i="1" dirty="0"/>
              <a:t>a</a:t>
            </a:r>
            <a:r>
              <a:rPr lang="en-US" altLang="zh-TW" sz="1600" i="1" baseline="30000" dirty="0"/>
              <a:t> </a:t>
            </a:r>
            <a:r>
              <a:rPr lang="en-US" altLang="zh-TW" sz="2600" i="1" baseline="30000" dirty="0"/>
              <a:t>p</a:t>
            </a:r>
            <a:r>
              <a:rPr lang="en-US" altLang="zh-TW" sz="1600" baseline="-25000" dirty="0"/>
              <a:t> </a:t>
            </a:r>
            <a:r>
              <a:rPr lang="en-US" altLang="zh-TW" sz="2600" baseline="30000" dirty="0">
                <a:sym typeface="Symbol" pitchFamily="18" charset="2"/>
              </a:rPr>
              <a:t></a:t>
            </a:r>
            <a:r>
              <a:rPr lang="en-US" altLang="zh-TW" sz="2600" baseline="30000" dirty="0"/>
              <a:t>1</a:t>
            </a:r>
            <a:r>
              <a:rPr lang="en-US" altLang="zh-TW" sz="1600" baseline="-25000" dirty="0"/>
              <a:t> </a:t>
            </a:r>
            <a:r>
              <a:rPr lang="en-US" altLang="zh-TW" sz="2600" dirty="0">
                <a:sym typeface="Symbol" pitchFamily="18" charset="2"/>
              </a:rPr>
              <a:t>(</a:t>
            </a:r>
            <a:r>
              <a:rPr lang="en-US" altLang="zh-TW" sz="2600" i="1" dirty="0"/>
              <a:t>p</a:t>
            </a:r>
            <a:r>
              <a:rPr lang="en-US" altLang="zh-TW" sz="2600" baseline="-25000" dirty="0"/>
              <a:t> </a:t>
            </a:r>
            <a:r>
              <a:rPr lang="en-US" altLang="zh-TW" sz="2600" dirty="0">
                <a:sym typeface="Symbol" pitchFamily="18" charset="2"/>
              </a:rPr>
              <a:t></a:t>
            </a:r>
            <a:r>
              <a:rPr lang="en-US" altLang="zh-TW" sz="2600" dirty="0"/>
              <a:t>1)! </a:t>
            </a:r>
            <a:r>
              <a:rPr lang="en-US" altLang="zh-TW" sz="2600" dirty="0">
                <a:sym typeface="Symbol" pitchFamily="18" charset="2"/>
              </a:rPr>
              <a:t> (</a:t>
            </a:r>
            <a:r>
              <a:rPr lang="en-US" altLang="zh-TW" sz="2600" i="1" dirty="0"/>
              <a:t>p</a:t>
            </a:r>
            <a:r>
              <a:rPr lang="en-US" altLang="zh-TW" sz="2600" baseline="-25000" dirty="0"/>
              <a:t> </a:t>
            </a:r>
            <a:r>
              <a:rPr lang="en-US" altLang="zh-TW" sz="2600" dirty="0">
                <a:sym typeface="Symbol" pitchFamily="18" charset="2"/>
              </a:rPr>
              <a:t></a:t>
            </a:r>
            <a:r>
              <a:rPr lang="en-US" altLang="zh-TW" sz="2600" dirty="0"/>
              <a:t>1)!  (mod </a:t>
            </a:r>
            <a:r>
              <a:rPr lang="en-US" altLang="zh-TW" sz="2600" i="1" dirty="0"/>
              <a:t>p</a:t>
            </a:r>
            <a:r>
              <a:rPr lang="en-US" altLang="zh-TW" sz="2600" dirty="0"/>
              <a:t>)</a:t>
            </a:r>
          </a:p>
          <a:p>
            <a:pPr>
              <a:buFont typeface="Wingdings" pitchFamily="2" charset="2"/>
              <a:buNone/>
            </a:pPr>
            <a:r>
              <a:rPr lang="en-US" altLang="zh-TW" sz="2600" dirty="0"/>
              <a:t>	</a:t>
            </a:r>
            <a:r>
              <a:rPr lang="en-US" altLang="zh-TW" sz="2600" dirty="0">
                <a:sym typeface="Symbol" pitchFamily="18" charset="2"/>
              </a:rPr>
              <a:t>  </a:t>
            </a:r>
            <a:r>
              <a:rPr lang="en-US" altLang="zh-TW" sz="2600" i="1" dirty="0"/>
              <a:t>a</a:t>
            </a:r>
            <a:r>
              <a:rPr lang="en-US" altLang="zh-TW" sz="1600" i="1" baseline="30000" dirty="0"/>
              <a:t> </a:t>
            </a:r>
            <a:r>
              <a:rPr lang="en-US" altLang="zh-TW" sz="2600" i="1" baseline="30000" dirty="0"/>
              <a:t>p</a:t>
            </a:r>
            <a:r>
              <a:rPr lang="en-US" altLang="zh-TW" sz="1600" baseline="30000" dirty="0"/>
              <a:t> </a:t>
            </a:r>
            <a:r>
              <a:rPr lang="en-US" altLang="zh-TW" sz="2600" baseline="30000" dirty="0">
                <a:sym typeface="Symbol" pitchFamily="18" charset="2"/>
              </a:rPr>
              <a:t></a:t>
            </a:r>
            <a:r>
              <a:rPr lang="en-US" altLang="zh-TW" sz="2600" baseline="30000" dirty="0"/>
              <a:t>1</a:t>
            </a:r>
            <a:r>
              <a:rPr lang="en-US" altLang="zh-TW" sz="2600" dirty="0"/>
              <a:t> </a:t>
            </a:r>
            <a:r>
              <a:rPr lang="en-US" altLang="zh-TW" sz="2600" dirty="0">
                <a:sym typeface="Symbol" pitchFamily="18" charset="2"/>
              </a:rPr>
              <a:t> </a:t>
            </a:r>
            <a:r>
              <a:rPr lang="en-US" altLang="zh-TW" sz="2600" dirty="0"/>
              <a:t>1  (mod </a:t>
            </a:r>
            <a:r>
              <a:rPr lang="en-US" altLang="zh-TW" sz="2600" i="1" dirty="0"/>
              <a:t>p</a:t>
            </a:r>
            <a:r>
              <a:rPr lang="en-US" altLang="zh-TW" sz="2600" dirty="0"/>
              <a:t>), since </a:t>
            </a:r>
            <a:r>
              <a:rPr lang="en-US" altLang="zh-TW" sz="2600" i="1" dirty="0"/>
              <a:t>p</a:t>
            </a:r>
            <a:r>
              <a:rPr lang="en-US" altLang="zh-TW" sz="2600" dirty="0"/>
              <a:t> </a:t>
            </a:r>
            <a:r>
              <a:rPr lang="en-US" altLang="zh-TW" sz="2600" dirty="0">
                <a:sym typeface="Symbol" pitchFamily="18" charset="2"/>
              </a:rPr>
              <a:t> (</a:t>
            </a:r>
            <a:r>
              <a:rPr lang="en-US" altLang="zh-TW" sz="2600" i="1" dirty="0"/>
              <a:t>p</a:t>
            </a:r>
            <a:r>
              <a:rPr lang="en-US" altLang="zh-TW" sz="2600" baseline="-25000" dirty="0"/>
              <a:t> </a:t>
            </a:r>
            <a:r>
              <a:rPr lang="en-US" altLang="zh-TW" sz="2600" dirty="0">
                <a:sym typeface="Symbol" pitchFamily="18" charset="2"/>
              </a:rPr>
              <a:t></a:t>
            </a:r>
            <a:r>
              <a:rPr lang="en-US" altLang="zh-TW" sz="2600" dirty="0"/>
              <a:t>1)!</a:t>
            </a:r>
          </a:p>
          <a:p>
            <a:r>
              <a:rPr lang="en-US" altLang="zh-TW" b="1" dirty="0"/>
              <a:t>Corollary</a:t>
            </a:r>
            <a:r>
              <a:rPr lang="en-US" altLang="zh-TW" dirty="0"/>
              <a:t>  </a:t>
            </a:r>
            <a:r>
              <a:rPr lang="en-US" altLang="zh-TW" sz="2600" i="1" dirty="0"/>
              <a:t>p</a:t>
            </a:r>
            <a:r>
              <a:rPr lang="en-US" altLang="zh-TW" sz="2600" baseline="-25000" dirty="0"/>
              <a:t>  </a:t>
            </a:r>
            <a:r>
              <a:rPr lang="en-US" altLang="zh-TW" sz="2600" dirty="0"/>
              <a:t>is a prime, </a:t>
            </a:r>
            <a:r>
              <a:rPr lang="en-US" altLang="zh-TW" sz="2600" i="1" dirty="0"/>
              <a:t>a</a:t>
            </a:r>
            <a:r>
              <a:rPr lang="en-US" altLang="zh-TW" sz="2600" baseline="-25000" dirty="0"/>
              <a:t> </a:t>
            </a:r>
            <a:r>
              <a:rPr lang="en-US" altLang="zh-TW" sz="2600" dirty="0">
                <a:sym typeface="Symbol" pitchFamily="18" charset="2"/>
              </a:rPr>
              <a:t>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b="1" i="1" dirty="0"/>
              <a:t>Z</a:t>
            </a:r>
            <a:r>
              <a:rPr lang="en-US" altLang="zh-TW" sz="2600" dirty="0"/>
              <a:t>, then </a:t>
            </a:r>
            <a:r>
              <a:rPr lang="en-US" altLang="zh-TW" sz="2600" i="1" dirty="0"/>
              <a:t>a</a:t>
            </a:r>
            <a:r>
              <a:rPr lang="en-US" altLang="zh-TW" sz="1400" i="1" baseline="30000" dirty="0"/>
              <a:t> </a:t>
            </a:r>
            <a:r>
              <a:rPr lang="en-US" altLang="zh-TW" sz="2600" i="1" baseline="30000" dirty="0"/>
              <a:t>p</a:t>
            </a:r>
            <a:r>
              <a:rPr lang="en-US" altLang="zh-TW" sz="2600" dirty="0"/>
              <a:t> </a:t>
            </a:r>
            <a:r>
              <a:rPr lang="en-US" altLang="zh-TW" sz="2600" dirty="0">
                <a:sym typeface="Symbol" pitchFamily="18" charset="2"/>
              </a:rPr>
              <a:t> </a:t>
            </a:r>
            <a:r>
              <a:rPr lang="en-US" altLang="zh-TW" sz="2600" i="1" dirty="0"/>
              <a:t>a</a:t>
            </a:r>
            <a:r>
              <a:rPr lang="en-US" altLang="zh-TW" sz="2600" dirty="0"/>
              <a:t> (mod </a:t>
            </a:r>
            <a:r>
              <a:rPr lang="en-US" altLang="zh-TW" sz="2600" i="1" dirty="0"/>
              <a:t>p</a:t>
            </a:r>
            <a:r>
              <a:rPr lang="en-US" altLang="zh-TW" sz="2600" dirty="0"/>
              <a:t>)</a:t>
            </a:r>
          </a:p>
          <a:p>
            <a:r>
              <a:rPr lang="en-US" altLang="zh-TW" b="1" dirty="0"/>
              <a:t>Proof</a:t>
            </a:r>
            <a:r>
              <a:rPr lang="en-US" altLang="zh-TW" dirty="0"/>
              <a:t>  </a:t>
            </a:r>
            <a:r>
              <a:rPr lang="en-US" altLang="zh-TW" sz="2600" dirty="0" err="1"/>
              <a:t>i</a:t>
            </a:r>
            <a:r>
              <a:rPr lang="en-US" altLang="zh-TW" sz="2600" dirty="0"/>
              <a:t>)  Multiplication by</a:t>
            </a:r>
            <a:r>
              <a:rPr lang="en-US" altLang="zh-TW" sz="2600" baseline="-25000" dirty="0"/>
              <a:t>  </a:t>
            </a:r>
            <a:r>
              <a:rPr lang="en-US" altLang="zh-TW" sz="2600" i="1" dirty="0"/>
              <a:t>a</a:t>
            </a:r>
            <a:r>
              <a:rPr lang="en-US" altLang="zh-TW" sz="2600" i="1" baseline="-25000" dirty="0"/>
              <a:t> </a:t>
            </a:r>
            <a:r>
              <a:rPr lang="en-US" altLang="zh-TW" sz="2600" baseline="-25000" dirty="0"/>
              <a:t> </a:t>
            </a:r>
            <a:r>
              <a:rPr lang="en-US" altLang="zh-TW" sz="2600" dirty="0"/>
              <a:t>on both sides if </a:t>
            </a:r>
            <a:r>
              <a:rPr lang="en-US" altLang="zh-TW" sz="2600" baseline="-25000" dirty="0"/>
              <a:t> </a:t>
            </a:r>
            <a:r>
              <a:rPr lang="en-US" altLang="zh-TW" sz="2600" i="1" dirty="0"/>
              <a:t>a</a:t>
            </a:r>
            <a:r>
              <a:rPr lang="en-US" altLang="zh-TW" sz="2600" dirty="0"/>
              <a:t> </a:t>
            </a:r>
            <a:r>
              <a:rPr lang="en-US" altLang="zh-TW" sz="2600" dirty="0">
                <a:sym typeface="Symbol" pitchFamily="18" charset="2"/>
              </a:rPr>
              <a:t> </a:t>
            </a:r>
            <a:r>
              <a:rPr lang="en-US" altLang="zh-TW" sz="2600" i="1" dirty="0"/>
              <a:t>p</a:t>
            </a:r>
          </a:p>
          <a:p>
            <a:pPr>
              <a:buFont typeface="Wingdings" pitchFamily="2" charset="2"/>
              <a:buNone/>
            </a:pPr>
            <a:r>
              <a:rPr lang="en-US" altLang="zh-TW" sz="2600" i="1" dirty="0"/>
              <a:t>		      </a:t>
            </a:r>
            <a:r>
              <a:rPr lang="en-US" altLang="zh-TW" sz="2600" dirty="0"/>
              <a:t>ii)</a:t>
            </a:r>
            <a:r>
              <a:rPr lang="en-US" altLang="zh-TW" sz="2600" i="1" dirty="0"/>
              <a:t>  a</a:t>
            </a:r>
            <a:r>
              <a:rPr lang="en-US" altLang="zh-TW" sz="1200" i="1" baseline="30000" dirty="0"/>
              <a:t> </a:t>
            </a:r>
            <a:r>
              <a:rPr lang="en-US" altLang="zh-TW" sz="2600" i="1" baseline="30000" dirty="0"/>
              <a:t>p</a:t>
            </a:r>
            <a:r>
              <a:rPr lang="en-US" altLang="zh-TW" sz="2600" dirty="0"/>
              <a:t> </a:t>
            </a:r>
            <a:r>
              <a:rPr lang="en-US" altLang="zh-TW" sz="2600" dirty="0">
                <a:sym typeface="Symbol" pitchFamily="18" charset="2"/>
              </a:rPr>
              <a:t> 0  </a:t>
            </a:r>
            <a:r>
              <a:rPr lang="en-US" altLang="zh-TW" sz="2600" i="1" dirty="0"/>
              <a:t>a</a:t>
            </a:r>
            <a:r>
              <a:rPr lang="en-US" altLang="zh-TW" sz="2600" dirty="0"/>
              <a:t> (mod </a:t>
            </a:r>
            <a:r>
              <a:rPr lang="en-US" altLang="zh-TW" sz="2600" i="1" dirty="0"/>
              <a:t>p</a:t>
            </a:r>
            <a:r>
              <a:rPr lang="en-US" altLang="zh-TW" sz="2600" dirty="0"/>
              <a:t>) </a:t>
            </a:r>
            <a:r>
              <a:rPr lang="en-US" altLang="zh-TW" sz="2600" baseline="-25000" dirty="0"/>
              <a:t> </a:t>
            </a:r>
            <a:r>
              <a:rPr lang="en-US" altLang="zh-TW" sz="2600" dirty="0"/>
              <a:t>if </a:t>
            </a:r>
            <a:r>
              <a:rPr lang="en-US" altLang="zh-TW" sz="2600" baseline="-25000" dirty="0"/>
              <a:t> </a:t>
            </a:r>
            <a:r>
              <a:rPr lang="en-US" altLang="zh-TW" sz="2600" i="1" dirty="0"/>
              <a:t>p</a:t>
            </a:r>
            <a:r>
              <a:rPr lang="en-US" altLang="zh-TW" sz="2600" baseline="-25000" dirty="0"/>
              <a:t> </a:t>
            </a:r>
            <a:r>
              <a:rPr lang="en-US" altLang="zh-TW" sz="2600" dirty="0"/>
              <a:t>|</a:t>
            </a:r>
            <a:r>
              <a:rPr lang="en-US" altLang="zh-TW" sz="2600" baseline="-25000" dirty="0"/>
              <a:t> </a:t>
            </a:r>
            <a:r>
              <a:rPr lang="en-US" altLang="zh-TW" sz="2600" i="1" dirty="0"/>
              <a:t>a</a:t>
            </a:r>
            <a:endParaRPr lang="en-US" altLang="zh-TW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B7AD1F4F-8A30-4F89-A308-AA432C21945E}" type="slidenum">
              <a:rPr kumimoji="0" lang="en-US" altLang="zh-TW" smtClean="0"/>
              <a:pPr eaLnBrk="1" hangingPunct="1"/>
              <a:t>46</a:t>
            </a:fld>
            <a:endParaRPr kumimoji="0" lang="en-US" altLang="zh-TW"/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/>
              <a:t>Carmichael Numbers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662487"/>
          </a:xfrm>
        </p:spPr>
        <p:txBody>
          <a:bodyPr/>
          <a:lstStyle/>
          <a:p>
            <a:r>
              <a:rPr lang="en-US" altLang="zh-TW" b="1" dirty="0"/>
              <a:t>Q</a:t>
            </a:r>
            <a:r>
              <a:rPr lang="en-US" altLang="zh-TW" dirty="0"/>
              <a:t>: </a:t>
            </a:r>
            <a:r>
              <a:rPr lang="en-US" altLang="zh-TW" sz="2800" dirty="0"/>
              <a:t>Is the converse true? i.e., if </a:t>
            </a:r>
            <a:r>
              <a:rPr lang="en-US" altLang="zh-TW" sz="2800" baseline="-25000" dirty="0"/>
              <a:t> </a:t>
            </a:r>
            <a:r>
              <a:rPr lang="en-US" altLang="zh-TW" sz="2800" i="1" dirty="0"/>
              <a:t>a</a:t>
            </a:r>
            <a:r>
              <a:rPr lang="en-US" altLang="zh-TW" sz="1200" i="1" baseline="30000" dirty="0"/>
              <a:t> </a:t>
            </a:r>
            <a:r>
              <a:rPr lang="en-US" altLang="zh-TW" sz="2800" i="1" baseline="30000" dirty="0"/>
              <a:t>n</a:t>
            </a:r>
            <a:r>
              <a:rPr lang="en-US" altLang="zh-TW" sz="2800" dirty="0"/>
              <a:t> </a:t>
            </a:r>
            <a:r>
              <a:rPr lang="en-US" altLang="zh-TW" sz="2800" dirty="0">
                <a:sym typeface="Symbol" pitchFamily="18" charset="2"/>
              </a:rPr>
              <a:t> </a:t>
            </a:r>
            <a:r>
              <a:rPr lang="en-US" altLang="zh-TW" sz="2800" i="1" dirty="0"/>
              <a:t>a</a:t>
            </a:r>
            <a:r>
              <a:rPr lang="en-US" altLang="zh-TW" sz="2800" dirty="0"/>
              <a:t> </a:t>
            </a:r>
            <a:r>
              <a:rPr lang="en-US" altLang="zh-TW" sz="2800" baseline="-25000" dirty="0"/>
              <a:t> </a:t>
            </a:r>
            <a:r>
              <a:rPr lang="en-US" altLang="zh-TW" sz="2800" dirty="0"/>
              <a:t>(mod </a:t>
            </a:r>
            <a:r>
              <a:rPr lang="en-US" altLang="zh-TW" sz="2800" i="1" dirty="0"/>
              <a:t>n</a:t>
            </a:r>
            <a:r>
              <a:rPr lang="en-US" altLang="zh-TW" sz="2800" dirty="0"/>
              <a:t>) for every </a:t>
            </a:r>
            <a:r>
              <a:rPr lang="en-US" altLang="zh-TW" sz="2800" i="1" dirty="0"/>
              <a:t>a</a:t>
            </a:r>
            <a:r>
              <a:rPr lang="en-US" altLang="zh-TW" sz="2800" baseline="-25000" dirty="0"/>
              <a:t> </a:t>
            </a:r>
            <a:r>
              <a:rPr lang="en-US" altLang="zh-TW" sz="2800" dirty="0">
                <a:sym typeface="Symbol" pitchFamily="18" charset="2"/>
              </a:rPr>
              <a:t></a:t>
            </a:r>
            <a:r>
              <a:rPr lang="en-US" altLang="zh-TW" sz="2800" baseline="-25000" dirty="0">
                <a:sym typeface="Symbol" pitchFamily="18" charset="2"/>
              </a:rPr>
              <a:t> </a:t>
            </a:r>
            <a:r>
              <a:rPr lang="en-US" altLang="zh-TW" sz="2800" b="1" i="1" dirty="0"/>
              <a:t>Z</a:t>
            </a:r>
            <a:r>
              <a:rPr lang="en-US" altLang="zh-TW" sz="2800" dirty="0"/>
              <a:t>, is</a:t>
            </a:r>
            <a:r>
              <a:rPr lang="en-US" altLang="zh-TW" sz="2800" baseline="-25000" dirty="0"/>
              <a:t>  </a:t>
            </a:r>
            <a:r>
              <a:rPr lang="en-US" altLang="zh-TW" sz="2800" i="1" dirty="0"/>
              <a:t>n</a:t>
            </a:r>
            <a:r>
              <a:rPr lang="en-US" altLang="zh-TW" sz="2800" i="1" baseline="-25000" dirty="0"/>
              <a:t>  </a:t>
            </a:r>
            <a:r>
              <a:rPr lang="en-US" altLang="zh-TW" sz="2800" dirty="0"/>
              <a:t>necessarily a prime?</a:t>
            </a:r>
          </a:p>
          <a:p>
            <a:r>
              <a:rPr lang="en-US" altLang="zh-TW" b="1" dirty="0"/>
              <a:t>A</a:t>
            </a:r>
            <a:r>
              <a:rPr lang="en-US" altLang="zh-TW" dirty="0"/>
              <a:t>: </a:t>
            </a:r>
            <a:r>
              <a:rPr lang="en-US" altLang="zh-TW" sz="2800" dirty="0"/>
              <a:t>No. These counterexamples of composite </a:t>
            </a:r>
            <a:r>
              <a:rPr lang="en-US" altLang="zh-TW" sz="2800" i="1" dirty="0"/>
              <a:t>n</a:t>
            </a:r>
            <a:r>
              <a:rPr lang="en-US" altLang="zh-TW" sz="2800" dirty="0"/>
              <a:t>’s are called </a:t>
            </a:r>
            <a:r>
              <a:rPr lang="en-US" altLang="zh-TW" sz="2800" b="1" dirty="0"/>
              <a:t>Carmichael numbers</a:t>
            </a:r>
            <a:r>
              <a:rPr lang="en-US" altLang="zh-TW" sz="2800" dirty="0"/>
              <a:t>.</a:t>
            </a:r>
          </a:p>
          <a:p>
            <a:r>
              <a:rPr lang="en-US" altLang="zh-TW" b="1" dirty="0"/>
              <a:t>Example</a:t>
            </a:r>
            <a:r>
              <a:rPr lang="en-US" altLang="zh-TW" dirty="0"/>
              <a:t>  </a:t>
            </a:r>
            <a:r>
              <a:rPr lang="en-US" altLang="zh-TW" sz="2800" dirty="0"/>
              <a:t>561 = 3</a:t>
            </a:r>
            <a:r>
              <a:rPr lang="en-US" altLang="zh-TW" sz="1600" baseline="-25000" dirty="0"/>
              <a:t> </a:t>
            </a:r>
            <a:r>
              <a:rPr lang="en-US" altLang="zh-TW" sz="2800" b="1" dirty="0">
                <a:sym typeface="Symbol" pitchFamily="18" charset="2"/>
              </a:rPr>
              <a:t></a:t>
            </a:r>
            <a:r>
              <a:rPr lang="en-US" altLang="zh-TW" sz="1600" baseline="-25000" dirty="0">
                <a:sym typeface="Symbol" pitchFamily="18" charset="2"/>
              </a:rPr>
              <a:t> </a:t>
            </a:r>
            <a:r>
              <a:rPr lang="en-US" altLang="zh-TW" sz="2800" dirty="0">
                <a:sym typeface="Symbol" pitchFamily="18" charset="2"/>
              </a:rPr>
              <a:t>11</a:t>
            </a:r>
            <a:r>
              <a:rPr lang="en-US" altLang="zh-TW" sz="1600" baseline="-25000" dirty="0">
                <a:sym typeface="Symbol" pitchFamily="18" charset="2"/>
              </a:rPr>
              <a:t> </a:t>
            </a:r>
            <a:r>
              <a:rPr lang="en-US" altLang="zh-TW" sz="2800" b="1" dirty="0">
                <a:sym typeface="Symbol" pitchFamily="18" charset="2"/>
              </a:rPr>
              <a:t></a:t>
            </a:r>
            <a:r>
              <a:rPr lang="en-US" altLang="zh-TW" sz="1600" b="1" baseline="-25000" dirty="0">
                <a:sym typeface="Symbol" pitchFamily="18" charset="2"/>
              </a:rPr>
              <a:t> </a:t>
            </a:r>
            <a:r>
              <a:rPr lang="en-US" altLang="zh-TW" sz="2800" dirty="0">
                <a:sym typeface="Symbol" pitchFamily="18" charset="2"/>
              </a:rPr>
              <a:t>17  </a:t>
            </a:r>
            <a:r>
              <a:rPr lang="en-US" altLang="zh-TW" sz="2800" dirty="0"/>
              <a:t>is the smallest Carmichael number</a:t>
            </a:r>
          </a:p>
          <a:p>
            <a:pPr>
              <a:buFont typeface="Wingdings" pitchFamily="2" charset="2"/>
              <a:buNone/>
            </a:pPr>
            <a:r>
              <a:rPr lang="en-US" altLang="zh-TW" sz="2000" i="1" dirty="0"/>
              <a:t>	a</a:t>
            </a:r>
            <a:r>
              <a:rPr lang="en-US" altLang="zh-TW" sz="2000" baseline="30000" dirty="0"/>
              <a:t>561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Symbol" pitchFamily="18" charset="2"/>
              </a:rPr>
              <a:t></a:t>
            </a:r>
            <a:r>
              <a:rPr lang="en-US" altLang="zh-TW" sz="2000" dirty="0"/>
              <a:t> </a:t>
            </a:r>
            <a:r>
              <a:rPr lang="en-US" altLang="zh-TW" sz="2000" i="1" dirty="0"/>
              <a:t>a</a:t>
            </a:r>
            <a:r>
              <a:rPr lang="en-US" altLang="zh-TW" sz="2000" dirty="0"/>
              <a:t>  </a:t>
            </a:r>
            <a:r>
              <a:rPr lang="en-US" altLang="zh-TW" sz="1800" dirty="0"/>
              <a:t>(mod 3)</a:t>
            </a:r>
            <a:r>
              <a:rPr lang="en-US" altLang="zh-TW" sz="2000" dirty="0"/>
              <a:t> if  3|</a:t>
            </a:r>
            <a:r>
              <a:rPr lang="en-US" altLang="zh-TW" sz="2000" i="1" dirty="0"/>
              <a:t>a</a:t>
            </a:r>
            <a:r>
              <a:rPr lang="en-US" altLang="zh-TW" sz="2000" i="1" baseline="-25000" dirty="0"/>
              <a:t> </a:t>
            </a:r>
            <a:r>
              <a:rPr lang="en-US" altLang="zh-TW" sz="2000" dirty="0"/>
              <a:t>;  </a:t>
            </a:r>
            <a:r>
              <a:rPr lang="en-US" altLang="zh-TW" sz="2000" i="1" dirty="0"/>
              <a:t>a</a:t>
            </a:r>
            <a:r>
              <a:rPr lang="en-US" altLang="zh-TW" sz="2000" baseline="30000" dirty="0"/>
              <a:t>561</a:t>
            </a:r>
            <a:r>
              <a:rPr lang="en-US" altLang="zh-TW" sz="2000" dirty="0"/>
              <a:t> = </a:t>
            </a:r>
            <a:r>
              <a:rPr lang="en-US" altLang="zh-TW" sz="2000" i="1" dirty="0"/>
              <a:t>a</a:t>
            </a:r>
            <a:r>
              <a:rPr lang="en-US" altLang="zh-TW" sz="2000" dirty="0"/>
              <a:t>(</a:t>
            </a:r>
            <a:r>
              <a:rPr lang="en-US" altLang="zh-TW" sz="2000" i="1" dirty="0"/>
              <a:t>a</a:t>
            </a:r>
            <a:r>
              <a:rPr lang="en-US" altLang="zh-TW" sz="2000" baseline="30000" dirty="0"/>
              <a:t>2</a:t>
            </a:r>
            <a:r>
              <a:rPr lang="en-US" altLang="zh-TW" sz="2000" dirty="0"/>
              <a:t>)</a:t>
            </a:r>
            <a:r>
              <a:rPr lang="en-US" altLang="zh-TW" sz="2000" baseline="30000" dirty="0"/>
              <a:t>280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Symbol" pitchFamily="18" charset="2"/>
              </a:rPr>
              <a:t></a:t>
            </a:r>
            <a:r>
              <a:rPr lang="en-US" altLang="zh-TW" sz="2000" dirty="0"/>
              <a:t> </a:t>
            </a:r>
            <a:r>
              <a:rPr lang="en-US" altLang="zh-TW" sz="2000" i="1" dirty="0"/>
              <a:t>a</a:t>
            </a:r>
            <a:r>
              <a:rPr lang="en-US" altLang="zh-TW" sz="2000" i="1" baseline="-25000" dirty="0"/>
              <a:t> </a:t>
            </a:r>
            <a:r>
              <a:rPr lang="en-US" altLang="zh-TW" sz="2000" dirty="0">
                <a:sym typeface="Symbol" pitchFamily="18" charset="2"/>
              </a:rPr>
              <a:t></a:t>
            </a:r>
            <a:r>
              <a:rPr lang="en-US" altLang="zh-TW" sz="2000" dirty="0"/>
              <a:t>1</a:t>
            </a:r>
            <a:r>
              <a:rPr lang="en-US" altLang="zh-TW" sz="2000" baseline="30000" dirty="0"/>
              <a:t>280</a:t>
            </a:r>
            <a:r>
              <a:rPr lang="en-US" altLang="zh-TW" sz="2000" dirty="0"/>
              <a:t> = </a:t>
            </a:r>
            <a:r>
              <a:rPr lang="en-US" altLang="zh-TW" sz="2000" i="1" dirty="0"/>
              <a:t>a</a:t>
            </a:r>
            <a:r>
              <a:rPr lang="en-US" altLang="zh-TW" sz="2000" dirty="0"/>
              <a:t>  </a:t>
            </a:r>
            <a:r>
              <a:rPr lang="en-US" altLang="zh-TW" sz="1800" dirty="0"/>
              <a:t>(mod 3)</a:t>
            </a:r>
            <a:r>
              <a:rPr lang="en-US" altLang="zh-TW" sz="2000" dirty="0"/>
              <a:t>  if 3</a:t>
            </a:r>
            <a:r>
              <a:rPr lang="en-US" altLang="zh-TW" sz="2000" baseline="-25000" dirty="0"/>
              <a:t> </a:t>
            </a:r>
            <a:r>
              <a:rPr lang="en-US" altLang="zh-TW" sz="2000" dirty="0">
                <a:sym typeface="Symbol" pitchFamily="18" charset="2"/>
              </a:rPr>
              <a:t></a:t>
            </a:r>
            <a:r>
              <a:rPr lang="en-US" altLang="zh-TW" sz="2000" baseline="-25000" dirty="0">
                <a:sym typeface="Symbol" pitchFamily="18" charset="2"/>
              </a:rPr>
              <a:t> </a:t>
            </a:r>
            <a:r>
              <a:rPr lang="en-US" altLang="zh-TW" sz="2000" i="1" dirty="0"/>
              <a:t>a</a:t>
            </a:r>
            <a:endParaRPr lang="en-US" altLang="zh-TW" sz="2000" dirty="0"/>
          </a:p>
          <a:p>
            <a:pPr>
              <a:buFont typeface="Wingdings" pitchFamily="2" charset="2"/>
              <a:buNone/>
            </a:pPr>
            <a:r>
              <a:rPr lang="en-US" altLang="zh-TW" sz="2000" i="1" dirty="0"/>
              <a:t>	a</a:t>
            </a:r>
            <a:r>
              <a:rPr lang="en-US" altLang="zh-TW" sz="2000" baseline="30000" dirty="0"/>
              <a:t>561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Symbol" pitchFamily="18" charset="2"/>
              </a:rPr>
              <a:t></a:t>
            </a:r>
            <a:r>
              <a:rPr lang="en-US" altLang="zh-TW" sz="2000" dirty="0"/>
              <a:t> </a:t>
            </a:r>
            <a:r>
              <a:rPr lang="en-US" altLang="zh-TW" sz="2000" i="1" dirty="0"/>
              <a:t>a</a:t>
            </a:r>
            <a:r>
              <a:rPr lang="en-US" altLang="zh-TW" sz="2000" dirty="0"/>
              <a:t> </a:t>
            </a:r>
            <a:r>
              <a:rPr lang="en-US" altLang="zh-TW" sz="1800" dirty="0"/>
              <a:t>(mod 11)</a:t>
            </a:r>
            <a:r>
              <a:rPr lang="en-US" altLang="zh-TW" sz="2000" dirty="0"/>
              <a:t> if 11|</a:t>
            </a:r>
            <a:r>
              <a:rPr lang="en-US" altLang="zh-TW" sz="2000" i="1" dirty="0"/>
              <a:t>a</a:t>
            </a:r>
            <a:r>
              <a:rPr lang="en-US" altLang="zh-TW" sz="2000" i="1" baseline="-25000" dirty="0"/>
              <a:t> </a:t>
            </a:r>
            <a:r>
              <a:rPr lang="en-US" altLang="zh-TW" sz="2000" dirty="0"/>
              <a:t>;  </a:t>
            </a:r>
            <a:r>
              <a:rPr lang="en-US" altLang="zh-TW" sz="2000" i="1" dirty="0"/>
              <a:t>a</a:t>
            </a:r>
            <a:r>
              <a:rPr lang="en-US" altLang="zh-TW" sz="2000" baseline="30000" dirty="0"/>
              <a:t>561</a:t>
            </a:r>
            <a:r>
              <a:rPr lang="en-US" altLang="zh-TW" sz="2000" dirty="0"/>
              <a:t> = </a:t>
            </a:r>
            <a:r>
              <a:rPr lang="en-US" altLang="zh-TW" sz="2000" i="1" dirty="0"/>
              <a:t>a</a:t>
            </a:r>
            <a:r>
              <a:rPr lang="en-US" altLang="zh-TW" sz="2000" dirty="0"/>
              <a:t>(</a:t>
            </a:r>
            <a:r>
              <a:rPr lang="en-US" altLang="zh-TW" sz="2000" i="1" dirty="0"/>
              <a:t>a</a:t>
            </a:r>
            <a:r>
              <a:rPr lang="en-US" altLang="zh-TW" sz="2000" baseline="30000" dirty="0"/>
              <a:t>10</a:t>
            </a:r>
            <a:r>
              <a:rPr lang="en-US" altLang="zh-TW" sz="2000" dirty="0"/>
              <a:t>)</a:t>
            </a:r>
            <a:r>
              <a:rPr lang="en-US" altLang="zh-TW" sz="2000" baseline="30000" dirty="0"/>
              <a:t>56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Symbol" pitchFamily="18" charset="2"/>
              </a:rPr>
              <a:t></a:t>
            </a:r>
            <a:r>
              <a:rPr lang="en-US" altLang="zh-TW" sz="2000" dirty="0"/>
              <a:t> </a:t>
            </a:r>
            <a:r>
              <a:rPr lang="en-US" altLang="zh-TW" sz="2000" i="1" dirty="0"/>
              <a:t>a</a:t>
            </a:r>
            <a:r>
              <a:rPr lang="en-US" altLang="zh-TW" sz="2000" i="1" baseline="-25000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ym typeface="Symbol" pitchFamily="18" charset="2"/>
              </a:rPr>
              <a:t></a:t>
            </a:r>
            <a:r>
              <a:rPr lang="en-US" altLang="zh-TW" sz="2000" dirty="0"/>
              <a:t>1</a:t>
            </a:r>
            <a:r>
              <a:rPr lang="en-US" altLang="zh-TW" sz="2000" baseline="30000" dirty="0"/>
              <a:t>56</a:t>
            </a:r>
            <a:r>
              <a:rPr lang="en-US" altLang="zh-TW" sz="2000" dirty="0"/>
              <a:t> = </a:t>
            </a:r>
            <a:r>
              <a:rPr lang="en-US" altLang="zh-TW" sz="2000" i="1" dirty="0"/>
              <a:t>a</a:t>
            </a:r>
            <a:r>
              <a:rPr lang="en-US" altLang="zh-TW" sz="2000" dirty="0"/>
              <a:t> </a:t>
            </a:r>
            <a:r>
              <a:rPr lang="en-US" altLang="zh-TW" sz="1800" dirty="0"/>
              <a:t>(mod 11)</a:t>
            </a:r>
            <a:r>
              <a:rPr lang="en-US" altLang="zh-TW" sz="2000" dirty="0"/>
              <a:t> if 11</a:t>
            </a:r>
            <a:r>
              <a:rPr lang="en-US" altLang="zh-TW" sz="2000" baseline="-25000" dirty="0"/>
              <a:t> </a:t>
            </a:r>
            <a:r>
              <a:rPr lang="en-US" altLang="zh-TW" sz="2000" dirty="0">
                <a:sym typeface="Symbol" pitchFamily="18" charset="2"/>
              </a:rPr>
              <a:t></a:t>
            </a:r>
            <a:r>
              <a:rPr lang="en-US" altLang="zh-TW" sz="2000" baseline="-25000" dirty="0">
                <a:sym typeface="Symbol" pitchFamily="18" charset="2"/>
              </a:rPr>
              <a:t> </a:t>
            </a:r>
            <a:r>
              <a:rPr lang="en-US" altLang="zh-TW" sz="2000" i="1" dirty="0"/>
              <a:t>a</a:t>
            </a:r>
            <a:endParaRPr lang="en-US" altLang="zh-TW" sz="2000" dirty="0"/>
          </a:p>
          <a:p>
            <a:pPr>
              <a:buFont typeface="Wingdings" pitchFamily="2" charset="2"/>
              <a:buNone/>
            </a:pPr>
            <a:r>
              <a:rPr lang="en-US" altLang="zh-TW" sz="2000" i="1" dirty="0"/>
              <a:t>	a</a:t>
            </a:r>
            <a:r>
              <a:rPr lang="en-US" altLang="zh-TW" sz="2000" baseline="30000" dirty="0"/>
              <a:t>561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Symbol" pitchFamily="18" charset="2"/>
              </a:rPr>
              <a:t></a:t>
            </a:r>
            <a:r>
              <a:rPr lang="en-US" altLang="zh-TW" sz="2000" dirty="0"/>
              <a:t> </a:t>
            </a:r>
            <a:r>
              <a:rPr lang="en-US" altLang="zh-TW" sz="2000" i="1" dirty="0"/>
              <a:t>a</a:t>
            </a:r>
            <a:r>
              <a:rPr lang="en-US" altLang="zh-TW" sz="2000" dirty="0"/>
              <a:t> </a:t>
            </a:r>
            <a:r>
              <a:rPr lang="en-US" altLang="zh-TW" sz="1800" dirty="0"/>
              <a:t>(mod 17)</a:t>
            </a:r>
            <a:r>
              <a:rPr lang="en-US" altLang="zh-TW" sz="2000" dirty="0"/>
              <a:t> if 17|</a:t>
            </a:r>
            <a:r>
              <a:rPr lang="en-US" altLang="zh-TW" sz="2000" i="1" dirty="0"/>
              <a:t>a</a:t>
            </a:r>
            <a:r>
              <a:rPr lang="en-US" altLang="zh-TW" sz="2000" i="1" baseline="-25000" dirty="0"/>
              <a:t> </a:t>
            </a:r>
            <a:r>
              <a:rPr lang="en-US" altLang="zh-TW" sz="2000" dirty="0"/>
              <a:t>;  </a:t>
            </a:r>
            <a:r>
              <a:rPr lang="en-US" altLang="zh-TW" sz="2000" i="1" dirty="0"/>
              <a:t>a</a:t>
            </a:r>
            <a:r>
              <a:rPr lang="en-US" altLang="zh-TW" sz="2000" baseline="30000" dirty="0"/>
              <a:t>561</a:t>
            </a:r>
            <a:r>
              <a:rPr lang="en-US" altLang="zh-TW" sz="2000" dirty="0"/>
              <a:t> = </a:t>
            </a:r>
            <a:r>
              <a:rPr lang="en-US" altLang="zh-TW" sz="2000" i="1" dirty="0"/>
              <a:t>a</a:t>
            </a:r>
            <a:r>
              <a:rPr lang="en-US" altLang="zh-TW" sz="2000" dirty="0"/>
              <a:t>(</a:t>
            </a:r>
            <a:r>
              <a:rPr lang="en-US" altLang="zh-TW" sz="2000" i="1" dirty="0"/>
              <a:t>a</a:t>
            </a:r>
            <a:r>
              <a:rPr lang="en-US" altLang="zh-TW" sz="2000" baseline="30000" dirty="0"/>
              <a:t>16</a:t>
            </a:r>
            <a:r>
              <a:rPr lang="en-US" altLang="zh-TW" sz="2000" dirty="0"/>
              <a:t>)</a:t>
            </a:r>
            <a:r>
              <a:rPr lang="en-US" altLang="zh-TW" sz="2000" baseline="30000" dirty="0"/>
              <a:t>35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Symbol" pitchFamily="18" charset="2"/>
              </a:rPr>
              <a:t></a:t>
            </a:r>
            <a:r>
              <a:rPr lang="en-US" altLang="zh-TW" sz="2000" dirty="0"/>
              <a:t> </a:t>
            </a:r>
            <a:r>
              <a:rPr lang="en-US" altLang="zh-TW" sz="2000" i="1" dirty="0"/>
              <a:t>a</a:t>
            </a:r>
            <a:r>
              <a:rPr lang="en-US" altLang="zh-TW" sz="2000" i="1" baseline="-25000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ym typeface="Symbol" pitchFamily="18" charset="2"/>
              </a:rPr>
              <a:t></a:t>
            </a:r>
            <a:r>
              <a:rPr lang="en-US" altLang="zh-TW" sz="2000" dirty="0"/>
              <a:t>1</a:t>
            </a:r>
            <a:r>
              <a:rPr lang="en-US" altLang="zh-TW" sz="2000" baseline="30000" dirty="0"/>
              <a:t>35</a:t>
            </a:r>
            <a:r>
              <a:rPr lang="en-US" altLang="zh-TW" sz="2000" dirty="0"/>
              <a:t> = </a:t>
            </a:r>
            <a:r>
              <a:rPr lang="en-US" altLang="zh-TW" sz="2000" i="1" dirty="0"/>
              <a:t>a</a:t>
            </a:r>
            <a:r>
              <a:rPr lang="en-US" altLang="zh-TW" sz="2000" dirty="0"/>
              <a:t> </a:t>
            </a:r>
            <a:r>
              <a:rPr lang="en-US" altLang="zh-TW" sz="1800" dirty="0"/>
              <a:t>(mod 17)</a:t>
            </a:r>
            <a:r>
              <a:rPr lang="en-US" altLang="zh-TW" sz="2000" dirty="0"/>
              <a:t> if 17</a:t>
            </a:r>
            <a:r>
              <a:rPr lang="en-US" altLang="zh-TW" sz="2000" baseline="-25000" dirty="0"/>
              <a:t> </a:t>
            </a:r>
            <a:r>
              <a:rPr lang="en-US" altLang="zh-TW" sz="2000" dirty="0">
                <a:sym typeface="Symbol" pitchFamily="18" charset="2"/>
              </a:rPr>
              <a:t></a:t>
            </a:r>
            <a:r>
              <a:rPr lang="en-US" altLang="zh-TW" sz="2000" baseline="-25000" dirty="0">
                <a:sym typeface="Symbol" pitchFamily="18" charset="2"/>
              </a:rPr>
              <a:t> </a:t>
            </a:r>
            <a:r>
              <a:rPr lang="en-US" altLang="zh-TW" sz="2000" i="1" dirty="0"/>
              <a:t>a</a:t>
            </a:r>
            <a:endParaRPr lang="en-US" altLang="zh-TW" sz="2000" dirty="0"/>
          </a:p>
          <a:p>
            <a:pPr>
              <a:buFont typeface="Wingdings" pitchFamily="2" charset="2"/>
              <a:buNone/>
            </a:pPr>
            <a:r>
              <a:rPr lang="en-US" altLang="zh-TW" sz="2000" dirty="0"/>
              <a:t>	By Chinese Remainder Theorem, </a:t>
            </a:r>
            <a:r>
              <a:rPr lang="en-US" altLang="zh-TW" sz="2000" i="1" dirty="0"/>
              <a:t>a</a:t>
            </a:r>
            <a:r>
              <a:rPr lang="en-US" altLang="zh-TW" sz="2000" i="1" baseline="30000" dirty="0"/>
              <a:t> </a:t>
            </a:r>
            <a:r>
              <a:rPr lang="en-US" altLang="zh-TW" sz="2000" baseline="30000" dirty="0"/>
              <a:t>561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Symbol" pitchFamily="18" charset="2"/>
              </a:rPr>
              <a:t> </a:t>
            </a:r>
            <a:r>
              <a:rPr lang="en-US" altLang="zh-TW" sz="2000" i="1" dirty="0"/>
              <a:t>a</a:t>
            </a:r>
            <a:r>
              <a:rPr lang="en-US" altLang="zh-TW" sz="2000" dirty="0"/>
              <a:t> (mod 561) for every </a:t>
            </a:r>
            <a:r>
              <a:rPr lang="en-US" altLang="zh-TW" sz="2000" i="1" dirty="0"/>
              <a:t>a</a:t>
            </a:r>
            <a:r>
              <a:rPr lang="en-US" altLang="zh-TW" sz="2000" baseline="-25000" dirty="0"/>
              <a:t> </a:t>
            </a:r>
            <a:r>
              <a:rPr lang="en-US" altLang="zh-TW" sz="2000" dirty="0">
                <a:sym typeface="Symbol" pitchFamily="18" charset="2"/>
              </a:rPr>
              <a:t></a:t>
            </a:r>
            <a:r>
              <a:rPr lang="en-US" altLang="zh-TW" sz="2000" baseline="-25000" dirty="0">
                <a:sym typeface="Symbol" pitchFamily="18" charset="2"/>
              </a:rPr>
              <a:t> </a:t>
            </a:r>
            <a:r>
              <a:rPr lang="en-US" altLang="zh-TW" sz="2000" b="1" i="1" dirty="0"/>
              <a:t>Z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charRg st="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9507">
                                            <p:txEl>
                                              <p:charRg st="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9507">
                                            <p:txEl>
                                              <p:charRg st="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9507">
                                            <p:txEl>
                                              <p:charRg st="0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charRg st="96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9507">
                                            <p:txEl>
                                              <p:charRg st="96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9507">
                                            <p:txEl>
                                              <p:charRg st="96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9507">
                                            <p:txEl>
                                              <p:charRg st="96" end="1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9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9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9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9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9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49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投影片編號版面配置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59318831-36FD-47B2-9901-065AD5F04E7C}" type="slidenum">
              <a:rPr kumimoji="0" lang="en-US" altLang="zh-TW" smtClean="0"/>
              <a:pPr eaLnBrk="1" hangingPunct="1"/>
              <a:t>47</a:t>
            </a:fld>
            <a:endParaRPr kumimoji="0" lang="en-US" altLang="zh-TW"/>
          </a:p>
        </p:txBody>
      </p:sp>
      <p:sp>
        <p:nvSpPr>
          <p:cNvPr id="50181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/>
              <a:t>Leonhard Euler</a:t>
            </a: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362950" cy="4411662"/>
          </a:xfrm>
        </p:spPr>
        <p:txBody>
          <a:bodyPr/>
          <a:lstStyle/>
          <a:p>
            <a:r>
              <a:rPr lang="en-US" altLang="zh-TW" b="1" dirty="0"/>
              <a:t>Leonhard Euler</a:t>
            </a:r>
            <a:r>
              <a:rPr lang="en-US" altLang="zh-TW" dirty="0"/>
              <a:t> (1707</a:t>
            </a:r>
            <a:r>
              <a:rPr lang="en-US" altLang="zh-TW" sz="1200" baseline="-25000" dirty="0"/>
              <a:t> </a:t>
            </a:r>
            <a:r>
              <a:rPr lang="en-US" altLang="zh-TW" dirty="0">
                <a:sym typeface="Symbol"/>
              </a:rPr>
              <a:t></a:t>
            </a:r>
            <a:r>
              <a:rPr lang="en-US" altLang="zh-TW" sz="1200" baseline="-25000" dirty="0"/>
              <a:t> </a:t>
            </a:r>
            <a:r>
              <a:rPr lang="en-US" altLang="zh-TW" dirty="0"/>
              <a:t>1783)</a:t>
            </a:r>
          </a:p>
          <a:p>
            <a:pPr lvl="1"/>
            <a:r>
              <a:rPr lang="en-US" altLang="zh-TW" dirty="0"/>
              <a:t>Swiss mathematician and physicist</a:t>
            </a:r>
          </a:p>
          <a:p>
            <a:pPr lvl="1"/>
            <a:r>
              <a:rPr lang="en-US" altLang="zh-TW" dirty="0"/>
              <a:t>Made important discoveries in fields                     as diverse as </a:t>
            </a:r>
            <a:r>
              <a:rPr lang="en-US" altLang="zh-TW" i="1" dirty="0"/>
              <a:t>calculus</a:t>
            </a:r>
            <a:r>
              <a:rPr lang="en-US" altLang="zh-TW" dirty="0"/>
              <a:t>, </a:t>
            </a:r>
            <a:r>
              <a:rPr lang="en-US" altLang="zh-TW" i="1" dirty="0"/>
              <a:t>number theory</a:t>
            </a:r>
            <a:r>
              <a:rPr lang="en-US" altLang="zh-TW" dirty="0"/>
              <a:t>                and </a:t>
            </a:r>
            <a:r>
              <a:rPr lang="en-US" altLang="zh-TW" i="1" dirty="0"/>
              <a:t>topology</a:t>
            </a:r>
            <a:r>
              <a:rPr lang="en-US" altLang="zh-TW" dirty="0"/>
              <a:t>, and introduced much of                 the modern mathematical terminology and notation</a:t>
            </a:r>
          </a:p>
          <a:p>
            <a:pPr lvl="1"/>
            <a:r>
              <a:rPr lang="en-US" altLang="zh-TW" dirty="0"/>
              <a:t>Also renowned for his work in mechanics, optics and astronomy</a:t>
            </a:r>
          </a:p>
          <a:p>
            <a:pPr lvl="1"/>
            <a:r>
              <a:rPr lang="en-US" altLang="zh-TW" dirty="0"/>
              <a:t>Considered to be the preeminent mathematician of the 18th century and one of the greatest of all time</a:t>
            </a:r>
          </a:p>
        </p:txBody>
      </p:sp>
      <p:pic>
        <p:nvPicPr>
          <p:cNvPr id="179207" name="Picture 7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19925" y="1916113"/>
            <a:ext cx="1617663" cy="19431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7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9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9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9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9933A3D5-6680-4BA1-ADC1-3CED715F0F36}" type="slidenum">
              <a:rPr kumimoji="0" lang="en-US" altLang="zh-TW" smtClean="0"/>
              <a:pPr eaLnBrk="1" hangingPunct="1"/>
              <a:t>48</a:t>
            </a:fld>
            <a:endParaRPr kumimoji="0" lang="en-US" altLang="zh-TW"/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/>
              <a:t>Complete Residue System</a:t>
            </a: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507413" cy="4411662"/>
          </a:xfrm>
        </p:spPr>
        <p:txBody>
          <a:bodyPr/>
          <a:lstStyle/>
          <a:p>
            <a:pPr marL="495300" indent="-495300">
              <a:defRPr/>
            </a:pPr>
            <a:r>
              <a:rPr lang="en-US" altLang="zh-TW" b="1" u="sng" dirty="0"/>
              <a:t>Definition</a:t>
            </a:r>
            <a:r>
              <a:rPr lang="en-US" altLang="zh-TW" dirty="0"/>
              <a:t>  </a:t>
            </a:r>
            <a:r>
              <a:rPr lang="en-US" altLang="zh-TW" sz="2800" dirty="0"/>
              <a:t>A set </a:t>
            </a:r>
            <a:r>
              <a:rPr lang="en-US" altLang="zh-TW" sz="2800" i="1" dirty="0"/>
              <a:t>C</a:t>
            </a:r>
            <a:r>
              <a:rPr lang="en-US" altLang="zh-TW" sz="2800" baseline="-25000" dirty="0"/>
              <a:t> </a:t>
            </a:r>
            <a:r>
              <a:rPr lang="en-US" altLang="zh-TW" sz="2800" dirty="0">
                <a:sym typeface="Symbol" pitchFamily="18" charset="2"/>
              </a:rPr>
              <a:t> </a:t>
            </a:r>
            <a:r>
              <a:rPr lang="en-US" altLang="zh-TW" sz="2800" b="1" i="1" dirty="0">
                <a:sym typeface="Symbol" pitchFamily="18" charset="2"/>
              </a:rPr>
              <a:t>Z</a:t>
            </a:r>
            <a:r>
              <a:rPr lang="en-US" altLang="zh-TW" sz="2800" i="1" baseline="-25000" dirty="0">
                <a:sym typeface="Symbol" pitchFamily="18" charset="2"/>
              </a:rPr>
              <a:t>  </a:t>
            </a:r>
            <a:r>
              <a:rPr lang="en-US" altLang="zh-TW" sz="2800" dirty="0">
                <a:sym typeface="Symbol" pitchFamily="18" charset="2"/>
              </a:rPr>
              <a:t>is a </a:t>
            </a:r>
            <a:r>
              <a:rPr lang="en-US" altLang="zh-TW" sz="2800" b="1" dirty="0">
                <a:solidFill>
                  <a:srgbClr val="9900CC"/>
                </a:solidFill>
                <a:sym typeface="Symbol" pitchFamily="18" charset="2"/>
              </a:rPr>
              <a:t>complete residue system</a:t>
            </a:r>
            <a:r>
              <a:rPr lang="en-US" altLang="zh-TW" sz="2800" dirty="0">
                <a:sym typeface="Symbol" pitchFamily="18" charset="2"/>
              </a:rPr>
              <a:t> modulo </a:t>
            </a:r>
            <a:r>
              <a:rPr lang="en-US" altLang="zh-TW" sz="2800" i="1" dirty="0">
                <a:sym typeface="Symbol" pitchFamily="18" charset="2"/>
              </a:rPr>
              <a:t>m</a:t>
            </a:r>
            <a:r>
              <a:rPr lang="en-US" altLang="zh-TW" sz="2800" dirty="0">
                <a:sym typeface="Symbol" pitchFamily="18" charset="2"/>
              </a:rPr>
              <a:t> if the following are satisfied</a:t>
            </a:r>
          </a:p>
          <a:p>
            <a:pPr marL="763588" lvl="1" indent="-419100">
              <a:lnSpc>
                <a:spcPct val="90000"/>
              </a:lnSpc>
              <a:buFont typeface="Wingdings" pitchFamily="2" charset="2"/>
              <a:buAutoNum type="arabicParenR"/>
              <a:defRPr/>
            </a:pPr>
            <a:r>
              <a:rPr lang="en-US" altLang="zh-TW" dirty="0">
                <a:sym typeface="Symbol" pitchFamily="18" charset="2"/>
              </a:rPr>
              <a:t>If  </a:t>
            </a:r>
            <a:r>
              <a:rPr lang="en-US" altLang="zh-TW" i="1" dirty="0"/>
              <a:t>a</a:t>
            </a:r>
            <a:r>
              <a:rPr lang="en-US" altLang="zh-TW" baseline="-25000" dirty="0"/>
              <a:t> </a:t>
            </a:r>
            <a:r>
              <a:rPr lang="en-US" altLang="zh-TW" dirty="0">
                <a:sym typeface="Symbol" pitchFamily="18" charset="2"/>
              </a:rPr>
              <a:t>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b="1" i="1" dirty="0">
                <a:sym typeface="Symbol" pitchFamily="18" charset="2"/>
              </a:rPr>
              <a:t>Z</a:t>
            </a:r>
            <a:r>
              <a:rPr lang="en-US" altLang="zh-TW" dirty="0">
                <a:sym typeface="Symbol" pitchFamily="18" charset="2"/>
              </a:rPr>
              <a:t>,  then</a:t>
            </a:r>
            <a:r>
              <a:rPr lang="en-US" altLang="zh-TW" b="1" i="1" dirty="0">
                <a:sym typeface="Symbol" pitchFamily="18" charset="2"/>
              </a:rPr>
              <a:t>  </a:t>
            </a:r>
            <a:r>
              <a:rPr lang="en-US" altLang="zh-TW" i="1" dirty="0">
                <a:sym typeface="Symbol" pitchFamily="18" charset="2"/>
              </a:rPr>
              <a:t>a</a:t>
            </a:r>
            <a:r>
              <a:rPr lang="en-US" altLang="zh-TW" dirty="0">
                <a:sym typeface="Symbol" pitchFamily="18" charset="2"/>
              </a:rPr>
              <a:t>  </a:t>
            </a:r>
            <a:r>
              <a:rPr lang="en-US" altLang="zh-TW" i="1" dirty="0">
                <a:sym typeface="Symbol" pitchFamily="18" charset="2"/>
              </a:rPr>
              <a:t>c</a:t>
            </a:r>
            <a:r>
              <a:rPr lang="en-US" altLang="zh-TW" dirty="0">
                <a:sym typeface="Symbol" pitchFamily="18" charset="2"/>
              </a:rPr>
              <a:t> (mod </a:t>
            </a:r>
            <a:r>
              <a:rPr lang="en-US" altLang="zh-TW" i="1" dirty="0">
                <a:sym typeface="Symbol" pitchFamily="18" charset="2"/>
              </a:rPr>
              <a:t>m</a:t>
            </a:r>
            <a:r>
              <a:rPr lang="en-US" altLang="zh-TW" dirty="0">
                <a:sym typeface="Symbol" pitchFamily="18" charset="2"/>
              </a:rPr>
              <a:t>)  for some  </a:t>
            </a:r>
            <a:r>
              <a:rPr lang="en-US" altLang="zh-TW" i="1" dirty="0">
                <a:sym typeface="Symbol" pitchFamily="18" charset="2"/>
              </a:rPr>
              <a:t>c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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C </a:t>
            </a:r>
          </a:p>
          <a:p>
            <a:pPr marL="763588" lvl="1" indent="-419100">
              <a:lnSpc>
                <a:spcPct val="90000"/>
              </a:lnSpc>
              <a:buFont typeface="Wingdings" pitchFamily="2" charset="2"/>
              <a:buAutoNum type="arabicParenR"/>
              <a:defRPr/>
            </a:pPr>
            <a:r>
              <a:rPr lang="en-US" altLang="zh-TW" dirty="0">
                <a:sym typeface="Symbol" pitchFamily="18" charset="2"/>
              </a:rPr>
              <a:t>If  </a:t>
            </a:r>
            <a:r>
              <a:rPr lang="en-US" altLang="zh-TW" i="1" dirty="0">
                <a:sym typeface="Symbol" pitchFamily="18" charset="2"/>
              </a:rPr>
              <a:t>c</a:t>
            </a:r>
            <a:r>
              <a:rPr lang="en-US" altLang="zh-TW" dirty="0">
                <a:sym typeface="Symbol" pitchFamily="18" charset="2"/>
              </a:rPr>
              <a:t>  </a:t>
            </a:r>
            <a:r>
              <a:rPr lang="en-US" altLang="zh-TW" i="1" dirty="0">
                <a:sym typeface="Symbol" pitchFamily="18" charset="2"/>
              </a:rPr>
              <a:t>d</a:t>
            </a:r>
            <a:r>
              <a:rPr lang="en-US" altLang="zh-TW" dirty="0">
                <a:sym typeface="Symbol" pitchFamily="18" charset="2"/>
              </a:rPr>
              <a:t> (mod </a:t>
            </a:r>
            <a:r>
              <a:rPr lang="en-US" altLang="zh-TW" i="1" dirty="0">
                <a:sym typeface="Symbol" pitchFamily="18" charset="2"/>
              </a:rPr>
              <a:t>m</a:t>
            </a:r>
            <a:r>
              <a:rPr lang="en-US" altLang="zh-TW" dirty="0">
                <a:sym typeface="Symbol" pitchFamily="18" charset="2"/>
              </a:rPr>
              <a:t>)  for  </a:t>
            </a:r>
            <a:r>
              <a:rPr lang="en-US" altLang="zh-TW" i="1" dirty="0">
                <a:sym typeface="Symbol" pitchFamily="18" charset="2"/>
              </a:rPr>
              <a:t>c</a:t>
            </a:r>
            <a:r>
              <a:rPr lang="en-US" altLang="zh-TW" dirty="0">
                <a:sym typeface="Symbol" pitchFamily="18" charset="2"/>
              </a:rPr>
              <a:t>, </a:t>
            </a:r>
            <a:r>
              <a:rPr lang="en-US" altLang="zh-TW" i="1" dirty="0">
                <a:sym typeface="Symbol" pitchFamily="18" charset="2"/>
              </a:rPr>
              <a:t>d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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C</a:t>
            </a:r>
            <a:r>
              <a:rPr lang="en-US" altLang="zh-TW" dirty="0">
                <a:sym typeface="Symbol" pitchFamily="18" charset="2"/>
              </a:rPr>
              <a:t>  then</a:t>
            </a:r>
            <a:r>
              <a:rPr lang="en-US" altLang="zh-TW" i="1" dirty="0">
                <a:sym typeface="Symbol" pitchFamily="18" charset="2"/>
              </a:rPr>
              <a:t>  c = d</a:t>
            </a:r>
          </a:p>
          <a:p>
            <a:pPr marL="495300" indent="-495300">
              <a:lnSpc>
                <a:spcPct val="90000"/>
              </a:lnSpc>
              <a:defRPr/>
            </a:pPr>
            <a:r>
              <a:rPr lang="en-US" altLang="zh-TW" b="1" u="sng" dirty="0">
                <a:sym typeface="Symbol" pitchFamily="18" charset="2"/>
              </a:rPr>
              <a:t>Remark</a:t>
            </a:r>
            <a:r>
              <a:rPr lang="en-US" altLang="zh-TW" sz="2100" dirty="0">
                <a:solidFill>
                  <a:schemeClr val="hlink"/>
                </a:solidFill>
                <a:sym typeface="Symbol" pitchFamily="18" charset="2"/>
              </a:rPr>
              <a:t>  </a:t>
            </a:r>
            <a:r>
              <a:rPr lang="en-US" altLang="zh-TW" sz="2400" dirty="0">
                <a:solidFill>
                  <a:schemeClr val="hlink"/>
                </a:solidFill>
                <a:sym typeface="Symbol" pitchFamily="18" charset="2"/>
              </a:rPr>
              <a:t>1)</a:t>
            </a:r>
            <a:r>
              <a:rPr lang="en-US" altLang="zh-TW" sz="2400" dirty="0">
                <a:sym typeface="Symbol" pitchFamily="18" charset="2"/>
              </a:rPr>
              <a:t> existence</a:t>
            </a:r>
            <a:r>
              <a:rPr lang="en-US" altLang="zh-TW" sz="2400" dirty="0">
                <a:solidFill>
                  <a:schemeClr val="hlink"/>
                </a:solidFill>
                <a:sym typeface="Symbol" pitchFamily="18" charset="2"/>
              </a:rPr>
              <a:t> 2) </a:t>
            </a:r>
            <a:r>
              <a:rPr lang="en-US" altLang="zh-TW" sz="2400" dirty="0">
                <a:sym typeface="Symbol" pitchFamily="18" charset="2"/>
              </a:rPr>
              <a:t>uniqueness of each entry in </a:t>
            </a:r>
            <a:r>
              <a:rPr lang="en-US" altLang="zh-TW" sz="2400" i="1" dirty="0">
                <a:sym typeface="Symbol" pitchFamily="18" charset="2"/>
              </a:rPr>
              <a:t>C</a:t>
            </a:r>
          </a:p>
          <a:p>
            <a:pPr marL="495300" indent="-495300">
              <a:defRPr/>
            </a:pPr>
            <a:r>
              <a:rPr lang="en-US" altLang="zh-TW" b="1" u="sng" dirty="0"/>
              <a:t>Example</a:t>
            </a:r>
            <a:r>
              <a:rPr lang="en-US" altLang="zh-TW" dirty="0"/>
              <a:t>  </a:t>
            </a:r>
            <a:r>
              <a:rPr lang="en-US" altLang="zh-TW" sz="2800" dirty="0"/>
              <a:t>Each of the following is a complete residue system modulo 7</a:t>
            </a:r>
          </a:p>
          <a:p>
            <a:pPr marL="763588" lvl="1" indent="-419100">
              <a:lnSpc>
                <a:spcPct val="90000"/>
              </a:lnSpc>
              <a:defRPr/>
            </a:pPr>
            <a:r>
              <a:rPr lang="en-US" altLang="zh-TW" sz="2400" dirty="0"/>
              <a:t>{0, 1, 2, 3, 4, 5, 6} </a:t>
            </a:r>
            <a:r>
              <a:rPr lang="en-US" altLang="zh-TW" sz="2400" dirty="0">
                <a:sym typeface="Symbol" pitchFamily="18" charset="2"/>
              </a:rPr>
              <a:t>:</a:t>
            </a:r>
            <a:r>
              <a:rPr lang="en-US" altLang="zh-TW" sz="2200" b="1" dirty="0">
                <a:solidFill>
                  <a:srgbClr val="9900CC"/>
                </a:solidFill>
                <a:cs typeface="+mn-cs"/>
                <a:sym typeface="Symbol" pitchFamily="18" charset="2"/>
              </a:rPr>
              <a:t> least non-negative residue system</a:t>
            </a:r>
          </a:p>
          <a:p>
            <a:pPr marL="763588" lvl="1" indent="-419100">
              <a:lnSpc>
                <a:spcPct val="90000"/>
              </a:lnSpc>
              <a:defRPr/>
            </a:pPr>
            <a:r>
              <a:rPr lang="en-US" altLang="zh-TW" sz="2400" dirty="0"/>
              <a:t>{-3, -2, -1, 0, 1, 2, 3}</a:t>
            </a:r>
          </a:p>
          <a:p>
            <a:pPr marL="763588" lvl="1" indent="-419100">
              <a:lnSpc>
                <a:spcPct val="90000"/>
              </a:lnSpc>
              <a:defRPr/>
            </a:pPr>
            <a:r>
              <a:rPr lang="en-US" altLang="zh-TW" sz="2400" dirty="0"/>
              <a:t>{-15, -10, -5, 1, 3, 5, 7}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7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7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7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79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79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79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D47DDE63-9F6C-4AF4-8873-3A500E674006}" type="slidenum">
              <a:rPr kumimoji="0" lang="en-US" altLang="zh-TW" smtClean="0"/>
              <a:pPr eaLnBrk="1" hangingPunct="1"/>
              <a:t>49</a:t>
            </a:fld>
            <a:endParaRPr kumimoji="0" lang="en-US" altLang="zh-TW"/>
          </a:p>
        </p:txBody>
      </p:sp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/>
              <a:t>Euler's Phi Function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/>
              <a:t>Definition</a:t>
            </a:r>
            <a:r>
              <a:rPr lang="en-US" altLang="zh-TW" dirty="0"/>
              <a:t>  The </a:t>
            </a:r>
            <a:r>
              <a:rPr lang="en-US" altLang="zh-TW" b="1" dirty="0"/>
              <a:t>Euler phi function</a:t>
            </a:r>
            <a:r>
              <a:rPr lang="en-US" altLang="zh-TW" dirty="0"/>
              <a:t> </a:t>
            </a:r>
            <a:r>
              <a:rPr lang="en-US" altLang="zh-TW" sz="2200" dirty="0"/>
              <a:t>(or Euler </a:t>
            </a:r>
            <a:r>
              <a:rPr lang="en-US" altLang="zh-TW" sz="2200" dirty="0" err="1"/>
              <a:t>totient</a:t>
            </a:r>
            <a:r>
              <a:rPr lang="en-US" altLang="zh-TW" sz="2200" dirty="0"/>
              <a:t> function)</a:t>
            </a:r>
            <a:r>
              <a:rPr lang="en-US" altLang="zh-TW" dirty="0"/>
              <a:t> is defined by</a:t>
            </a:r>
          </a:p>
          <a:p>
            <a:pPr algn="ctr">
              <a:buFont typeface="Wingdings" pitchFamily="2" charset="2"/>
              <a:buNone/>
            </a:pPr>
            <a:r>
              <a:rPr lang="en-US" altLang="zh-TW" i="1" dirty="0">
                <a:sym typeface="Symbol" pitchFamily="18" charset="2"/>
              </a:rPr>
              <a:t>	</a:t>
            </a:r>
            <a:r>
              <a:rPr lang="en-US" altLang="zh-TW" i="1" dirty="0">
                <a:sym typeface="Symbol"/>
              </a:rPr>
              <a:t></a:t>
            </a:r>
            <a:r>
              <a:rPr lang="en-US" altLang="zh-TW" i="1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(</a:t>
            </a:r>
            <a:r>
              <a:rPr lang="en-US" altLang="zh-TW" i="1" dirty="0">
                <a:sym typeface="Symbol" pitchFamily="18" charset="2"/>
              </a:rPr>
              <a:t>n</a:t>
            </a:r>
            <a:r>
              <a:rPr lang="en-US" altLang="zh-TW" dirty="0">
                <a:sym typeface="Symbol" pitchFamily="18" charset="2"/>
              </a:rPr>
              <a:t>) = |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{ </a:t>
            </a:r>
            <a:r>
              <a:rPr lang="en-US" altLang="zh-TW" i="1" dirty="0">
                <a:sym typeface="Symbol" pitchFamily="18" charset="2"/>
              </a:rPr>
              <a:t>x</a:t>
            </a:r>
            <a:r>
              <a:rPr lang="en-US" altLang="zh-TW" dirty="0">
                <a:sym typeface="Symbol" pitchFamily="18" charset="2"/>
              </a:rPr>
              <a:t> | 1  </a:t>
            </a:r>
            <a:r>
              <a:rPr lang="en-US" altLang="zh-TW" i="1" dirty="0">
                <a:sym typeface="Symbol" pitchFamily="18" charset="2"/>
              </a:rPr>
              <a:t>x</a:t>
            </a:r>
            <a:r>
              <a:rPr lang="en-US" altLang="zh-TW" dirty="0">
                <a:sym typeface="Symbol" pitchFamily="18" charset="2"/>
              </a:rPr>
              <a:t>  </a:t>
            </a:r>
            <a:r>
              <a:rPr lang="en-US" altLang="zh-TW" i="1" dirty="0">
                <a:sym typeface="Symbol" pitchFamily="18" charset="2"/>
              </a:rPr>
              <a:t>n</a:t>
            </a:r>
            <a:r>
              <a:rPr lang="en-US" altLang="zh-TW" dirty="0">
                <a:sym typeface="Symbol" pitchFamily="18" charset="2"/>
              </a:rPr>
              <a:t>, </a:t>
            </a:r>
            <a:r>
              <a:rPr lang="en-US" altLang="zh-TW" i="1" dirty="0">
                <a:sym typeface="Symbol" pitchFamily="18" charset="2"/>
              </a:rPr>
              <a:t>x </a:t>
            </a:r>
            <a:r>
              <a:rPr lang="en-US" altLang="zh-TW" dirty="0">
                <a:sym typeface="Symbol" pitchFamily="18" charset="2"/>
              </a:rPr>
              <a:t> </a:t>
            </a:r>
            <a:r>
              <a:rPr lang="en-US" altLang="zh-TW" i="1" dirty="0">
                <a:sym typeface="Symbol" pitchFamily="18" charset="2"/>
              </a:rPr>
              <a:t>n</a:t>
            </a:r>
            <a:r>
              <a:rPr lang="en-US" altLang="zh-TW" i="1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}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|</a:t>
            </a:r>
          </a:p>
          <a:p>
            <a:r>
              <a:rPr lang="en-US" altLang="zh-TW" b="1" dirty="0">
                <a:sym typeface="Symbol" pitchFamily="18" charset="2"/>
              </a:rPr>
              <a:t>Remark</a:t>
            </a:r>
            <a:r>
              <a:rPr lang="en-US" altLang="zh-TW" dirty="0">
                <a:sym typeface="Symbol" pitchFamily="18" charset="2"/>
              </a:rPr>
              <a:t>  </a:t>
            </a:r>
          </a:p>
          <a:p>
            <a:pPr lvl="1"/>
            <a:r>
              <a:rPr lang="en-US" altLang="zh-TW" dirty="0">
                <a:sym typeface="Symbol" pitchFamily="18" charset="2"/>
              </a:rPr>
              <a:t>|</a:t>
            </a:r>
            <a:r>
              <a:rPr lang="en-US" altLang="zh-TW" sz="600" baseline="-25000" dirty="0">
                <a:sym typeface="Symbol" pitchFamily="18" charset="2"/>
              </a:rPr>
              <a:t> </a:t>
            </a:r>
            <a:r>
              <a:rPr lang="en-US" altLang="zh-TW" b="1" i="1" dirty="0"/>
              <a:t>Z</a:t>
            </a:r>
            <a:r>
              <a:rPr lang="en-US" altLang="zh-TW" i="1" baseline="-25000" dirty="0"/>
              <a:t>n</a:t>
            </a:r>
            <a:r>
              <a:rPr lang="en-US" altLang="zh-TW" dirty="0"/>
              <a:t>*</a:t>
            </a:r>
            <a:r>
              <a:rPr lang="en-US" altLang="zh-TW" dirty="0">
                <a:sym typeface="Symbol" pitchFamily="18" charset="2"/>
              </a:rPr>
              <a:t>| = </a:t>
            </a:r>
            <a:r>
              <a:rPr lang="en-US" altLang="zh-TW" i="1" dirty="0">
                <a:sym typeface="Symbol" pitchFamily="18" charset="2"/>
              </a:rPr>
              <a:t></a:t>
            </a:r>
            <a:r>
              <a:rPr lang="en-US" altLang="zh-TW" sz="1600" i="1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(</a:t>
            </a:r>
            <a:r>
              <a:rPr lang="en-US" altLang="zh-TW" i="1" dirty="0">
                <a:sym typeface="Symbol" pitchFamily="18" charset="2"/>
              </a:rPr>
              <a:t>n</a:t>
            </a:r>
            <a:r>
              <a:rPr lang="en-US" altLang="zh-TW" dirty="0">
                <a:sym typeface="Symbol" pitchFamily="18" charset="2"/>
              </a:rPr>
              <a:t>) </a:t>
            </a:r>
          </a:p>
          <a:p>
            <a:pPr lvl="1"/>
            <a:r>
              <a:rPr lang="en-US" altLang="zh-TW" dirty="0">
                <a:sym typeface="Symbol" pitchFamily="18" charset="2"/>
              </a:rPr>
              <a:t>We will derive the following properties</a:t>
            </a:r>
          </a:p>
          <a:p>
            <a:pPr lvl="2"/>
            <a:r>
              <a:rPr lang="en-US" altLang="zh-TW" i="1" dirty="0">
                <a:sym typeface="Symbol" pitchFamily="18" charset="2"/>
              </a:rPr>
              <a:t></a:t>
            </a:r>
            <a:r>
              <a:rPr lang="en-US" altLang="zh-TW" sz="1200" i="1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(</a:t>
            </a:r>
            <a:r>
              <a:rPr lang="en-US" altLang="zh-TW" i="1" dirty="0">
                <a:sym typeface="Symbol" pitchFamily="18" charset="2"/>
              </a:rPr>
              <a:t>p</a:t>
            </a:r>
            <a:r>
              <a:rPr lang="en-US" altLang="zh-TW" dirty="0">
                <a:sym typeface="Symbol" pitchFamily="18" charset="2"/>
              </a:rPr>
              <a:t>) = </a:t>
            </a:r>
            <a:r>
              <a:rPr lang="en-US" altLang="zh-TW" i="1" dirty="0">
                <a:sym typeface="Symbol" pitchFamily="18" charset="2"/>
              </a:rPr>
              <a:t>p</a:t>
            </a:r>
            <a:r>
              <a:rPr lang="en-US" altLang="zh-TW" i="1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1 for every prime </a:t>
            </a:r>
            <a:r>
              <a:rPr lang="en-US" altLang="zh-TW" i="1" dirty="0">
                <a:sym typeface="Symbol" pitchFamily="18" charset="2"/>
              </a:rPr>
              <a:t>p</a:t>
            </a:r>
            <a:endParaRPr lang="en-US" altLang="zh-TW" dirty="0">
              <a:sym typeface="Symbol" pitchFamily="18" charset="2"/>
            </a:endParaRPr>
          </a:p>
          <a:p>
            <a:pPr lvl="2"/>
            <a:r>
              <a:rPr lang="en-US" altLang="zh-TW" i="1" dirty="0">
                <a:sym typeface="Symbol" pitchFamily="18" charset="2"/>
              </a:rPr>
              <a:t></a:t>
            </a:r>
            <a:r>
              <a:rPr lang="en-US" altLang="zh-TW" sz="1200" i="1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(</a:t>
            </a:r>
            <a:r>
              <a:rPr lang="en-US" altLang="zh-TW" i="1" dirty="0">
                <a:sym typeface="Symbol" pitchFamily="18" charset="2"/>
              </a:rPr>
              <a:t>p</a:t>
            </a:r>
            <a:r>
              <a:rPr lang="en-US" altLang="zh-TW" sz="800" baseline="-25000" dirty="0">
                <a:sym typeface="Symbol" pitchFamily="18" charset="2"/>
              </a:rPr>
              <a:t> </a:t>
            </a:r>
            <a:r>
              <a:rPr lang="en-US" altLang="zh-TW" i="1" baseline="30000" dirty="0">
                <a:sym typeface="Symbol" pitchFamily="18" charset="2"/>
              </a:rPr>
              <a:t>k</a:t>
            </a:r>
            <a:r>
              <a:rPr lang="en-US" altLang="zh-TW" dirty="0">
                <a:sym typeface="Symbol" pitchFamily="18" charset="2"/>
              </a:rPr>
              <a:t>) = </a:t>
            </a:r>
            <a:r>
              <a:rPr lang="en-US" altLang="zh-TW" i="1" dirty="0">
                <a:sym typeface="Symbol" pitchFamily="18" charset="2"/>
              </a:rPr>
              <a:t>p</a:t>
            </a:r>
            <a:r>
              <a:rPr lang="en-US" altLang="zh-TW" sz="800" i="1" baseline="30000" dirty="0">
                <a:sym typeface="Symbol" pitchFamily="18" charset="2"/>
              </a:rPr>
              <a:t> </a:t>
            </a:r>
            <a:r>
              <a:rPr lang="en-US" altLang="zh-TW" i="1" baseline="30000" dirty="0">
                <a:sym typeface="Symbol" pitchFamily="18" charset="2"/>
              </a:rPr>
              <a:t>k</a:t>
            </a:r>
            <a:r>
              <a:rPr lang="en-US" altLang="zh-TW" sz="1500" i="1" baseline="30000" dirty="0">
                <a:sym typeface="Symbol" pitchFamily="18" charset="2"/>
              </a:rPr>
              <a:t> </a:t>
            </a:r>
            <a:r>
              <a:rPr lang="en-US" altLang="zh-TW" baseline="30000" dirty="0">
                <a:sym typeface="Symbol" pitchFamily="18" charset="2"/>
              </a:rPr>
              <a:t>1</a:t>
            </a:r>
            <a:r>
              <a:rPr lang="en-US" altLang="zh-TW" sz="1200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(</a:t>
            </a:r>
            <a:r>
              <a:rPr lang="en-US" altLang="zh-TW" i="1" dirty="0">
                <a:sym typeface="Symbol" pitchFamily="18" charset="2"/>
              </a:rPr>
              <a:t>p </a:t>
            </a:r>
            <a:r>
              <a:rPr lang="en-US" altLang="zh-TW" dirty="0">
                <a:sym typeface="Symbol" pitchFamily="18" charset="2"/>
              </a:rPr>
              <a:t>1)</a:t>
            </a:r>
          </a:p>
          <a:p>
            <a:pPr lvl="2"/>
            <a:r>
              <a:rPr lang="en-US" altLang="zh-TW" i="1" dirty="0">
                <a:sym typeface="Symbol" pitchFamily="18" charset="2"/>
              </a:rPr>
              <a:t></a:t>
            </a:r>
            <a:r>
              <a:rPr lang="en-US" altLang="zh-TW" sz="1200" i="1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(</a:t>
            </a:r>
            <a:r>
              <a:rPr lang="en-US" altLang="zh-TW" i="1" dirty="0" err="1">
                <a:sym typeface="Symbol" pitchFamily="18" charset="2"/>
              </a:rPr>
              <a:t>mn</a:t>
            </a:r>
            <a:r>
              <a:rPr lang="en-US" altLang="zh-TW" dirty="0">
                <a:sym typeface="Symbol" pitchFamily="18" charset="2"/>
              </a:rPr>
              <a:t>) = </a:t>
            </a:r>
            <a:r>
              <a:rPr lang="en-US" altLang="zh-TW" i="1" dirty="0">
                <a:sym typeface="Symbol" pitchFamily="18" charset="2"/>
              </a:rPr>
              <a:t></a:t>
            </a:r>
            <a:r>
              <a:rPr lang="en-US" altLang="zh-TW" sz="12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(</a:t>
            </a:r>
            <a:r>
              <a:rPr lang="en-US" altLang="zh-TW" i="1" dirty="0">
                <a:sym typeface="Symbol" pitchFamily="18" charset="2"/>
              </a:rPr>
              <a:t>m</a:t>
            </a:r>
            <a:r>
              <a:rPr lang="en-US" altLang="zh-TW" dirty="0">
                <a:sym typeface="Symbol" pitchFamily="18" charset="2"/>
              </a:rPr>
              <a:t>)</a:t>
            </a:r>
            <a:r>
              <a:rPr lang="en-US" altLang="zh-TW" sz="1200" baseline="-25000" dirty="0">
                <a:sym typeface="Symbol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</a:t>
            </a:r>
            <a:r>
              <a:rPr lang="en-US" altLang="zh-TW" sz="12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(</a:t>
            </a:r>
            <a:r>
              <a:rPr lang="en-US" altLang="zh-TW" i="1" dirty="0">
                <a:sym typeface="Symbol" pitchFamily="18" charset="2"/>
              </a:rPr>
              <a:t>n</a:t>
            </a:r>
            <a:r>
              <a:rPr lang="en-US" altLang="zh-TW" dirty="0">
                <a:sym typeface="Symbol" pitchFamily="18" charset="2"/>
              </a:rPr>
              <a:t>)</a:t>
            </a:r>
            <a:r>
              <a:rPr lang="en-US" altLang="zh-TW" baseline="-25000" dirty="0">
                <a:sym typeface="Symbol" pitchFamily="18" charset="2"/>
              </a:rPr>
              <a:t>  </a:t>
            </a:r>
            <a:r>
              <a:rPr lang="en-US" altLang="zh-TW" dirty="0">
                <a:sym typeface="Symbol" pitchFamily="18" charset="2"/>
              </a:rPr>
              <a:t>for</a:t>
            </a:r>
            <a:r>
              <a:rPr lang="en-US" altLang="zh-TW" baseline="-25000" dirty="0">
                <a:sym typeface="Symbol" pitchFamily="18" charset="2"/>
              </a:rPr>
              <a:t>  </a:t>
            </a:r>
            <a:r>
              <a:rPr lang="en-US" altLang="zh-TW" i="1" dirty="0">
                <a:sym typeface="Symbol" pitchFamily="18" charset="2"/>
              </a:rPr>
              <a:t>m</a:t>
            </a:r>
            <a:r>
              <a:rPr lang="en-US" altLang="zh-TW" dirty="0">
                <a:sym typeface="Symbol" pitchFamily="18" charset="2"/>
              </a:rPr>
              <a:t>  </a:t>
            </a:r>
            <a:r>
              <a:rPr lang="en-US" altLang="zh-TW" i="1" dirty="0">
                <a:sym typeface="Symbol" pitchFamily="18" charset="2"/>
              </a:rPr>
              <a:t>n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3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3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3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8814EDB5-322A-4FC3-9F8E-14338A8F751D}" type="slidenum">
              <a:rPr kumimoji="0" lang="en-US" altLang="zh-TW" smtClean="0"/>
              <a:pPr eaLnBrk="1" hangingPunct="1"/>
              <a:t>50</a:t>
            </a:fld>
            <a:endParaRPr kumimoji="0" lang="en-US" altLang="zh-TW"/>
          </a:p>
        </p:txBody>
      </p:sp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/>
              <a:t>Euler's Phi Function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89088"/>
            <a:ext cx="8362950" cy="441166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TW" sz="2600" b="1" dirty="0">
                <a:sym typeface="Symbol" pitchFamily="18" charset="2"/>
              </a:rPr>
              <a:t>Proposition</a:t>
            </a:r>
            <a:r>
              <a:rPr lang="en-US" altLang="zh-TW" sz="2600" dirty="0">
                <a:sym typeface="Symbol" pitchFamily="18" charset="2"/>
              </a:rPr>
              <a:t>  </a:t>
            </a:r>
            <a:r>
              <a:rPr lang="en-US" altLang="zh-TW" sz="2600" i="1" dirty="0">
                <a:sym typeface="Symbol" pitchFamily="18" charset="2"/>
              </a:rPr>
              <a:t>p </a:t>
            </a:r>
            <a:r>
              <a:rPr lang="en-US" altLang="zh-TW" sz="2600" dirty="0">
                <a:sym typeface="Symbol" pitchFamily="18" charset="2"/>
              </a:rPr>
              <a:t>&gt; 0</a:t>
            </a:r>
            <a:r>
              <a:rPr lang="en-US" altLang="zh-TW" sz="2600" baseline="-25000" dirty="0">
                <a:sym typeface="Symbol" pitchFamily="18" charset="2"/>
              </a:rPr>
              <a:t>  </a:t>
            </a:r>
            <a:r>
              <a:rPr lang="en-US" altLang="zh-TW" sz="2600" dirty="0">
                <a:sym typeface="Symbol" pitchFamily="18" charset="2"/>
              </a:rPr>
              <a:t>is prime </a:t>
            </a:r>
            <a:r>
              <a:rPr lang="en-US" altLang="zh-TW" sz="2600" dirty="0" err="1">
                <a:sym typeface="Symbol" pitchFamily="18" charset="2"/>
              </a:rPr>
              <a:t>iff</a:t>
            </a:r>
            <a:r>
              <a:rPr lang="en-US" altLang="zh-TW" sz="2600" dirty="0">
                <a:sym typeface="Symbol" pitchFamily="18" charset="2"/>
              </a:rPr>
              <a:t>  </a:t>
            </a:r>
            <a:r>
              <a:rPr lang="en-US" altLang="zh-TW" sz="2600" i="1" dirty="0">
                <a:sym typeface="Symbol" pitchFamily="18" charset="2"/>
              </a:rPr>
              <a:t></a:t>
            </a:r>
            <a:r>
              <a:rPr lang="en-US" altLang="zh-TW" sz="1600" baseline="-25000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(</a:t>
            </a:r>
            <a:r>
              <a:rPr lang="en-US" altLang="zh-TW" sz="2600" i="1" dirty="0">
                <a:sym typeface="Symbol" pitchFamily="18" charset="2"/>
              </a:rPr>
              <a:t>p</a:t>
            </a:r>
            <a:r>
              <a:rPr lang="en-US" altLang="zh-TW" sz="2600" dirty="0">
                <a:sym typeface="Symbol" pitchFamily="18" charset="2"/>
              </a:rPr>
              <a:t>) = </a:t>
            </a:r>
            <a:r>
              <a:rPr lang="en-US" altLang="zh-TW" sz="2600" i="1" dirty="0">
                <a:sym typeface="Symbol" pitchFamily="18" charset="2"/>
              </a:rPr>
              <a:t>p </a:t>
            </a:r>
            <a:r>
              <a:rPr lang="en-US" altLang="zh-TW" sz="2600" dirty="0">
                <a:sym typeface="Symbol" pitchFamily="18" charset="2"/>
              </a:rPr>
              <a:t>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US" altLang="zh-TW" sz="2600" b="1" dirty="0">
                <a:sym typeface="Symbol" pitchFamily="18" charset="2"/>
              </a:rPr>
              <a:t>Proof</a:t>
            </a:r>
            <a:r>
              <a:rPr lang="en-US" altLang="zh-TW" sz="2600" dirty="0">
                <a:sym typeface="Symbol" pitchFamily="18" charset="2"/>
              </a:rPr>
              <a:t>  </a:t>
            </a:r>
            <a:r>
              <a:rPr lang="en-US" altLang="zh-TW" sz="2200" dirty="0">
                <a:sym typeface="Symbol" pitchFamily="18" charset="2"/>
              </a:rPr>
              <a:t>()  </a:t>
            </a:r>
            <a:r>
              <a:rPr lang="en-US" altLang="zh-TW" sz="2200" i="1" dirty="0">
                <a:sym typeface="Symbol" pitchFamily="18" charset="2"/>
              </a:rPr>
              <a:t>p</a:t>
            </a:r>
            <a:r>
              <a:rPr lang="en-US" altLang="zh-TW" sz="2200" dirty="0">
                <a:sym typeface="Symbol" pitchFamily="18" charset="2"/>
              </a:rPr>
              <a:t> is prime   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  </a:t>
            </a:r>
            <a:r>
              <a:rPr lang="en-US" altLang="zh-TW" sz="2200" i="1" dirty="0">
                <a:sym typeface="Symbol" pitchFamily="18" charset="2"/>
              </a:rPr>
              <a:t>p</a:t>
            </a:r>
            <a:r>
              <a:rPr lang="en-US" altLang="zh-TW" sz="2200" baseline="-25000" dirty="0">
                <a:sym typeface="Symbol" pitchFamily="18" charset="2"/>
              </a:rPr>
              <a:t>  </a:t>
            </a:r>
            <a:r>
              <a:rPr lang="en-US" altLang="zh-TW" sz="2200" dirty="0">
                <a:sym typeface="Symbol" pitchFamily="18" charset="2"/>
              </a:rPr>
              <a:t>for each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baseline="-25000" dirty="0">
                <a:sym typeface="Symbol" pitchFamily="18" charset="2"/>
              </a:rPr>
              <a:t>  </a:t>
            </a:r>
            <a:r>
              <a:rPr lang="en-US" altLang="zh-TW" sz="2200" dirty="0">
                <a:sym typeface="Symbol" pitchFamily="18" charset="2"/>
              </a:rPr>
              <a:t>with</a:t>
            </a:r>
            <a:r>
              <a:rPr lang="en-US" altLang="zh-TW" sz="2200" baseline="-25000" dirty="0">
                <a:sym typeface="Symbol" pitchFamily="18" charset="2"/>
              </a:rPr>
              <a:t>  </a:t>
            </a:r>
            <a:r>
              <a:rPr lang="en-US" altLang="zh-TW" sz="2200" dirty="0">
                <a:sym typeface="Symbol" pitchFamily="18" charset="2"/>
              </a:rPr>
              <a:t>1 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  </a:t>
            </a:r>
            <a:r>
              <a:rPr lang="en-US" altLang="zh-TW" sz="2200" i="1" dirty="0">
                <a:sym typeface="Symbol" pitchFamily="18" charset="2"/>
              </a:rPr>
              <a:t>p </a:t>
            </a:r>
            <a:r>
              <a:rPr lang="en-US" altLang="zh-TW" sz="2200" dirty="0">
                <a:sym typeface="Symbol" pitchFamily="18" charset="2"/>
              </a:rPr>
              <a:t>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1, 			and there are</a:t>
            </a:r>
            <a:r>
              <a:rPr lang="en-US" altLang="zh-TW" sz="2200" baseline="-25000" dirty="0">
                <a:sym typeface="Symbol" pitchFamily="18" charset="2"/>
              </a:rPr>
              <a:t>  </a:t>
            </a:r>
            <a:r>
              <a:rPr lang="en-US" altLang="zh-TW" sz="2200" i="1" dirty="0">
                <a:sym typeface="Symbol" pitchFamily="18" charset="2"/>
              </a:rPr>
              <a:t>p </a:t>
            </a:r>
            <a:r>
              <a:rPr lang="en-US" altLang="zh-TW" sz="2200" dirty="0">
                <a:sym typeface="Symbol" pitchFamily="18" charset="2"/>
              </a:rPr>
              <a:t>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1</a:t>
            </a:r>
            <a:r>
              <a:rPr lang="en-US" altLang="zh-TW" sz="2200" baseline="-25000" dirty="0">
                <a:sym typeface="Symbol" pitchFamily="18" charset="2"/>
              </a:rPr>
              <a:t>  </a:t>
            </a:r>
            <a:r>
              <a:rPr lang="en-US" altLang="zh-TW" sz="2200" dirty="0">
                <a:sym typeface="Symbol" pitchFamily="18" charset="2"/>
              </a:rPr>
              <a:t>of them</a:t>
            </a:r>
          </a:p>
          <a:p>
            <a:pPr lvl="1">
              <a:lnSpc>
                <a:spcPct val="110000"/>
              </a:lnSpc>
              <a:buNone/>
            </a:pPr>
            <a:r>
              <a:rPr lang="en-US" altLang="zh-TW" sz="2200" dirty="0">
                <a:sym typeface="Symbol" pitchFamily="18" charset="2"/>
              </a:rPr>
              <a:t>		      ()  </a:t>
            </a:r>
            <a:r>
              <a:rPr lang="en-US" altLang="zh-TW" sz="2200" i="1" dirty="0">
                <a:sym typeface="Symbol" pitchFamily="18" charset="2"/>
              </a:rPr>
              <a:t>p </a:t>
            </a:r>
            <a:r>
              <a:rPr lang="en-US" altLang="zh-TW" sz="2200" dirty="0">
                <a:sym typeface="Symbol" pitchFamily="18" charset="2"/>
              </a:rPr>
              <a:t>is not a prime  (</a:t>
            </a:r>
            <a:r>
              <a:rPr lang="en-US" altLang="zh-TW" sz="2200" dirty="0" err="1">
                <a:sym typeface="Symbol" pitchFamily="18" charset="2"/>
              </a:rPr>
              <a:t>i</a:t>
            </a:r>
            <a:r>
              <a:rPr lang="en-US" altLang="zh-TW" sz="2200" dirty="0">
                <a:sym typeface="Symbol" pitchFamily="18" charset="2"/>
              </a:rPr>
              <a:t>)  </a:t>
            </a:r>
            <a:r>
              <a:rPr lang="en-US" altLang="zh-TW" sz="2200" i="1" dirty="0">
                <a:sym typeface="Symbol" pitchFamily="18" charset="2"/>
              </a:rPr>
              <a:t>p</a:t>
            </a:r>
            <a:r>
              <a:rPr lang="en-US" altLang="zh-TW" sz="2200" dirty="0">
                <a:sym typeface="Symbol" pitchFamily="18" charset="2"/>
              </a:rPr>
              <a:t> = 1, </a:t>
            </a:r>
            <a:r>
              <a:rPr lang="en-US" altLang="zh-TW" sz="2200" i="1" dirty="0">
                <a:sym typeface="Symbol" pitchFamily="18" charset="2"/>
              </a:rPr>
              <a:t>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(1) = 1  1 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1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TW" sz="2200" dirty="0">
                <a:sym typeface="Symbol" pitchFamily="18" charset="2"/>
              </a:rPr>
              <a:t>			(ii)  </a:t>
            </a:r>
            <a:r>
              <a:rPr lang="en-US" altLang="zh-TW" sz="2200" i="1" dirty="0">
                <a:sym typeface="Symbol" pitchFamily="18" charset="2"/>
              </a:rPr>
              <a:t>p</a:t>
            </a:r>
            <a:r>
              <a:rPr lang="en-US" altLang="zh-TW" sz="2200" baseline="-25000" dirty="0">
                <a:sym typeface="Symbol" pitchFamily="18" charset="2"/>
              </a:rPr>
              <a:t>  </a:t>
            </a:r>
            <a:r>
              <a:rPr lang="en-US" altLang="zh-TW" sz="2200" dirty="0">
                <a:sym typeface="Symbol" pitchFamily="18" charset="2"/>
              </a:rPr>
              <a:t>is a composite with a proper divisor </a:t>
            </a:r>
            <a:r>
              <a:rPr lang="en-US" altLang="zh-TW" sz="2200" i="1" dirty="0">
                <a:sym typeface="Symbol" pitchFamily="18" charset="2"/>
              </a:rPr>
              <a:t>d</a:t>
            </a:r>
            <a:r>
              <a:rPr lang="en-US" altLang="zh-TW" sz="2200" dirty="0">
                <a:sym typeface="Symbol" pitchFamily="18" charset="2"/>
              </a:rPr>
              <a:t>, then        		1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&lt;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d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&lt;</a:t>
            </a:r>
            <a:r>
              <a:rPr lang="en-US" altLang="zh-TW" sz="2200" i="1" baseline="-250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p</a:t>
            </a:r>
            <a:r>
              <a:rPr lang="en-US" altLang="zh-TW" sz="2200" dirty="0">
                <a:sym typeface="Symbol" pitchFamily="18" charset="2"/>
              </a:rPr>
              <a:t> and </a:t>
            </a:r>
            <a:r>
              <a:rPr lang="en-US" altLang="zh-TW" sz="2200" dirty="0" err="1"/>
              <a:t>gcd</a:t>
            </a:r>
            <a:r>
              <a:rPr lang="en-US" altLang="zh-TW" sz="2200" dirty="0"/>
              <a:t>(</a:t>
            </a:r>
            <a:r>
              <a:rPr lang="en-US" altLang="zh-TW" sz="2200" i="1" dirty="0"/>
              <a:t>p</a:t>
            </a:r>
            <a:r>
              <a:rPr lang="en-US" altLang="zh-TW" sz="2200" dirty="0"/>
              <a:t>,</a:t>
            </a:r>
            <a:r>
              <a:rPr lang="en-US" altLang="zh-TW" sz="2200" baseline="-25000" dirty="0"/>
              <a:t> </a:t>
            </a:r>
            <a:r>
              <a:rPr lang="en-US" altLang="zh-TW" sz="2200" i="1" dirty="0"/>
              <a:t>d</a:t>
            </a:r>
            <a:r>
              <a:rPr lang="en-US" altLang="zh-TW" sz="1200" i="1" baseline="300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200" dirty="0"/>
              <a:t>)</a:t>
            </a:r>
            <a:r>
              <a:rPr lang="en-US" altLang="zh-TW" sz="2200" baseline="-25000" dirty="0"/>
              <a:t> </a:t>
            </a:r>
            <a:r>
              <a:rPr lang="en-US" altLang="zh-TW" sz="2200" dirty="0"/>
              <a:t>=</a:t>
            </a:r>
            <a:r>
              <a:rPr lang="en-US" altLang="zh-TW" sz="2200" baseline="-25000" dirty="0"/>
              <a:t> </a:t>
            </a:r>
            <a:r>
              <a:rPr lang="en-US" altLang="zh-TW" sz="2200" i="1" dirty="0"/>
              <a:t>d</a:t>
            </a:r>
            <a:r>
              <a:rPr lang="en-US" altLang="zh-TW" sz="2200" dirty="0"/>
              <a:t> &gt;</a:t>
            </a:r>
            <a:r>
              <a:rPr lang="en-US" altLang="zh-TW" sz="2200" baseline="-25000" dirty="0"/>
              <a:t> </a:t>
            </a:r>
            <a:r>
              <a:rPr lang="en-US" altLang="zh-TW" sz="2200" dirty="0"/>
              <a:t>1, hence </a:t>
            </a:r>
            <a:r>
              <a:rPr lang="en-US" altLang="zh-TW" sz="2200" i="1" dirty="0">
                <a:sym typeface="Symbol" pitchFamily="18" charset="2"/>
              </a:rPr>
              <a:t>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(</a:t>
            </a:r>
            <a:r>
              <a:rPr lang="en-US" altLang="zh-TW" sz="2200" i="1" dirty="0">
                <a:sym typeface="Symbol" pitchFamily="18" charset="2"/>
              </a:rPr>
              <a:t>p</a:t>
            </a:r>
            <a:r>
              <a:rPr lang="en-US" altLang="zh-TW" sz="2200" dirty="0">
                <a:sym typeface="Symbol" pitchFamily="18" charset="2"/>
              </a:rPr>
              <a:t>)  </a:t>
            </a:r>
            <a:r>
              <a:rPr lang="en-US" altLang="zh-TW" sz="2200" i="1" dirty="0">
                <a:sym typeface="Symbol" pitchFamily="18" charset="2"/>
              </a:rPr>
              <a:t>p</a:t>
            </a:r>
            <a:r>
              <a:rPr lang="en-US" altLang="zh-TW" sz="2200" i="1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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2</a:t>
            </a:r>
          </a:p>
          <a:p>
            <a:pPr>
              <a:lnSpc>
                <a:spcPct val="110000"/>
              </a:lnSpc>
            </a:pPr>
            <a:r>
              <a:rPr lang="en-US" altLang="zh-TW" sz="2600" b="1" dirty="0"/>
              <a:t>Proposition</a:t>
            </a:r>
            <a:r>
              <a:rPr lang="en-US" altLang="zh-TW" sz="2600" dirty="0"/>
              <a:t>  </a:t>
            </a:r>
            <a:r>
              <a:rPr lang="en-US" altLang="zh-TW" sz="2600" i="1" dirty="0">
                <a:sym typeface="Symbol" pitchFamily="18" charset="2"/>
              </a:rPr>
              <a:t></a:t>
            </a:r>
            <a:r>
              <a:rPr lang="en-US" altLang="zh-TW" sz="1600" i="1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(</a:t>
            </a:r>
            <a:r>
              <a:rPr lang="en-US" altLang="zh-TW" sz="2600" i="1" dirty="0">
                <a:sym typeface="Symbol" pitchFamily="18" charset="2"/>
              </a:rPr>
              <a:t>p</a:t>
            </a:r>
            <a:r>
              <a:rPr lang="en-US" altLang="zh-TW" sz="800" i="1" baseline="-25000" dirty="0">
                <a:sym typeface="Symbol" pitchFamily="18" charset="2"/>
              </a:rPr>
              <a:t> </a:t>
            </a:r>
            <a:r>
              <a:rPr lang="en-US" altLang="zh-TW" sz="2600" i="1" baseline="30000" dirty="0">
                <a:sym typeface="Symbol" pitchFamily="18" charset="2"/>
              </a:rPr>
              <a:t>k</a:t>
            </a:r>
            <a:r>
              <a:rPr lang="en-US" altLang="zh-TW" sz="2600" dirty="0">
                <a:sym typeface="Symbol" pitchFamily="18" charset="2"/>
              </a:rPr>
              <a:t>) = </a:t>
            </a:r>
            <a:r>
              <a:rPr lang="en-US" altLang="zh-TW" sz="2600" i="1" dirty="0">
                <a:sym typeface="Symbol" pitchFamily="18" charset="2"/>
              </a:rPr>
              <a:t>p</a:t>
            </a:r>
            <a:r>
              <a:rPr lang="en-US" altLang="zh-TW" sz="800" i="1" baseline="30000" dirty="0">
                <a:sym typeface="Symbol" pitchFamily="18" charset="2"/>
              </a:rPr>
              <a:t> </a:t>
            </a:r>
            <a:r>
              <a:rPr lang="en-US" altLang="zh-TW" sz="2600" i="1" baseline="30000" dirty="0">
                <a:sym typeface="Symbol" pitchFamily="18" charset="2"/>
              </a:rPr>
              <a:t>k</a:t>
            </a:r>
            <a:r>
              <a:rPr lang="en-US" altLang="zh-TW" sz="2000" i="1" baseline="30000" dirty="0">
                <a:sym typeface="Symbol" pitchFamily="18" charset="2"/>
              </a:rPr>
              <a:t> </a:t>
            </a:r>
            <a:r>
              <a:rPr lang="en-US" altLang="zh-TW" sz="2600" baseline="30000" dirty="0">
                <a:sym typeface="Symbol" pitchFamily="18" charset="2"/>
              </a:rPr>
              <a:t>1 </a:t>
            </a:r>
            <a:r>
              <a:rPr lang="en-US" altLang="zh-TW" sz="2600" dirty="0">
                <a:sym typeface="Symbol" pitchFamily="18" charset="2"/>
              </a:rPr>
              <a:t>(</a:t>
            </a:r>
            <a:r>
              <a:rPr lang="en-US" altLang="zh-TW" sz="2600" i="1" dirty="0">
                <a:sym typeface="Symbol" pitchFamily="18" charset="2"/>
              </a:rPr>
              <a:t>p </a:t>
            </a:r>
            <a:r>
              <a:rPr lang="en-US" altLang="zh-TW" sz="2600" dirty="0">
                <a:sym typeface="Symbol" pitchFamily="18" charset="2"/>
              </a:rPr>
              <a:t>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1)</a:t>
            </a:r>
          </a:p>
          <a:p>
            <a:pPr>
              <a:lnSpc>
                <a:spcPct val="110000"/>
              </a:lnSpc>
            </a:pPr>
            <a:r>
              <a:rPr lang="en-US" altLang="zh-TW" sz="2600" b="1" dirty="0">
                <a:sym typeface="Symbol" pitchFamily="18" charset="2"/>
              </a:rPr>
              <a:t>Proof</a:t>
            </a:r>
            <a:r>
              <a:rPr lang="en-US" altLang="zh-TW" sz="2600" dirty="0">
                <a:sym typeface="Symbol" pitchFamily="18" charset="2"/>
              </a:rPr>
              <a:t>  </a:t>
            </a:r>
            <a:r>
              <a:rPr lang="en-US" altLang="zh-TW" sz="2600" i="1" dirty="0">
                <a:sym typeface="Symbol" pitchFamily="18" charset="2"/>
              </a:rPr>
              <a:t>S</a:t>
            </a:r>
            <a:r>
              <a:rPr lang="en-US" altLang="zh-TW" sz="2600" dirty="0">
                <a:sym typeface="Symbol" pitchFamily="18" charset="2"/>
              </a:rPr>
              <a:t> = {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p</a:t>
            </a:r>
            <a:r>
              <a:rPr lang="en-US" altLang="zh-TW" sz="2600" dirty="0">
                <a:sym typeface="Symbol" pitchFamily="18" charset="2"/>
              </a:rPr>
              <a:t>, 2</a:t>
            </a:r>
            <a:r>
              <a:rPr lang="en-US" altLang="zh-TW" sz="2600" i="1" dirty="0">
                <a:sym typeface="Symbol" pitchFamily="18" charset="2"/>
              </a:rPr>
              <a:t>p</a:t>
            </a:r>
            <a:r>
              <a:rPr lang="en-US" altLang="zh-TW" sz="2600" dirty="0">
                <a:sym typeface="Symbol" pitchFamily="18" charset="2"/>
              </a:rPr>
              <a:t>, 3</a:t>
            </a:r>
            <a:r>
              <a:rPr lang="en-US" altLang="zh-TW" sz="2600" i="1" dirty="0">
                <a:sym typeface="Symbol" pitchFamily="18" charset="2"/>
              </a:rPr>
              <a:t>p</a:t>
            </a:r>
            <a:r>
              <a:rPr lang="en-US" altLang="zh-TW" sz="2600" dirty="0">
                <a:sym typeface="Symbol" pitchFamily="18" charset="2"/>
              </a:rPr>
              <a:t>, …, (</a:t>
            </a:r>
            <a:r>
              <a:rPr lang="en-US" altLang="zh-TW" sz="2600" i="1" dirty="0">
                <a:sym typeface="Symbol" pitchFamily="18" charset="2"/>
              </a:rPr>
              <a:t>p</a:t>
            </a:r>
            <a:r>
              <a:rPr lang="en-US" altLang="zh-TW" sz="800" baseline="30000" dirty="0">
                <a:sym typeface="Symbol" pitchFamily="18" charset="2"/>
              </a:rPr>
              <a:t> </a:t>
            </a:r>
            <a:r>
              <a:rPr lang="en-US" altLang="zh-TW" sz="2600" i="1" baseline="30000" dirty="0">
                <a:sym typeface="Symbol" pitchFamily="18" charset="2"/>
              </a:rPr>
              <a:t>k</a:t>
            </a:r>
            <a:r>
              <a:rPr lang="en-US" altLang="zh-TW" sz="2000" i="1" baseline="30000" dirty="0">
                <a:sym typeface="Symbol" pitchFamily="18" charset="2"/>
              </a:rPr>
              <a:t> </a:t>
            </a:r>
            <a:r>
              <a:rPr lang="en-US" altLang="zh-TW" sz="2600" baseline="30000" dirty="0">
                <a:sym typeface="Symbol" pitchFamily="18" charset="2"/>
              </a:rPr>
              <a:t>1 </a:t>
            </a:r>
            <a:r>
              <a:rPr lang="en-US" altLang="zh-TW" sz="2600" dirty="0">
                <a:sym typeface="Symbol" pitchFamily="18" charset="2"/>
              </a:rPr>
              <a:t>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1)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i="1" dirty="0">
                <a:cs typeface="Arial" charset="0"/>
                <a:sym typeface="Symbol" pitchFamily="18" charset="2"/>
              </a:rPr>
              <a:t>·</a:t>
            </a:r>
            <a:r>
              <a:rPr lang="en-US" altLang="zh-TW" sz="2600" i="1" baseline="-25000" dirty="0">
                <a:cs typeface="Arial" charset="0"/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p</a:t>
            </a:r>
            <a:r>
              <a:rPr lang="en-US" altLang="zh-TW" sz="2600" dirty="0">
                <a:sym typeface="Symbol" pitchFamily="18" charset="2"/>
              </a:rPr>
              <a:t>, 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p</a:t>
            </a:r>
            <a:r>
              <a:rPr lang="en-US" altLang="zh-TW" sz="800" baseline="30000" dirty="0">
                <a:sym typeface="Symbol" pitchFamily="18" charset="2"/>
              </a:rPr>
              <a:t> </a:t>
            </a:r>
            <a:r>
              <a:rPr lang="en-US" altLang="zh-TW" sz="2600" i="1" baseline="30000" dirty="0">
                <a:sym typeface="Symbol" pitchFamily="18" charset="2"/>
              </a:rPr>
              <a:t>k</a:t>
            </a:r>
            <a:r>
              <a:rPr lang="en-US" altLang="zh-TW" sz="2000" i="1" baseline="30000" dirty="0">
                <a:sym typeface="Symbol" pitchFamily="18" charset="2"/>
              </a:rPr>
              <a:t> </a:t>
            </a:r>
            <a:r>
              <a:rPr lang="en-US" altLang="zh-TW" sz="2600" baseline="30000" dirty="0">
                <a:sym typeface="Symbol" pitchFamily="18" charset="2"/>
              </a:rPr>
              <a:t>1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i="1" dirty="0">
                <a:cs typeface="Arial" charset="0"/>
                <a:sym typeface="Symbol" pitchFamily="18" charset="2"/>
              </a:rPr>
              <a:t>·</a:t>
            </a:r>
            <a:r>
              <a:rPr lang="en-US" altLang="zh-TW" sz="2600" i="1" baseline="-25000" dirty="0">
                <a:cs typeface="Arial" charset="0"/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p</a:t>
            </a:r>
            <a:r>
              <a:rPr lang="en-US" altLang="zh-TW" sz="2600" dirty="0">
                <a:sym typeface="Symbol" pitchFamily="18" charset="2"/>
              </a:rPr>
              <a:t> </a:t>
            </a:r>
            <a:r>
              <a:rPr lang="en-US" altLang="zh-TW" sz="1600" dirty="0">
                <a:sym typeface="Symbol" pitchFamily="18" charset="2"/>
              </a:rPr>
              <a:t>[ = </a:t>
            </a:r>
            <a:r>
              <a:rPr lang="en-US" altLang="zh-TW" sz="1600" i="1" dirty="0">
                <a:sym typeface="Symbol" pitchFamily="18" charset="2"/>
              </a:rPr>
              <a:t>p</a:t>
            </a:r>
            <a:r>
              <a:rPr lang="en-US" altLang="zh-TW" sz="800" i="1" baseline="30000" dirty="0">
                <a:sym typeface="Symbol" pitchFamily="18" charset="2"/>
              </a:rPr>
              <a:t> </a:t>
            </a:r>
            <a:r>
              <a:rPr lang="en-US" altLang="zh-TW" sz="1600" i="1" baseline="30000" dirty="0">
                <a:sym typeface="Symbol" pitchFamily="18" charset="2"/>
              </a:rPr>
              <a:t>k </a:t>
            </a:r>
            <a:r>
              <a:rPr lang="en-US" altLang="zh-TW" sz="1600" dirty="0">
                <a:sym typeface="Symbol" pitchFamily="18" charset="2"/>
              </a:rPr>
              <a:t>]</a:t>
            </a:r>
            <a:r>
              <a:rPr lang="en-US" altLang="zh-TW" sz="2600" dirty="0">
                <a:sym typeface="Symbol" pitchFamily="18" charset="2"/>
              </a:rPr>
              <a:t> } 	list all integers between 1 and </a:t>
            </a:r>
            <a:r>
              <a:rPr lang="en-US" altLang="zh-TW" sz="2600" i="1" dirty="0">
                <a:sym typeface="Symbol" pitchFamily="18" charset="2"/>
              </a:rPr>
              <a:t>p</a:t>
            </a:r>
            <a:r>
              <a:rPr lang="en-US" altLang="zh-TW" sz="2600" i="1" baseline="30000" dirty="0">
                <a:sym typeface="Symbol" pitchFamily="18" charset="2"/>
              </a:rPr>
              <a:t> k</a:t>
            </a:r>
            <a:r>
              <a:rPr lang="en-US" altLang="zh-TW" sz="2600" dirty="0">
                <a:sym typeface="Symbol" pitchFamily="18" charset="2"/>
              </a:rPr>
              <a:t> which are not   	 </a:t>
            </a:r>
            <a:r>
              <a:rPr lang="en-US" altLang="zh-TW" sz="2600" i="1" dirty="0">
                <a:sym typeface="Symbol" pitchFamily="18" charset="2"/>
              </a:rPr>
              <a:t>p</a:t>
            </a:r>
            <a:r>
              <a:rPr lang="en-US" altLang="zh-TW" sz="800" i="1" baseline="30000" dirty="0">
                <a:sym typeface="Symbol" pitchFamily="18" charset="2"/>
              </a:rPr>
              <a:t> </a:t>
            </a:r>
            <a:r>
              <a:rPr lang="en-US" altLang="zh-TW" sz="2600" i="1" baseline="30000" dirty="0">
                <a:sym typeface="Symbol" pitchFamily="18" charset="2"/>
              </a:rPr>
              <a:t>k</a:t>
            </a:r>
            <a:r>
              <a:rPr lang="en-US" altLang="zh-TW" sz="2600" dirty="0">
                <a:sym typeface="Symbol" pitchFamily="18" charset="2"/>
              </a:rPr>
              <a:t>, hence there are</a:t>
            </a:r>
            <a:r>
              <a:rPr lang="en-US" altLang="zh-TW" sz="2600" baseline="-25000" dirty="0">
                <a:sym typeface="Symbol" pitchFamily="18" charset="2"/>
              </a:rPr>
              <a:t>  </a:t>
            </a:r>
            <a:r>
              <a:rPr lang="en-US" altLang="zh-TW" sz="2600" i="1" dirty="0">
                <a:sym typeface="Symbol" pitchFamily="18" charset="2"/>
              </a:rPr>
              <a:t>p</a:t>
            </a:r>
            <a:r>
              <a:rPr lang="en-US" altLang="zh-TW" sz="800" i="1" baseline="-25000" dirty="0">
                <a:sym typeface="Symbol" pitchFamily="18" charset="2"/>
              </a:rPr>
              <a:t> </a:t>
            </a:r>
            <a:r>
              <a:rPr lang="en-US" altLang="zh-TW" sz="2600" i="1" baseline="30000" dirty="0">
                <a:sym typeface="Symbol" pitchFamily="18" charset="2"/>
              </a:rPr>
              <a:t>k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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p</a:t>
            </a:r>
            <a:r>
              <a:rPr lang="en-US" altLang="zh-TW" sz="800" baseline="-25000" dirty="0">
                <a:sym typeface="Symbol" pitchFamily="18" charset="2"/>
              </a:rPr>
              <a:t> </a:t>
            </a:r>
            <a:r>
              <a:rPr lang="en-US" altLang="zh-TW" sz="2600" i="1" baseline="30000" dirty="0">
                <a:sym typeface="Symbol" pitchFamily="18" charset="2"/>
              </a:rPr>
              <a:t>k</a:t>
            </a:r>
            <a:r>
              <a:rPr lang="en-US" altLang="zh-TW" sz="2000" i="1" baseline="30000" dirty="0">
                <a:sym typeface="Symbol" pitchFamily="18" charset="2"/>
              </a:rPr>
              <a:t> </a:t>
            </a:r>
            <a:r>
              <a:rPr lang="en-US" altLang="zh-TW" sz="2600" baseline="30000" dirty="0">
                <a:sym typeface="Symbol" pitchFamily="18" charset="2"/>
              </a:rPr>
              <a:t>1</a:t>
            </a:r>
            <a:r>
              <a:rPr lang="en-US" altLang="zh-TW" sz="2600" dirty="0">
                <a:sym typeface="Symbol" pitchFamily="18" charset="2"/>
              </a:rPr>
              <a:t> integers  </a:t>
            </a:r>
            <a:r>
              <a:rPr lang="en-US" altLang="zh-TW" sz="2600" i="1" dirty="0">
                <a:sym typeface="Symbol" pitchFamily="18" charset="2"/>
              </a:rPr>
              <a:t>p</a:t>
            </a:r>
            <a:r>
              <a:rPr lang="en-US" altLang="zh-TW" sz="800" i="1" baseline="30000" dirty="0">
                <a:sym typeface="Symbol" pitchFamily="18" charset="2"/>
              </a:rPr>
              <a:t> </a:t>
            </a:r>
            <a:r>
              <a:rPr lang="en-US" altLang="zh-TW" sz="2600" i="1" baseline="30000" dirty="0">
                <a:sym typeface="Symbol" pitchFamily="18" charset="2"/>
              </a:rPr>
              <a:t>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3517D067-D337-422D-8905-13E455962DFD}" type="slidenum">
              <a:rPr kumimoji="0" lang="en-US" altLang="zh-TW" smtClean="0"/>
              <a:pPr eaLnBrk="1" hangingPunct="1"/>
              <a:t>51</a:t>
            </a:fld>
            <a:endParaRPr kumimoji="0" lang="en-US" altLang="zh-TW"/>
          </a:p>
        </p:txBody>
      </p:sp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/>
              <a:t>Euler's Phi Function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435975" cy="4733925"/>
          </a:xfrm>
        </p:spPr>
        <p:txBody>
          <a:bodyPr/>
          <a:lstStyle/>
          <a:p>
            <a:pPr marL="571500" indent="-571500"/>
            <a:r>
              <a:rPr lang="en-US" altLang="zh-TW" sz="2600" b="1" dirty="0">
                <a:sym typeface="Symbol" pitchFamily="18" charset="2"/>
              </a:rPr>
              <a:t>Proposition</a:t>
            </a:r>
            <a:r>
              <a:rPr lang="en-US" altLang="zh-TW" sz="2600" dirty="0">
                <a:sym typeface="Symbol" pitchFamily="18" charset="2"/>
              </a:rPr>
              <a:t>  </a:t>
            </a:r>
            <a:r>
              <a:rPr lang="en-US" altLang="zh-TW" sz="2600" i="1" dirty="0">
                <a:sym typeface="Symbol" pitchFamily="18" charset="2"/>
              </a:rPr>
              <a:t> </a:t>
            </a:r>
            <a:r>
              <a:rPr lang="en-US" altLang="zh-TW" sz="2600" dirty="0">
                <a:sym typeface="Symbol" pitchFamily="18" charset="2"/>
              </a:rPr>
              <a:t>(</a:t>
            </a:r>
            <a:r>
              <a:rPr lang="en-US" altLang="zh-TW" sz="2600" i="1" dirty="0" err="1">
                <a:sym typeface="Symbol" pitchFamily="18" charset="2"/>
              </a:rPr>
              <a:t>mn</a:t>
            </a:r>
            <a:r>
              <a:rPr lang="en-US" altLang="zh-TW" sz="2600" dirty="0">
                <a:sym typeface="Symbol" pitchFamily="18" charset="2"/>
              </a:rPr>
              <a:t>) = </a:t>
            </a:r>
            <a:r>
              <a:rPr lang="en-US" altLang="zh-TW" sz="2600" i="1" dirty="0">
                <a:sym typeface="Symbol" pitchFamily="18" charset="2"/>
              </a:rPr>
              <a:t>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(</a:t>
            </a:r>
            <a:r>
              <a:rPr lang="en-US" altLang="zh-TW" sz="2600" i="1" dirty="0">
                <a:sym typeface="Symbol" pitchFamily="18" charset="2"/>
              </a:rPr>
              <a:t>m</a:t>
            </a:r>
            <a:r>
              <a:rPr lang="en-US" altLang="zh-TW" sz="2600" dirty="0">
                <a:sym typeface="Symbol" pitchFamily="18" charset="2"/>
              </a:rPr>
              <a:t>)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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(</a:t>
            </a:r>
            <a:r>
              <a:rPr lang="en-US" altLang="zh-TW" sz="2600" i="1" dirty="0">
                <a:sym typeface="Symbol" pitchFamily="18" charset="2"/>
              </a:rPr>
              <a:t>n</a:t>
            </a:r>
            <a:r>
              <a:rPr lang="en-US" altLang="zh-TW" sz="2600" dirty="0">
                <a:sym typeface="Symbol" pitchFamily="18" charset="2"/>
              </a:rPr>
              <a:t>) 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for 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m</a:t>
            </a:r>
            <a:r>
              <a:rPr lang="en-US" altLang="zh-TW" sz="2600" dirty="0">
                <a:sym typeface="Symbol" pitchFamily="18" charset="2"/>
              </a:rPr>
              <a:t>  </a:t>
            </a:r>
            <a:r>
              <a:rPr lang="en-US" altLang="zh-TW" sz="2600" i="1" dirty="0">
                <a:sym typeface="Symbol" pitchFamily="18" charset="2"/>
              </a:rPr>
              <a:t>n</a:t>
            </a:r>
          </a:p>
          <a:p>
            <a:pPr marL="571500" indent="-571500"/>
            <a:r>
              <a:rPr lang="en-US" altLang="zh-TW" sz="2200" b="1" dirty="0">
                <a:sym typeface="Symbol" pitchFamily="18" charset="2"/>
              </a:rPr>
              <a:t>Proof </a:t>
            </a:r>
            <a:r>
              <a:rPr lang="en-US" altLang="zh-TW" sz="2200" dirty="0">
                <a:sym typeface="Symbol" pitchFamily="18" charset="2"/>
              </a:rPr>
              <a:t> Note that (</a:t>
            </a:r>
            <a:r>
              <a:rPr lang="en-US" altLang="zh-TW" sz="2200" dirty="0" err="1">
                <a:sym typeface="Symbol" pitchFamily="18" charset="2"/>
              </a:rPr>
              <a:t>i</a:t>
            </a:r>
            <a:r>
              <a:rPr lang="en-US" altLang="zh-TW" sz="2200" dirty="0">
                <a:sym typeface="Symbol" pitchFamily="18" charset="2"/>
              </a:rPr>
              <a:t>)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  </a:t>
            </a:r>
            <a:r>
              <a:rPr lang="en-US" altLang="zh-TW" sz="2200" i="1" dirty="0" err="1">
                <a:sym typeface="Symbol" pitchFamily="18" charset="2"/>
              </a:rPr>
              <a:t>mn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dirty="0" err="1">
                <a:sym typeface="Symbol" pitchFamily="18" charset="2"/>
              </a:rPr>
              <a:t>iff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  </a:t>
            </a:r>
            <a:r>
              <a:rPr lang="en-US" altLang="zh-TW" sz="2200" i="1" dirty="0">
                <a:sym typeface="Symbol" pitchFamily="18" charset="2"/>
              </a:rPr>
              <a:t>m</a:t>
            </a:r>
            <a:r>
              <a:rPr lang="en-US" altLang="zh-TW" sz="2200" dirty="0">
                <a:sym typeface="Symbol" pitchFamily="18" charset="2"/>
              </a:rPr>
              <a:t> and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  </a:t>
            </a:r>
            <a:r>
              <a:rPr lang="en-US" altLang="zh-TW" sz="2200" i="1" dirty="0">
                <a:sym typeface="Symbol" pitchFamily="18" charset="2"/>
              </a:rPr>
              <a:t>n                         		</a:t>
            </a:r>
            <a:r>
              <a:rPr lang="en-US" altLang="zh-TW" sz="2200" dirty="0">
                <a:sym typeface="Symbol" pitchFamily="18" charset="2"/>
              </a:rPr>
              <a:t>(ii) Every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with 1 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  </a:t>
            </a:r>
            <a:r>
              <a:rPr lang="en-US" altLang="zh-TW" sz="2200" i="1" dirty="0" err="1">
                <a:sym typeface="Symbol" pitchFamily="18" charset="2"/>
              </a:rPr>
              <a:t>mn</a:t>
            </a:r>
            <a:r>
              <a:rPr lang="en-US" altLang="zh-TW" sz="2200" dirty="0">
                <a:sym typeface="Symbol" pitchFamily="18" charset="2"/>
              </a:rPr>
              <a:t>  can be written as </a:t>
            </a:r>
            <a:r>
              <a:rPr lang="en-US" altLang="zh-TW" sz="2200" baseline="-25000" dirty="0">
                <a:sym typeface="Symbol" pitchFamily="18" charset="2"/>
              </a:rPr>
              <a:t>               		       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 = </a:t>
            </a:r>
            <a:r>
              <a:rPr lang="en-US" altLang="zh-TW" sz="2200" i="1" dirty="0" err="1">
                <a:sym typeface="Symbol" pitchFamily="18" charset="2"/>
              </a:rPr>
              <a:t>i</a:t>
            </a:r>
            <a:r>
              <a:rPr lang="en-US" altLang="zh-TW" sz="2200" i="1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</a:t>
            </a:r>
            <a:r>
              <a:rPr lang="en-US" altLang="zh-TW" sz="1600" i="1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n </a:t>
            </a:r>
            <a:r>
              <a:rPr lang="en-US" altLang="zh-TW" sz="2200" dirty="0">
                <a:sym typeface="Symbol" pitchFamily="18" charset="2"/>
              </a:rPr>
              <a:t>+ </a:t>
            </a:r>
            <a:r>
              <a:rPr lang="en-US" altLang="zh-TW" sz="2200" i="1" dirty="0">
                <a:sym typeface="Symbol" pitchFamily="18" charset="2"/>
              </a:rPr>
              <a:t>j</a:t>
            </a:r>
            <a:r>
              <a:rPr lang="en-US" altLang="zh-TW" sz="2200" dirty="0">
                <a:sym typeface="Symbol" pitchFamily="18" charset="2"/>
              </a:rPr>
              <a:t>  for some  0  </a:t>
            </a:r>
            <a:r>
              <a:rPr lang="en-US" altLang="zh-TW" sz="2200" i="1" dirty="0" err="1">
                <a:sym typeface="Symbol" pitchFamily="18" charset="2"/>
              </a:rPr>
              <a:t>i</a:t>
            </a:r>
            <a:r>
              <a:rPr lang="en-US" altLang="zh-TW" sz="2200" dirty="0">
                <a:sym typeface="Symbol" pitchFamily="18" charset="2"/>
              </a:rPr>
              <a:t> &lt; </a:t>
            </a:r>
            <a:r>
              <a:rPr lang="en-US" altLang="zh-TW" sz="2200" i="1" dirty="0">
                <a:sym typeface="Symbol" pitchFamily="18" charset="2"/>
              </a:rPr>
              <a:t>m</a:t>
            </a:r>
            <a:r>
              <a:rPr lang="en-US" altLang="zh-TW" sz="2200" dirty="0">
                <a:sym typeface="Symbol" pitchFamily="18" charset="2"/>
              </a:rPr>
              <a:t>, 1  </a:t>
            </a:r>
            <a:r>
              <a:rPr lang="en-US" altLang="zh-TW" sz="2200" i="1" dirty="0">
                <a:sym typeface="Symbol" pitchFamily="18" charset="2"/>
              </a:rPr>
              <a:t>j</a:t>
            </a:r>
            <a:r>
              <a:rPr lang="en-US" altLang="zh-TW" sz="2200" dirty="0">
                <a:sym typeface="Symbol" pitchFamily="18" charset="2"/>
              </a:rPr>
              <a:t>  </a:t>
            </a:r>
            <a:r>
              <a:rPr lang="en-US" altLang="zh-TW" sz="2200" i="1" dirty="0">
                <a:sym typeface="Symbol" pitchFamily="18" charset="2"/>
              </a:rPr>
              <a:t>n</a:t>
            </a:r>
            <a:endParaRPr lang="en-US" altLang="zh-TW" sz="2200" dirty="0">
              <a:sym typeface="Symbol" pitchFamily="18" charset="2"/>
            </a:endParaRPr>
          </a:p>
          <a:p>
            <a:pPr marL="839788" lvl="1" indent="-495300">
              <a:buFont typeface="Wingdings" pitchFamily="2" charset="2"/>
              <a:buAutoNum type="circleNumWdWhitePlain"/>
            </a:pPr>
            <a:r>
              <a:rPr lang="en-US" altLang="zh-TW" sz="2200" dirty="0">
                <a:sym typeface="Symbol" pitchFamily="18" charset="2"/>
              </a:rPr>
              <a:t>If  </a:t>
            </a:r>
            <a:r>
              <a:rPr lang="en-US" altLang="zh-TW" sz="2200" dirty="0" err="1">
                <a:sym typeface="Symbol" pitchFamily="18" charset="2"/>
              </a:rPr>
              <a:t>gcd</a:t>
            </a:r>
            <a:r>
              <a:rPr lang="en-US" altLang="zh-TW" sz="2200" dirty="0">
                <a:sym typeface="Symbol" pitchFamily="18" charset="2"/>
              </a:rPr>
              <a:t>(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j</a:t>
            </a:r>
            <a:r>
              <a:rPr lang="en-US" altLang="zh-TW" sz="2200" dirty="0">
                <a:sym typeface="Symbol" pitchFamily="18" charset="2"/>
              </a:rPr>
              <a:t>, </a:t>
            </a:r>
            <a:r>
              <a:rPr lang="en-US" altLang="zh-TW" sz="2200" i="1" dirty="0">
                <a:sym typeface="Symbol" pitchFamily="18" charset="2"/>
              </a:rPr>
              <a:t>n</a:t>
            </a:r>
            <a:r>
              <a:rPr lang="en-US" altLang="zh-TW" sz="2200" dirty="0">
                <a:sym typeface="Symbol" pitchFamily="18" charset="2"/>
              </a:rPr>
              <a:t>) &gt; 1, then </a:t>
            </a:r>
            <a:r>
              <a:rPr lang="en-US" altLang="zh-TW" sz="2200" dirty="0" err="1">
                <a:sym typeface="Symbol" pitchFamily="18" charset="2"/>
              </a:rPr>
              <a:t>gcd</a:t>
            </a:r>
            <a:r>
              <a:rPr lang="en-US" altLang="zh-TW" sz="2200" dirty="0">
                <a:sym typeface="Symbol" pitchFamily="18" charset="2"/>
              </a:rPr>
              <a:t>(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, </a:t>
            </a:r>
            <a:r>
              <a:rPr lang="en-US" altLang="zh-TW" sz="2200" i="1" dirty="0">
                <a:sym typeface="Symbol" pitchFamily="18" charset="2"/>
              </a:rPr>
              <a:t>n</a:t>
            </a:r>
            <a:r>
              <a:rPr lang="en-US" altLang="zh-TW" sz="2200" dirty="0">
                <a:sym typeface="Symbol" pitchFamily="18" charset="2"/>
              </a:rPr>
              <a:t>) &gt; 1, hence </a:t>
            </a:r>
            <a:r>
              <a:rPr lang="en-US" altLang="zh-TW" sz="2200" dirty="0" err="1">
                <a:sym typeface="Symbol" pitchFamily="18" charset="2"/>
              </a:rPr>
              <a:t>gcd</a:t>
            </a:r>
            <a:r>
              <a:rPr lang="en-US" altLang="zh-TW" sz="2200" dirty="0">
                <a:sym typeface="Symbol" pitchFamily="18" charset="2"/>
              </a:rPr>
              <a:t>(</a:t>
            </a:r>
            <a:r>
              <a:rPr lang="en-US" altLang="zh-TW" sz="2200" i="1" dirty="0">
                <a:sym typeface="Symbol" pitchFamily="18" charset="2"/>
              </a:rPr>
              <a:t>a,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 err="1">
                <a:sym typeface="Symbol" pitchFamily="18" charset="2"/>
              </a:rPr>
              <a:t>mn</a:t>
            </a:r>
            <a:r>
              <a:rPr lang="en-US" altLang="zh-TW" sz="2200" dirty="0">
                <a:sym typeface="Symbol" pitchFamily="18" charset="2"/>
              </a:rPr>
              <a:t>) &gt; 1</a:t>
            </a:r>
          </a:p>
          <a:p>
            <a:pPr marL="839788" lvl="1" indent="-495300">
              <a:buFont typeface="Wingdings" pitchFamily="2" charset="2"/>
              <a:buAutoNum type="circleNumWdWhitePlain"/>
            </a:pPr>
            <a:r>
              <a:rPr lang="en-US" altLang="zh-TW" sz="2200" dirty="0">
                <a:sym typeface="Symbol" pitchFamily="18" charset="2"/>
              </a:rPr>
              <a:t>If</a:t>
            </a:r>
            <a:r>
              <a:rPr lang="en-US" altLang="zh-TW" sz="2200" baseline="-25000" dirty="0">
                <a:sym typeface="Symbol" pitchFamily="18" charset="2"/>
              </a:rPr>
              <a:t>  </a:t>
            </a:r>
            <a:r>
              <a:rPr lang="en-US" altLang="zh-TW" sz="2200" i="1" dirty="0">
                <a:sym typeface="Symbol" pitchFamily="18" charset="2"/>
              </a:rPr>
              <a:t>j</a:t>
            </a:r>
            <a:r>
              <a:rPr lang="en-US" altLang="zh-TW" sz="2200" dirty="0">
                <a:sym typeface="Symbol" pitchFamily="18" charset="2"/>
              </a:rPr>
              <a:t>  </a:t>
            </a:r>
            <a:r>
              <a:rPr lang="en-US" altLang="zh-TW" sz="2200" i="1" dirty="0">
                <a:sym typeface="Symbol" pitchFamily="18" charset="2"/>
              </a:rPr>
              <a:t>n</a:t>
            </a:r>
            <a:r>
              <a:rPr lang="en-US" altLang="zh-TW" sz="2200" dirty="0">
                <a:sym typeface="Symbol" pitchFamily="18" charset="2"/>
              </a:rPr>
              <a:t>, then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  </a:t>
            </a:r>
            <a:r>
              <a:rPr lang="en-US" altLang="zh-TW" sz="2200" i="1" dirty="0">
                <a:sym typeface="Symbol" pitchFamily="18" charset="2"/>
              </a:rPr>
              <a:t>n</a:t>
            </a:r>
            <a:r>
              <a:rPr lang="en-US" altLang="zh-TW" sz="2200" dirty="0">
                <a:sym typeface="Symbol" pitchFamily="18" charset="2"/>
              </a:rPr>
              <a:t>, there are </a:t>
            </a:r>
            <a:r>
              <a:rPr lang="en-US" altLang="zh-TW" sz="2200" i="1" dirty="0">
                <a:sym typeface="Symbol" pitchFamily="18" charset="2"/>
              </a:rPr>
              <a:t> </a:t>
            </a:r>
            <a:r>
              <a:rPr lang="en-US" altLang="zh-TW" sz="2200" dirty="0">
                <a:sym typeface="Symbol" pitchFamily="18" charset="2"/>
              </a:rPr>
              <a:t>(</a:t>
            </a:r>
            <a:r>
              <a:rPr lang="en-US" altLang="zh-TW" sz="2200" i="1" dirty="0">
                <a:sym typeface="Symbol" pitchFamily="18" charset="2"/>
              </a:rPr>
              <a:t>n</a:t>
            </a:r>
            <a:r>
              <a:rPr lang="en-US" altLang="zh-TW" sz="2200" dirty="0">
                <a:sym typeface="Symbol" pitchFamily="18" charset="2"/>
              </a:rPr>
              <a:t>) integers for </a:t>
            </a:r>
            <a:r>
              <a:rPr lang="en-US" altLang="zh-TW" sz="2200" i="1" dirty="0">
                <a:sym typeface="Symbol" pitchFamily="18" charset="2"/>
              </a:rPr>
              <a:t>j </a:t>
            </a:r>
            <a:r>
              <a:rPr lang="en-US" altLang="zh-TW" sz="2200" i="1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with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  </a:t>
            </a:r>
            <a:r>
              <a:rPr lang="en-US" altLang="zh-TW" sz="2200" i="1" dirty="0">
                <a:sym typeface="Symbol" pitchFamily="18" charset="2"/>
              </a:rPr>
              <a:t>n</a:t>
            </a:r>
          </a:p>
          <a:p>
            <a:pPr marL="839788" lvl="1" indent="-495300">
              <a:buFont typeface="Wingdings" pitchFamily="2" charset="2"/>
              <a:buAutoNum type="circleNumWdWhitePlain"/>
            </a:pPr>
            <a:r>
              <a:rPr lang="en-US" altLang="zh-TW" sz="2200" dirty="0"/>
              <a:t>For </a:t>
            </a:r>
            <a:r>
              <a:rPr lang="en-US" altLang="zh-TW" sz="2200" baseline="-25000" dirty="0"/>
              <a:t> </a:t>
            </a:r>
            <a:r>
              <a:rPr lang="en-US" altLang="zh-TW" sz="2200" i="1" dirty="0"/>
              <a:t>j</a:t>
            </a:r>
            <a:r>
              <a:rPr lang="en-US" altLang="zh-TW" sz="2200" dirty="0"/>
              <a:t> </a:t>
            </a:r>
            <a:r>
              <a:rPr lang="en-US" altLang="zh-TW" sz="2200" dirty="0">
                <a:sym typeface="Symbol" pitchFamily="18" charset="2"/>
              </a:rPr>
              <a:t> </a:t>
            </a:r>
            <a:r>
              <a:rPr lang="en-US" altLang="zh-TW" sz="2200" i="1" dirty="0">
                <a:sym typeface="Symbol" pitchFamily="18" charset="2"/>
              </a:rPr>
              <a:t>n</a:t>
            </a:r>
            <a:r>
              <a:rPr lang="en-US" altLang="zh-TW" sz="2200" dirty="0">
                <a:sym typeface="Symbol" pitchFamily="18" charset="2"/>
              </a:rPr>
              <a:t>, let</a:t>
            </a:r>
            <a:r>
              <a:rPr lang="en-US" altLang="zh-TW" sz="2200" i="1" dirty="0">
                <a:sym typeface="Symbol" pitchFamily="18" charset="2"/>
              </a:rPr>
              <a:t> C</a:t>
            </a:r>
            <a:r>
              <a:rPr lang="en-US" altLang="zh-TW" sz="2200" dirty="0">
                <a:sym typeface="Symbol" pitchFamily="18" charset="2"/>
              </a:rPr>
              <a:t> = {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j</a:t>
            </a:r>
            <a:r>
              <a:rPr lang="en-US" altLang="zh-TW" sz="2200" dirty="0">
                <a:sym typeface="Symbol" pitchFamily="18" charset="2"/>
              </a:rPr>
              <a:t>, </a:t>
            </a:r>
            <a:r>
              <a:rPr lang="en-US" altLang="zh-TW" sz="2200" i="1" dirty="0">
                <a:sym typeface="Symbol" pitchFamily="18" charset="2"/>
              </a:rPr>
              <a:t>n</a:t>
            </a:r>
            <a:r>
              <a:rPr lang="en-US" altLang="zh-TW" sz="1200" i="1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+</a:t>
            </a:r>
            <a:r>
              <a:rPr lang="en-US" altLang="zh-TW" sz="1200" baseline="-250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j</a:t>
            </a:r>
            <a:r>
              <a:rPr lang="en-US" altLang="zh-TW" sz="2200" dirty="0">
                <a:sym typeface="Symbol" pitchFamily="18" charset="2"/>
              </a:rPr>
              <a:t>, 2</a:t>
            </a:r>
            <a:r>
              <a:rPr lang="en-US" altLang="zh-TW" sz="2200" i="1" dirty="0">
                <a:sym typeface="Symbol" pitchFamily="18" charset="2"/>
              </a:rPr>
              <a:t>n</a:t>
            </a:r>
            <a:r>
              <a:rPr lang="en-US" altLang="zh-TW" sz="1200" i="1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+</a:t>
            </a:r>
            <a:r>
              <a:rPr lang="en-US" altLang="zh-TW" sz="1200" baseline="-250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j</a:t>
            </a:r>
            <a:r>
              <a:rPr lang="en-US" altLang="zh-TW" sz="2200" dirty="0">
                <a:sym typeface="Symbol" pitchFamily="18" charset="2"/>
              </a:rPr>
              <a:t>, …, (</a:t>
            </a:r>
            <a:r>
              <a:rPr lang="en-US" altLang="zh-TW" sz="2200" i="1" dirty="0">
                <a:sym typeface="Symbol" pitchFamily="18" charset="2"/>
              </a:rPr>
              <a:t>m</a:t>
            </a:r>
            <a:r>
              <a:rPr lang="en-US" altLang="zh-TW" sz="2200" i="1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1)</a:t>
            </a:r>
            <a:r>
              <a:rPr lang="en-US" altLang="zh-TW" sz="1200" baseline="-250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n</a:t>
            </a:r>
            <a:r>
              <a:rPr lang="en-US" altLang="zh-TW" sz="1200" i="1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+</a:t>
            </a:r>
            <a:r>
              <a:rPr lang="en-US" altLang="zh-TW" sz="1200" baseline="-250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j</a:t>
            </a:r>
            <a:r>
              <a:rPr lang="en-US" altLang="zh-TW" sz="2200" i="1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} with |</a:t>
            </a:r>
            <a:r>
              <a:rPr lang="en-US" altLang="zh-TW" sz="2200" i="1" dirty="0">
                <a:sym typeface="Symbol" pitchFamily="18" charset="2"/>
              </a:rPr>
              <a:t>C</a:t>
            </a:r>
            <a:r>
              <a:rPr lang="en-US" altLang="zh-TW" sz="2200" dirty="0">
                <a:sym typeface="Symbol" pitchFamily="18" charset="2"/>
              </a:rPr>
              <a:t>| = </a:t>
            </a:r>
            <a:r>
              <a:rPr lang="en-US" altLang="zh-TW" sz="2200" i="1" dirty="0">
                <a:sym typeface="Symbol" pitchFamily="18" charset="2"/>
              </a:rPr>
              <a:t>m</a:t>
            </a:r>
            <a:r>
              <a:rPr lang="en-US" altLang="zh-TW" sz="2200" dirty="0">
                <a:sym typeface="Symbol" pitchFamily="18" charset="2"/>
              </a:rPr>
              <a:t>. If  </a:t>
            </a:r>
            <a:r>
              <a:rPr lang="en-US" altLang="zh-TW" sz="2200" i="1" dirty="0">
                <a:sym typeface="Symbol" pitchFamily="18" charset="2"/>
              </a:rPr>
              <a:t>i</a:t>
            </a:r>
            <a:r>
              <a:rPr lang="en-US" altLang="zh-TW" sz="2200" baseline="-25000" dirty="0">
                <a:sym typeface="Symbol" pitchFamily="18" charset="2"/>
              </a:rPr>
              <a:t>1</a:t>
            </a:r>
            <a:r>
              <a:rPr lang="en-US" altLang="zh-TW" sz="2200" i="1" dirty="0">
                <a:sym typeface="Symbol" pitchFamily="18" charset="2"/>
              </a:rPr>
              <a:t>n</a:t>
            </a:r>
            <a:r>
              <a:rPr lang="en-US" altLang="zh-TW" sz="2200" dirty="0">
                <a:sym typeface="Symbol" pitchFamily="18" charset="2"/>
              </a:rPr>
              <a:t> + </a:t>
            </a:r>
            <a:r>
              <a:rPr lang="en-US" altLang="zh-TW" sz="2200" i="1" dirty="0">
                <a:sym typeface="Symbol" pitchFamily="18" charset="2"/>
              </a:rPr>
              <a:t>j</a:t>
            </a:r>
            <a:r>
              <a:rPr lang="en-US" altLang="zh-TW" sz="2200" dirty="0">
                <a:sym typeface="Symbol" pitchFamily="18" charset="2"/>
              </a:rPr>
              <a:t>  </a:t>
            </a:r>
            <a:r>
              <a:rPr lang="en-US" altLang="zh-TW" sz="2200" i="1" dirty="0">
                <a:sym typeface="Symbol" pitchFamily="18" charset="2"/>
              </a:rPr>
              <a:t>i</a:t>
            </a:r>
            <a:r>
              <a:rPr lang="en-US" altLang="zh-TW" sz="2200" baseline="-25000" dirty="0">
                <a:sym typeface="Symbol" pitchFamily="18" charset="2"/>
              </a:rPr>
              <a:t>2</a:t>
            </a:r>
            <a:r>
              <a:rPr lang="en-US" altLang="zh-TW" sz="800" baseline="-250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n</a:t>
            </a:r>
            <a:r>
              <a:rPr lang="en-US" altLang="zh-TW" sz="2200" dirty="0">
                <a:sym typeface="Symbol" pitchFamily="18" charset="2"/>
              </a:rPr>
              <a:t> + </a:t>
            </a:r>
            <a:r>
              <a:rPr lang="en-US" altLang="zh-TW" sz="2200" i="1" dirty="0">
                <a:sym typeface="Symbol" pitchFamily="18" charset="2"/>
              </a:rPr>
              <a:t>j</a:t>
            </a:r>
            <a:r>
              <a:rPr lang="en-US" altLang="zh-TW" sz="2200" dirty="0">
                <a:sym typeface="Symbol" pitchFamily="18" charset="2"/>
              </a:rPr>
              <a:t>  (mod </a:t>
            </a:r>
            <a:r>
              <a:rPr lang="en-US" altLang="zh-TW" sz="2200" i="1" dirty="0">
                <a:sym typeface="Symbol" pitchFamily="18" charset="2"/>
              </a:rPr>
              <a:t>m</a:t>
            </a:r>
            <a:r>
              <a:rPr lang="en-US" altLang="zh-TW" sz="2200" dirty="0">
                <a:sym typeface="Symbol" pitchFamily="18" charset="2"/>
              </a:rPr>
              <a:t>), then</a:t>
            </a:r>
            <a:r>
              <a:rPr lang="en-US" altLang="zh-TW" sz="2200" i="1" dirty="0">
                <a:sym typeface="Symbol" pitchFamily="18" charset="2"/>
              </a:rPr>
              <a:t>  i</a:t>
            </a:r>
            <a:r>
              <a:rPr lang="en-US" altLang="zh-TW" sz="2200" baseline="-25000" dirty="0">
                <a:sym typeface="Symbol" pitchFamily="18" charset="2"/>
              </a:rPr>
              <a:t>1</a:t>
            </a:r>
            <a:r>
              <a:rPr lang="en-US" altLang="zh-TW" sz="2200" i="1" dirty="0">
                <a:sym typeface="Symbol" pitchFamily="18" charset="2"/>
              </a:rPr>
              <a:t>n</a:t>
            </a:r>
            <a:r>
              <a:rPr lang="en-US" altLang="zh-TW" sz="2200" dirty="0">
                <a:sym typeface="Symbol" pitchFamily="18" charset="2"/>
              </a:rPr>
              <a:t>  </a:t>
            </a:r>
            <a:r>
              <a:rPr lang="en-US" altLang="zh-TW" sz="2200" i="1" dirty="0">
                <a:sym typeface="Symbol" pitchFamily="18" charset="2"/>
              </a:rPr>
              <a:t>i</a:t>
            </a:r>
            <a:r>
              <a:rPr lang="en-US" altLang="zh-TW" sz="2200" baseline="-25000" dirty="0">
                <a:sym typeface="Symbol" pitchFamily="18" charset="2"/>
              </a:rPr>
              <a:t>2</a:t>
            </a:r>
            <a:r>
              <a:rPr lang="en-US" altLang="zh-TW" sz="800" baseline="-250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n</a:t>
            </a:r>
            <a:r>
              <a:rPr lang="en-US" altLang="zh-TW" sz="2200" dirty="0">
                <a:sym typeface="Symbol" pitchFamily="18" charset="2"/>
              </a:rPr>
              <a:t>  (mod </a:t>
            </a:r>
            <a:r>
              <a:rPr lang="en-US" altLang="zh-TW" sz="2200" i="1" dirty="0">
                <a:sym typeface="Symbol" pitchFamily="18" charset="2"/>
              </a:rPr>
              <a:t>m</a:t>
            </a:r>
            <a:r>
              <a:rPr lang="en-US" altLang="zh-TW" sz="2200" dirty="0">
                <a:sym typeface="Symbol" pitchFamily="18" charset="2"/>
              </a:rPr>
              <a:t>), and hence  </a:t>
            </a:r>
            <a:r>
              <a:rPr lang="en-US" altLang="zh-TW" sz="2200" i="1" dirty="0">
                <a:sym typeface="Symbol" pitchFamily="18" charset="2"/>
              </a:rPr>
              <a:t>i</a:t>
            </a:r>
            <a:r>
              <a:rPr lang="en-US" altLang="zh-TW" sz="2200" baseline="-25000" dirty="0">
                <a:sym typeface="Symbol" pitchFamily="18" charset="2"/>
              </a:rPr>
              <a:t>1 </a:t>
            </a:r>
            <a:r>
              <a:rPr lang="en-US" altLang="zh-TW" sz="2200" dirty="0">
                <a:sym typeface="Symbol" pitchFamily="18" charset="2"/>
              </a:rPr>
              <a:t> </a:t>
            </a:r>
            <a:r>
              <a:rPr lang="en-US" altLang="zh-TW" sz="2200" i="1" dirty="0">
                <a:sym typeface="Symbol" pitchFamily="18" charset="2"/>
              </a:rPr>
              <a:t>i</a:t>
            </a:r>
            <a:r>
              <a:rPr lang="en-US" altLang="zh-TW" sz="2200" baseline="-25000" dirty="0">
                <a:sym typeface="Symbol" pitchFamily="18" charset="2"/>
              </a:rPr>
              <a:t>2</a:t>
            </a:r>
            <a:r>
              <a:rPr lang="en-US" altLang="zh-TW" sz="2200" dirty="0">
                <a:sym typeface="Symbol" pitchFamily="18" charset="2"/>
              </a:rPr>
              <a:t>  (mod </a:t>
            </a:r>
            <a:r>
              <a:rPr lang="en-US" altLang="zh-TW" sz="2200" i="1" dirty="0">
                <a:sym typeface="Symbol" pitchFamily="18" charset="2"/>
              </a:rPr>
              <a:t>m</a:t>
            </a:r>
            <a:r>
              <a:rPr lang="en-US" altLang="zh-TW" sz="2200" dirty="0">
                <a:sym typeface="Symbol" pitchFamily="18" charset="2"/>
              </a:rPr>
              <a:t>)  since </a:t>
            </a:r>
            <a:r>
              <a:rPr lang="en-US" altLang="zh-TW" sz="2200" i="1" dirty="0">
                <a:sym typeface="Symbol" pitchFamily="18" charset="2"/>
              </a:rPr>
              <a:t>m</a:t>
            </a:r>
            <a:r>
              <a:rPr lang="en-US" altLang="zh-TW" sz="2200" dirty="0">
                <a:sym typeface="Symbol" pitchFamily="18" charset="2"/>
              </a:rPr>
              <a:t>  </a:t>
            </a:r>
            <a:r>
              <a:rPr lang="en-US" altLang="zh-TW" sz="2200" i="1" dirty="0">
                <a:sym typeface="Symbol" pitchFamily="18" charset="2"/>
              </a:rPr>
              <a:t>n</a:t>
            </a:r>
            <a:r>
              <a:rPr lang="en-US" altLang="zh-TW" sz="2200" dirty="0">
                <a:sym typeface="Symbol" pitchFamily="18" charset="2"/>
              </a:rPr>
              <a:t>,  which implies 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i</a:t>
            </a:r>
            <a:r>
              <a:rPr lang="en-US" altLang="zh-TW" sz="2200" baseline="-25000" dirty="0">
                <a:sym typeface="Symbol" pitchFamily="18" charset="2"/>
              </a:rPr>
              <a:t>1 </a:t>
            </a:r>
            <a:r>
              <a:rPr lang="en-US" altLang="zh-TW" sz="2200" dirty="0">
                <a:sym typeface="Symbol" pitchFamily="18" charset="2"/>
              </a:rPr>
              <a:t>= </a:t>
            </a:r>
            <a:r>
              <a:rPr lang="en-US" altLang="zh-TW" sz="2200" i="1" dirty="0">
                <a:sym typeface="Symbol" pitchFamily="18" charset="2"/>
              </a:rPr>
              <a:t>i</a:t>
            </a:r>
            <a:r>
              <a:rPr lang="en-US" altLang="zh-TW" sz="2200" baseline="-25000" dirty="0">
                <a:sym typeface="Symbol" pitchFamily="18" charset="2"/>
              </a:rPr>
              <a:t>2</a:t>
            </a:r>
            <a:r>
              <a:rPr lang="en-US" altLang="zh-TW" sz="2200" dirty="0">
                <a:sym typeface="Symbol" pitchFamily="18" charset="2"/>
              </a:rPr>
              <a:t> since 0  </a:t>
            </a:r>
            <a:r>
              <a:rPr lang="en-US" altLang="zh-TW" sz="2200" i="1" dirty="0">
                <a:sym typeface="Symbol" pitchFamily="18" charset="2"/>
              </a:rPr>
              <a:t>i</a:t>
            </a:r>
            <a:r>
              <a:rPr lang="en-US" altLang="zh-TW" sz="2200" baseline="-25000" dirty="0">
                <a:sym typeface="Symbol" pitchFamily="18" charset="2"/>
              </a:rPr>
              <a:t>1</a:t>
            </a:r>
            <a:r>
              <a:rPr lang="en-US" altLang="zh-TW" sz="2200" dirty="0">
                <a:sym typeface="Symbol" pitchFamily="18" charset="2"/>
              </a:rPr>
              <a:t>, </a:t>
            </a:r>
            <a:r>
              <a:rPr lang="en-US" altLang="zh-TW" sz="2200" i="1" dirty="0">
                <a:sym typeface="Symbol" pitchFamily="18" charset="2"/>
              </a:rPr>
              <a:t>i</a:t>
            </a:r>
            <a:r>
              <a:rPr lang="en-US" altLang="zh-TW" sz="2200" baseline="-25000" dirty="0">
                <a:sym typeface="Symbol" pitchFamily="18" charset="2"/>
              </a:rPr>
              <a:t>2</a:t>
            </a:r>
            <a:r>
              <a:rPr lang="en-US" altLang="zh-TW" sz="2200" dirty="0">
                <a:sym typeface="Symbol" pitchFamily="18" charset="2"/>
              </a:rPr>
              <a:t> &lt; </a:t>
            </a:r>
            <a:r>
              <a:rPr lang="en-US" altLang="zh-TW" sz="2200" i="1" dirty="0">
                <a:sym typeface="Symbol" pitchFamily="18" charset="2"/>
              </a:rPr>
              <a:t>m</a:t>
            </a:r>
            <a:r>
              <a:rPr lang="en-US" altLang="zh-TW" sz="2200" dirty="0">
                <a:sym typeface="Symbol" pitchFamily="18" charset="2"/>
              </a:rPr>
              <a:t>.  So </a:t>
            </a:r>
            <a:r>
              <a:rPr lang="en-US" altLang="zh-TW" sz="2200" i="1" dirty="0">
                <a:sym typeface="Symbol" pitchFamily="18" charset="2"/>
              </a:rPr>
              <a:t>C</a:t>
            </a:r>
            <a:r>
              <a:rPr lang="en-US" altLang="zh-TW" sz="2200" i="1" baseline="-250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is a complete residue system modulo </a:t>
            </a:r>
            <a:r>
              <a:rPr lang="en-US" altLang="zh-TW" sz="2200" i="1" dirty="0">
                <a:sym typeface="Symbol" pitchFamily="18" charset="2"/>
              </a:rPr>
              <a:t>m</a:t>
            </a:r>
            <a:r>
              <a:rPr lang="en-US" altLang="zh-TW" sz="2200" dirty="0">
                <a:sym typeface="Symbol" pitchFamily="18" charset="2"/>
              </a:rPr>
              <a:t>, and there are </a:t>
            </a:r>
            <a:r>
              <a:rPr lang="en-US" altLang="zh-TW" sz="2200" i="1" dirty="0">
                <a:sym typeface="Symbol" pitchFamily="18" charset="2"/>
              </a:rPr>
              <a:t></a:t>
            </a:r>
            <a:r>
              <a:rPr lang="en-US" altLang="zh-TW" sz="2200" dirty="0">
                <a:sym typeface="Symbol" pitchFamily="18" charset="2"/>
              </a:rPr>
              <a:t> (</a:t>
            </a:r>
            <a:r>
              <a:rPr lang="en-US" altLang="zh-TW" sz="2200" i="1" dirty="0">
                <a:sym typeface="Symbol" pitchFamily="18" charset="2"/>
              </a:rPr>
              <a:t>m</a:t>
            </a:r>
            <a:r>
              <a:rPr lang="en-US" altLang="zh-TW" sz="2200" dirty="0">
                <a:sym typeface="Symbol" pitchFamily="18" charset="2"/>
              </a:rPr>
              <a:t>) integers  </a:t>
            </a:r>
            <a:r>
              <a:rPr lang="en-US" altLang="zh-TW" sz="2200" i="1" dirty="0">
                <a:sym typeface="Symbol" pitchFamily="18" charset="2"/>
              </a:rPr>
              <a:t>m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 in </a:t>
            </a:r>
            <a:r>
              <a:rPr lang="en-US" altLang="zh-TW" sz="2200" i="1" dirty="0">
                <a:sym typeface="Symbol" pitchFamily="18" charset="2"/>
              </a:rPr>
              <a:t>C</a:t>
            </a:r>
            <a:r>
              <a:rPr lang="en-US" altLang="zh-TW" sz="2200" dirty="0">
                <a:sym typeface="Symbol" pitchFamily="18" charset="2"/>
              </a:rPr>
              <a:t>. </a:t>
            </a:r>
          </a:p>
          <a:p>
            <a:pPr marL="839788" lvl="1" indent="-495300"/>
            <a:r>
              <a:rPr lang="en-US" altLang="zh-TW" sz="2200" dirty="0">
                <a:sym typeface="Symbol" pitchFamily="18" charset="2"/>
              </a:rPr>
              <a:t>Therefore </a:t>
            </a:r>
            <a:r>
              <a:rPr lang="en-US" altLang="zh-TW" sz="2200" i="1" dirty="0">
                <a:sym typeface="Symbol" pitchFamily="18" charset="2"/>
              </a:rPr>
              <a:t> </a:t>
            </a:r>
            <a:r>
              <a:rPr lang="en-US" altLang="zh-TW" sz="2200" dirty="0">
                <a:sym typeface="Symbol" pitchFamily="18" charset="2"/>
              </a:rPr>
              <a:t>(</a:t>
            </a:r>
            <a:r>
              <a:rPr lang="en-US" altLang="zh-TW" sz="2200" i="1" dirty="0" err="1">
                <a:sym typeface="Symbol" pitchFamily="18" charset="2"/>
              </a:rPr>
              <a:t>mn</a:t>
            </a:r>
            <a:r>
              <a:rPr lang="en-US" altLang="zh-TW" sz="2200" dirty="0">
                <a:sym typeface="Symbol" pitchFamily="18" charset="2"/>
              </a:rPr>
              <a:t>) = </a:t>
            </a:r>
            <a:r>
              <a:rPr lang="en-US" altLang="zh-TW" sz="2200" i="1" dirty="0">
                <a:sym typeface="Symbol" pitchFamily="18" charset="2"/>
              </a:rPr>
              <a:t>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(</a:t>
            </a:r>
            <a:r>
              <a:rPr lang="en-US" altLang="zh-TW" sz="2200" i="1" dirty="0">
                <a:sym typeface="Symbol" pitchFamily="18" charset="2"/>
              </a:rPr>
              <a:t>m</a:t>
            </a:r>
            <a:r>
              <a:rPr lang="en-US" altLang="zh-TW" sz="2200" dirty="0">
                <a:sym typeface="Symbol" pitchFamily="18" charset="2"/>
              </a:rPr>
              <a:t>)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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(</a:t>
            </a:r>
            <a:r>
              <a:rPr lang="en-US" altLang="zh-TW" sz="2200" i="1" dirty="0">
                <a:sym typeface="Symbol" pitchFamily="18" charset="2"/>
              </a:rPr>
              <a:t>n</a:t>
            </a:r>
            <a:r>
              <a:rPr lang="en-US" altLang="zh-TW" sz="2200" dirty="0">
                <a:sym typeface="Symbol" pitchFamily="18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3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3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73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投影片編號版面配置區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6315F36C-86A6-4824-A8A5-8E63316DB0B9}" type="slidenum">
              <a:rPr kumimoji="0" lang="en-US" altLang="zh-TW" smtClean="0"/>
              <a:pPr eaLnBrk="1" hangingPunct="1"/>
              <a:t>52</a:t>
            </a:fld>
            <a:endParaRPr kumimoji="0" lang="en-US" altLang="zh-TW"/>
          </a:p>
        </p:txBody>
      </p:sp>
      <p:sp>
        <p:nvSpPr>
          <p:cNvPr id="55301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/>
              <a:t>Euler's Phi Function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362950" cy="4411662"/>
          </a:xfrm>
        </p:spPr>
        <p:txBody>
          <a:bodyPr/>
          <a:lstStyle/>
          <a:p>
            <a:r>
              <a:rPr lang="en-US" altLang="zh-TW" b="1" dirty="0">
                <a:sym typeface="Symbol" pitchFamily="18" charset="2"/>
              </a:rPr>
              <a:t>Proposition</a:t>
            </a:r>
            <a:r>
              <a:rPr lang="en-US" altLang="zh-TW" dirty="0">
                <a:sym typeface="Symbol" pitchFamily="18" charset="2"/>
              </a:rPr>
              <a:t> </a:t>
            </a:r>
            <a:r>
              <a:rPr lang="zh-TW" altLang="en-US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If</a:t>
            </a:r>
            <a:r>
              <a:rPr lang="en-US" altLang="zh-TW" baseline="-25000" dirty="0">
                <a:sym typeface="Symbol" pitchFamily="18" charset="2"/>
              </a:rPr>
              <a:t>  </a:t>
            </a:r>
            <a:r>
              <a:rPr lang="en-US" altLang="zh-TW" i="1" dirty="0">
                <a:sym typeface="Symbol" pitchFamily="18" charset="2"/>
              </a:rPr>
              <a:t>n</a:t>
            </a:r>
            <a:r>
              <a:rPr lang="en-US" altLang="zh-TW" dirty="0">
                <a:sym typeface="Symbol" pitchFamily="18" charset="2"/>
              </a:rPr>
              <a:t> =             is the prime power </a:t>
            </a:r>
          </a:p>
          <a:p>
            <a:endParaRPr lang="en-US" altLang="zh-TW" sz="800" dirty="0">
              <a:sym typeface="Symbol" pitchFamily="18" charset="2"/>
            </a:endParaRPr>
          </a:p>
          <a:p>
            <a:pPr>
              <a:buNone/>
            </a:pPr>
            <a:r>
              <a:rPr lang="en-US" altLang="zh-TW" dirty="0">
                <a:sym typeface="Symbol" pitchFamily="18" charset="2"/>
              </a:rPr>
              <a:t>	factorization of</a:t>
            </a:r>
            <a:r>
              <a:rPr lang="en-US" altLang="zh-TW" baseline="-25000" dirty="0">
                <a:sym typeface="Symbol" pitchFamily="18" charset="2"/>
              </a:rPr>
              <a:t>  </a:t>
            </a:r>
            <a:r>
              <a:rPr lang="en-US" altLang="zh-TW" i="1" dirty="0">
                <a:sym typeface="Symbol" pitchFamily="18" charset="2"/>
              </a:rPr>
              <a:t>n</a:t>
            </a:r>
            <a:r>
              <a:rPr lang="en-US" altLang="zh-TW" dirty="0">
                <a:sym typeface="Symbol" pitchFamily="18" charset="2"/>
              </a:rPr>
              <a:t>, then </a:t>
            </a:r>
            <a:r>
              <a:rPr lang="en-US" altLang="zh-TW" i="1" dirty="0">
                <a:sym typeface="Symbol" pitchFamily="18" charset="2"/>
              </a:rPr>
              <a:t></a:t>
            </a:r>
            <a:r>
              <a:rPr lang="en-US" altLang="zh-TW" dirty="0">
                <a:sym typeface="Symbol" pitchFamily="18" charset="2"/>
              </a:rPr>
              <a:t> (</a:t>
            </a:r>
            <a:r>
              <a:rPr lang="en-US" altLang="zh-TW" i="1" dirty="0">
                <a:sym typeface="Symbol" pitchFamily="18" charset="2"/>
              </a:rPr>
              <a:t>n</a:t>
            </a:r>
            <a:r>
              <a:rPr lang="en-US" altLang="zh-TW" dirty="0">
                <a:sym typeface="Symbol" pitchFamily="18" charset="2"/>
              </a:rPr>
              <a:t>) =                  </a:t>
            </a:r>
          </a:p>
          <a:p>
            <a:endParaRPr lang="en-US" altLang="zh-TW" sz="800" b="1" u="sng" dirty="0">
              <a:sym typeface="Symbol" pitchFamily="18" charset="2"/>
            </a:endParaRP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zh-TW" b="1" dirty="0">
                <a:sym typeface="Symbol" pitchFamily="18" charset="2"/>
              </a:rPr>
              <a:t>Example</a:t>
            </a:r>
            <a:r>
              <a:rPr lang="en-US" altLang="zh-TW" dirty="0">
                <a:sym typeface="Symbol" pitchFamily="18" charset="2"/>
              </a:rPr>
              <a:t>  </a:t>
            </a:r>
          </a:p>
          <a:p>
            <a:pPr lvl="1">
              <a:spcBef>
                <a:spcPts val="600"/>
              </a:spcBef>
              <a:spcAft>
                <a:spcPts val="300"/>
              </a:spcAft>
            </a:pPr>
            <a:r>
              <a:rPr lang="en-US" altLang="zh-TW" i="1" dirty="0">
                <a:sym typeface="Symbol" pitchFamily="18" charset="2"/>
              </a:rPr>
              <a:t>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(360) = 2</a:t>
            </a:r>
            <a:r>
              <a:rPr lang="en-US" altLang="zh-TW" baseline="30000" dirty="0">
                <a:sym typeface="Symbol" pitchFamily="18" charset="2"/>
              </a:rPr>
              <a:t>2 </a:t>
            </a:r>
            <a:r>
              <a:rPr lang="en-US" altLang="zh-TW" dirty="0">
                <a:sym typeface="Symbol" pitchFamily="18" charset="2"/>
              </a:rPr>
              <a:t>(2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1)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 </a:t>
            </a:r>
            <a:r>
              <a:rPr lang="en-US" altLang="zh-TW" dirty="0">
                <a:sym typeface="Symbol" pitchFamily="18" charset="2"/>
              </a:rPr>
              <a:t>3 (3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1)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 </a:t>
            </a:r>
            <a:r>
              <a:rPr lang="en-US" altLang="zh-TW" dirty="0">
                <a:sym typeface="Symbol" pitchFamily="18" charset="2"/>
              </a:rPr>
              <a:t>(5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1) = 96</a:t>
            </a:r>
          </a:p>
          <a:p>
            <a:pPr lvl="2">
              <a:spcBef>
                <a:spcPts val="600"/>
              </a:spcBef>
              <a:spcAft>
                <a:spcPts val="300"/>
              </a:spcAft>
            </a:pPr>
            <a:r>
              <a:rPr lang="en-US" altLang="zh-TW" sz="2200" dirty="0">
                <a:sym typeface="Symbol" pitchFamily="18" charset="2"/>
              </a:rPr>
              <a:t>360 = 2</a:t>
            </a:r>
            <a:r>
              <a:rPr lang="en-US" altLang="zh-TW" sz="2200" baseline="30000" dirty="0">
                <a:sym typeface="Symbol" pitchFamily="18" charset="2"/>
              </a:rPr>
              <a:t>3</a:t>
            </a:r>
            <a:r>
              <a:rPr lang="en-US" altLang="zh-TW" sz="2200" i="1" dirty="0">
                <a:sym typeface="Symbol" pitchFamily="18" charset="2"/>
              </a:rPr>
              <a:t> </a:t>
            </a:r>
            <a:r>
              <a:rPr lang="en-US" altLang="zh-TW" sz="2200" dirty="0">
                <a:sym typeface="Symbol" pitchFamily="18" charset="2"/>
              </a:rPr>
              <a:t>3</a:t>
            </a:r>
            <a:r>
              <a:rPr lang="en-US" altLang="zh-TW" sz="2200" baseline="30000" dirty="0">
                <a:sym typeface="Symbol" pitchFamily="18" charset="2"/>
              </a:rPr>
              <a:t>2</a:t>
            </a:r>
            <a:r>
              <a:rPr lang="en-US" altLang="zh-TW" sz="2200" i="1" dirty="0">
                <a:sym typeface="Symbol" pitchFamily="18" charset="2"/>
              </a:rPr>
              <a:t> </a:t>
            </a:r>
            <a:r>
              <a:rPr lang="en-US" altLang="zh-TW" sz="2200" dirty="0">
                <a:sym typeface="Symbol" pitchFamily="18" charset="2"/>
              </a:rPr>
              <a:t>5</a:t>
            </a:r>
          </a:p>
          <a:p>
            <a:pPr lvl="1">
              <a:spcBef>
                <a:spcPts val="600"/>
              </a:spcBef>
              <a:spcAft>
                <a:spcPts val="300"/>
              </a:spcAft>
            </a:pPr>
            <a:r>
              <a:rPr lang="en-US" altLang="zh-TW" i="1" dirty="0">
                <a:sym typeface="Symbol" pitchFamily="18" charset="2"/>
              </a:rPr>
              <a:t>|</a:t>
            </a:r>
            <a:r>
              <a:rPr lang="en-US" altLang="zh-TW" i="1" baseline="-25000" dirty="0">
                <a:sym typeface="Symbol" pitchFamily="18" charset="2"/>
              </a:rPr>
              <a:t> </a:t>
            </a:r>
            <a:r>
              <a:rPr lang="en-US" altLang="zh-TW" b="1" i="1" dirty="0">
                <a:sym typeface="Symbol" pitchFamily="18" charset="2"/>
              </a:rPr>
              <a:t>Z</a:t>
            </a:r>
            <a:r>
              <a:rPr lang="en-US" altLang="zh-TW" baseline="-25000" dirty="0">
                <a:sym typeface="Symbol" pitchFamily="18" charset="2"/>
              </a:rPr>
              <a:t>208</a:t>
            </a:r>
            <a:r>
              <a:rPr lang="en-US" altLang="zh-TW" dirty="0">
                <a:sym typeface="Symbol" pitchFamily="18" charset="2"/>
              </a:rPr>
              <a:t>*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| = </a:t>
            </a:r>
            <a:r>
              <a:rPr lang="en-US" altLang="zh-TW" i="1" dirty="0">
                <a:sym typeface="Symbol" pitchFamily="18" charset="2"/>
              </a:rPr>
              <a:t>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(208) = 2</a:t>
            </a:r>
            <a:r>
              <a:rPr lang="en-US" altLang="zh-TW" baseline="30000" dirty="0">
                <a:sym typeface="Symbol" pitchFamily="18" charset="2"/>
              </a:rPr>
              <a:t>3 </a:t>
            </a:r>
            <a:r>
              <a:rPr lang="en-US" altLang="zh-TW" dirty="0">
                <a:sym typeface="Symbol" pitchFamily="18" charset="2"/>
              </a:rPr>
              <a:t>(2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1)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 </a:t>
            </a:r>
            <a:r>
              <a:rPr lang="en-US" altLang="zh-TW" dirty="0">
                <a:sym typeface="Symbol" pitchFamily="18" charset="2"/>
              </a:rPr>
              <a:t>(13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1) = 8</a:t>
            </a:r>
            <a:r>
              <a:rPr lang="en-US" altLang="zh-TW" baseline="-25000" dirty="0">
                <a:sym typeface="Symbol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</a:t>
            </a:r>
            <a:r>
              <a:rPr lang="en-US" altLang="zh-TW" i="1" baseline="-25000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12 = 96</a:t>
            </a:r>
          </a:p>
          <a:p>
            <a:pPr lvl="2">
              <a:spcBef>
                <a:spcPts val="600"/>
              </a:spcBef>
              <a:spcAft>
                <a:spcPts val="300"/>
              </a:spcAft>
            </a:pPr>
            <a:r>
              <a:rPr lang="en-US" altLang="zh-TW" sz="2200" dirty="0">
                <a:sym typeface="Symbol" pitchFamily="18" charset="2"/>
              </a:rPr>
              <a:t>208 = 2</a:t>
            </a:r>
            <a:r>
              <a:rPr lang="en-US" altLang="zh-TW" sz="2200" baseline="30000" dirty="0">
                <a:sym typeface="Symbol" pitchFamily="18" charset="2"/>
              </a:rPr>
              <a:t>4</a:t>
            </a:r>
            <a:r>
              <a:rPr lang="en-US" altLang="zh-TW" sz="2200" baseline="-25000" dirty="0">
                <a:sym typeface="Symbol" pitchFamily="18" charset="2"/>
              </a:rPr>
              <a:t> </a:t>
            </a:r>
            <a:r>
              <a:rPr lang="en-US" altLang="zh-TW" sz="2200" i="1" dirty="0">
                <a:sym typeface="Symbol" pitchFamily="18" charset="2"/>
              </a:rPr>
              <a:t></a:t>
            </a:r>
            <a:r>
              <a:rPr lang="en-US" altLang="zh-TW" sz="2200" i="1" baseline="-250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13</a:t>
            </a:r>
          </a:p>
          <a:p>
            <a:pPr>
              <a:buFont typeface="Wingdings" pitchFamily="2" charset="2"/>
              <a:buNone/>
            </a:pPr>
            <a:endParaRPr lang="en-US" altLang="zh-TW" sz="2200" dirty="0"/>
          </a:p>
        </p:txBody>
      </p:sp>
      <p:graphicFrame>
        <p:nvGraphicFramePr>
          <p:cNvPr id="185351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214813" y="1484313"/>
          <a:ext cx="1296987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" imgH="431800" progId="Equation.DSMT4">
                  <p:embed/>
                </p:oleObj>
              </mc:Choice>
              <mc:Fallback>
                <p:oleObj name="Equation" r:id="rId2" imgW="457200" imgH="431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1484313"/>
                        <a:ext cx="1296987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4" name="Object 3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4071400848"/>
              </p:ext>
            </p:extLst>
          </p:nvPr>
        </p:nvGraphicFramePr>
        <p:xfrm>
          <a:off x="5929313" y="2205038"/>
          <a:ext cx="273685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800" imgH="431800" progId="Equation.DSMT4">
                  <p:embed/>
                </p:oleObj>
              </mc:Choice>
              <mc:Fallback>
                <p:oleObj name="Equation" r:id="rId4" imgW="10668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3" y="2205038"/>
                        <a:ext cx="2736850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5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5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5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5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5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5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5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5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5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85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6E6B5A5B-716E-4C19-B139-7CDE0EBE6D5C}" type="slidenum">
              <a:rPr kumimoji="0" lang="en-US" altLang="zh-TW" smtClean="0"/>
              <a:pPr eaLnBrk="1" hangingPunct="1"/>
              <a:t>53</a:t>
            </a:fld>
            <a:endParaRPr kumimoji="0" lang="en-US" altLang="zh-TW"/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/>
              <a:t>Reduced</a:t>
            </a:r>
            <a:r>
              <a:rPr lang="zh-TW" altLang="en-US" sz="4000"/>
              <a:t> </a:t>
            </a:r>
            <a:r>
              <a:rPr lang="en-US" altLang="zh-TW" sz="4000"/>
              <a:t>Residue System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362950" cy="4446587"/>
          </a:xfrm>
        </p:spPr>
        <p:txBody>
          <a:bodyPr/>
          <a:lstStyle/>
          <a:p>
            <a:r>
              <a:rPr lang="en-US" altLang="zh-TW" b="1" dirty="0"/>
              <a:t>Definition</a:t>
            </a:r>
            <a:r>
              <a:rPr lang="en-US" altLang="zh-TW" sz="2600" dirty="0"/>
              <a:t>  A set </a:t>
            </a:r>
            <a:r>
              <a:rPr lang="en-US" altLang="zh-TW" sz="2600" baseline="-25000" dirty="0"/>
              <a:t> </a:t>
            </a:r>
            <a:r>
              <a:rPr lang="en-US" altLang="zh-TW" sz="2600" i="1" dirty="0"/>
              <a:t>R</a:t>
            </a:r>
            <a:r>
              <a:rPr lang="en-US" altLang="zh-TW" sz="2600" dirty="0"/>
              <a:t> of </a:t>
            </a:r>
            <a:r>
              <a:rPr lang="en-US" altLang="zh-TW" sz="2600" i="1" dirty="0">
                <a:sym typeface="Symbol" pitchFamily="18" charset="2"/>
              </a:rPr>
              <a:t>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(</a:t>
            </a:r>
            <a:r>
              <a:rPr lang="en-US" altLang="zh-TW" sz="2600" i="1" dirty="0">
                <a:sym typeface="Symbol" pitchFamily="18" charset="2"/>
              </a:rPr>
              <a:t>n</a:t>
            </a:r>
            <a:r>
              <a:rPr lang="en-US" altLang="zh-TW" sz="2600" dirty="0">
                <a:sym typeface="Symbol" pitchFamily="18" charset="2"/>
              </a:rPr>
              <a:t>) integers is a</a:t>
            </a:r>
            <a:r>
              <a:rPr lang="en-US" altLang="zh-TW" sz="2600" dirty="0"/>
              <a:t> </a:t>
            </a:r>
            <a:r>
              <a:rPr lang="en-US" altLang="zh-TW" sz="2600" b="1" dirty="0">
                <a:solidFill>
                  <a:srgbClr val="9900CC"/>
                </a:solidFill>
              </a:rPr>
              <a:t>reduced</a:t>
            </a:r>
          </a:p>
          <a:p>
            <a:pPr>
              <a:buFont typeface="Wingdings" pitchFamily="2" charset="2"/>
              <a:buNone/>
            </a:pPr>
            <a:r>
              <a:rPr lang="en-US" altLang="zh-TW" sz="2600" b="1" dirty="0">
                <a:solidFill>
                  <a:srgbClr val="9900CC"/>
                </a:solidFill>
              </a:rPr>
              <a:t>	residue system</a:t>
            </a:r>
            <a:r>
              <a:rPr lang="en-US" altLang="zh-TW" sz="2600" dirty="0"/>
              <a:t> if  </a:t>
            </a:r>
            <a:r>
              <a:rPr lang="en-US" altLang="zh-TW" sz="2600" dirty="0">
                <a:sym typeface="Symbol" pitchFamily="18" charset="2"/>
              </a:rPr>
              <a:t>(</a:t>
            </a:r>
            <a:r>
              <a:rPr lang="en-US" altLang="zh-TW" sz="2600" dirty="0" err="1">
                <a:sym typeface="Symbol" pitchFamily="18" charset="2"/>
              </a:rPr>
              <a:t>i</a:t>
            </a:r>
            <a:r>
              <a:rPr lang="en-US" altLang="zh-TW" sz="2600" dirty="0">
                <a:sym typeface="Symbol" pitchFamily="18" charset="2"/>
              </a:rPr>
              <a:t>)  </a:t>
            </a:r>
            <a:r>
              <a:rPr lang="en-US" altLang="zh-TW" sz="2600" i="1" dirty="0">
                <a:sym typeface="Symbol" pitchFamily="18" charset="2"/>
              </a:rPr>
              <a:t>r</a:t>
            </a:r>
            <a:r>
              <a:rPr lang="en-US" altLang="zh-TW" sz="2600" dirty="0">
                <a:sym typeface="Symbol" pitchFamily="18" charset="2"/>
              </a:rPr>
              <a:t> 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n</a:t>
            </a:r>
            <a:r>
              <a:rPr lang="en-US" altLang="zh-TW" sz="2600" dirty="0">
                <a:sym typeface="Symbol" pitchFamily="18" charset="2"/>
              </a:rPr>
              <a:t>  for every  </a:t>
            </a:r>
            <a:r>
              <a:rPr lang="en-US" altLang="zh-TW" sz="2600" i="1" dirty="0">
                <a:sym typeface="Symbol" pitchFamily="18" charset="2"/>
              </a:rPr>
              <a:t>r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</a:t>
            </a:r>
            <a:r>
              <a:rPr lang="en-US" altLang="zh-TW" sz="2600" baseline="-25000" dirty="0"/>
              <a:t> </a:t>
            </a:r>
            <a:r>
              <a:rPr lang="en-US" altLang="zh-TW" sz="2600" i="1" dirty="0"/>
              <a:t>R</a:t>
            </a:r>
          </a:p>
          <a:p>
            <a:pPr>
              <a:buFont typeface="Wingdings" pitchFamily="2" charset="2"/>
              <a:buNone/>
            </a:pPr>
            <a:r>
              <a:rPr lang="en-US" altLang="zh-TW" sz="2600" dirty="0"/>
              <a:t>				  (ii)  </a:t>
            </a:r>
            <a:r>
              <a:rPr lang="en-US" altLang="zh-TW" sz="2600" i="1" dirty="0"/>
              <a:t>r</a:t>
            </a:r>
            <a:r>
              <a:rPr lang="en-US" altLang="zh-TW" sz="2600" baseline="-25000" dirty="0"/>
              <a:t>1</a:t>
            </a:r>
            <a:r>
              <a:rPr lang="en-US" altLang="zh-TW" sz="2600" i="1" dirty="0"/>
              <a:t> </a:t>
            </a:r>
            <a:r>
              <a:rPr lang="en-US" altLang="zh-TW" sz="2600" dirty="0">
                <a:sym typeface="Symbol" pitchFamily="18" charset="2"/>
              </a:rPr>
              <a:t> </a:t>
            </a:r>
            <a:r>
              <a:rPr lang="en-US" altLang="zh-TW" sz="2600" i="1" dirty="0">
                <a:sym typeface="Symbol" pitchFamily="18" charset="2"/>
              </a:rPr>
              <a:t>r</a:t>
            </a:r>
            <a:r>
              <a:rPr lang="en-US" altLang="zh-TW" sz="2600" baseline="-25000" dirty="0">
                <a:sym typeface="Symbol" pitchFamily="18" charset="2"/>
              </a:rPr>
              <a:t>2</a:t>
            </a:r>
            <a:r>
              <a:rPr lang="en-US" altLang="zh-TW" sz="2600" dirty="0">
                <a:sym typeface="Symbol" pitchFamily="18" charset="2"/>
              </a:rPr>
              <a:t>  (mod </a:t>
            </a:r>
            <a:r>
              <a:rPr lang="en-US" altLang="zh-TW" sz="2600" i="1" dirty="0">
                <a:sym typeface="Symbol" pitchFamily="18" charset="2"/>
              </a:rPr>
              <a:t>n</a:t>
            </a:r>
            <a:r>
              <a:rPr lang="en-US" altLang="zh-TW" sz="2600" dirty="0">
                <a:sym typeface="Symbol" pitchFamily="18" charset="2"/>
              </a:rPr>
              <a:t>)  for all  </a:t>
            </a:r>
            <a:r>
              <a:rPr lang="en-US" altLang="zh-TW" sz="2600" i="1" dirty="0"/>
              <a:t>r</a:t>
            </a:r>
            <a:r>
              <a:rPr lang="en-US" altLang="zh-TW" sz="2600" baseline="-25000" dirty="0"/>
              <a:t>1</a:t>
            </a:r>
            <a:r>
              <a:rPr lang="en-US" altLang="zh-TW" sz="2600" dirty="0">
                <a:sym typeface="Symbol" pitchFamily="18" charset="2"/>
              </a:rPr>
              <a:t>, </a:t>
            </a:r>
            <a:r>
              <a:rPr lang="en-US" altLang="zh-TW" sz="2600" i="1" dirty="0">
                <a:sym typeface="Symbol" pitchFamily="18" charset="2"/>
              </a:rPr>
              <a:t>r</a:t>
            </a:r>
            <a:r>
              <a:rPr lang="en-US" altLang="zh-TW" sz="2600" baseline="-25000" dirty="0">
                <a:sym typeface="Symbol" pitchFamily="18" charset="2"/>
              </a:rPr>
              <a:t>2</a:t>
            </a:r>
            <a:r>
              <a:rPr lang="en-US" altLang="zh-TW" sz="2600" i="1" baseline="-25000" dirty="0">
                <a:sym typeface="Symbol" pitchFamily="18" charset="2"/>
              </a:rPr>
              <a:t> </a:t>
            </a:r>
            <a:r>
              <a:rPr lang="en-US" altLang="zh-TW" sz="2600" dirty="0">
                <a:sym typeface="Symbol" pitchFamily="18" charset="2"/>
              </a:rPr>
              <a:t></a:t>
            </a:r>
            <a:r>
              <a:rPr lang="en-US" altLang="zh-TW" sz="2600" dirty="0"/>
              <a:t> </a:t>
            </a:r>
            <a:r>
              <a:rPr lang="en-US" altLang="zh-TW" sz="2600" i="1" dirty="0"/>
              <a:t>R</a:t>
            </a:r>
          </a:p>
          <a:p>
            <a:r>
              <a:rPr lang="en-US" altLang="zh-TW" b="1" dirty="0"/>
              <a:t>Example</a:t>
            </a:r>
            <a:r>
              <a:rPr lang="en-US" altLang="zh-TW" sz="2600" dirty="0"/>
              <a:t>  </a:t>
            </a:r>
            <a:r>
              <a:rPr lang="en-US" altLang="zh-TW" sz="2600" i="1" dirty="0"/>
              <a:t>n</a:t>
            </a:r>
            <a:r>
              <a:rPr lang="en-US" altLang="zh-TW" sz="2600" dirty="0"/>
              <a:t> = 15,  </a:t>
            </a:r>
            <a:r>
              <a:rPr lang="en-US" altLang="zh-TW" sz="2600" i="1" dirty="0"/>
              <a:t>R</a:t>
            </a:r>
            <a:r>
              <a:rPr lang="en-US" altLang="zh-TW" sz="2600" baseline="-25000" dirty="0"/>
              <a:t>1</a:t>
            </a:r>
            <a:r>
              <a:rPr lang="en-US" altLang="zh-TW" sz="2600" dirty="0"/>
              <a:t> = {1, 2, 4, 7, 8, 11, 13, 14}</a:t>
            </a:r>
          </a:p>
          <a:p>
            <a:pPr>
              <a:buFont typeface="Wingdings" pitchFamily="2" charset="2"/>
              <a:buNone/>
            </a:pPr>
            <a:r>
              <a:rPr lang="en-US" altLang="zh-TW" sz="2600" dirty="0"/>
              <a:t>				     </a:t>
            </a:r>
            <a:r>
              <a:rPr lang="en-US" altLang="zh-TW" sz="2600" i="1" dirty="0"/>
              <a:t>R</a:t>
            </a:r>
            <a:r>
              <a:rPr lang="en-US" altLang="zh-TW" sz="2600" baseline="-25000" dirty="0"/>
              <a:t>2</a:t>
            </a:r>
            <a:r>
              <a:rPr lang="en-US" altLang="zh-TW" sz="2600" dirty="0"/>
              <a:t> = {4, 8, 16, 28, 32, 44, 52, 56}</a:t>
            </a:r>
          </a:p>
          <a:p>
            <a:pPr lvl="1"/>
            <a:r>
              <a:rPr lang="en-US" altLang="zh-TW" dirty="0"/>
              <a:t>Note that  </a:t>
            </a:r>
            <a:r>
              <a:rPr lang="en-US" altLang="zh-TW" i="1" dirty="0"/>
              <a:t>R</a:t>
            </a:r>
            <a:r>
              <a:rPr lang="en-US" altLang="zh-TW" baseline="-25000" dirty="0"/>
              <a:t>2</a:t>
            </a:r>
            <a:r>
              <a:rPr lang="en-US" altLang="zh-TW" dirty="0"/>
              <a:t> </a:t>
            </a:r>
            <a:r>
              <a:rPr lang="en-US" altLang="zh-TW" dirty="0">
                <a:sym typeface="Symbol" pitchFamily="18" charset="2"/>
              </a:rPr>
              <a:t> </a:t>
            </a:r>
            <a:r>
              <a:rPr lang="en-US" altLang="zh-TW" sz="2200" dirty="0">
                <a:sym typeface="Symbol" pitchFamily="18" charset="2"/>
              </a:rPr>
              <a:t>{4, 8, 1, 13, 2, 14, 7, 11}</a:t>
            </a:r>
            <a:r>
              <a:rPr lang="en-US" altLang="zh-TW" dirty="0">
                <a:sym typeface="Symbol" pitchFamily="18" charset="2"/>
              </a:rPr>
              <a:t> </a:t>
            </a:r>
            <a:r>
              <a:rPr lang="en-US" altLang="zh-TW" sz="2000" dirty="0">
                <a:sym typeface="Symbol" pitchFamily="18" charset="2"/>
              </a:rPr>
              <a:t>(mod 15) </a:t>
            </a:r>
            <a:r>
              <a:rPr lang="en-US" altLang="zh-TW" dirty="0">
                <a:sym typeface="Symbol" pitchFamily="18" charset="2"/>
              </a:rPr>
              <a:t>= </a:t>
            </a:r>
            <a:r>
              <a:rPr lang="en-US" altLang="zh-TW" i="1" dirty="0"/>
              <a:t>R</a:t>
            </a:r>
            <a:r>
              <a:rPr lang="en-US" altLang="zh-TW" baseline="-25000" dirty="0"/>
              <a:t>1</a:t>
            </a:r>
          </a:p>
          <a:p>
            <a:pPr lvl="1"/>
            <a:r>
              <a:rPr lang="en-US" altLang="zh-TW" dirty="0"/>
              <a:t>Both </a:t>
            </a:r>
            <a:r>
              <a:rPr lang="en-US" altLang="zh-TW" baseline="-25000" dirty="0"/>
              <a:t> </a:t>
            </a:r>
            <a:r>
              <a:rPr lang="en-US" altLang="zh-TW" i="1" dirty="0"/>
              <a:t>R</a:t>
            </a:r>
            <a:r>
              <a:rPr lang="en-US" altLang="zh-TW" baseline="-25000" dirty="0"/>
              <a:t>1</a:t>
            </a:r>
            <a:r>
              <a:rPr lang="en-US" altLang="zh-TW" dirty="0"/>
              <a:t> and </a:t>
            </a:r>
            <a:r>
              <a:rPr lang="en-US" altLang="zh-TW" baseline="-25000" dirty="0"/>
              <a:t> </a:t>
            </a:r>
            <a:r>
              <a:rPr lang="en-US" altLang="zh-TW" i="1" dirty="0"/>
              <a:t>R</a:t>
            </a:r>
            <a:r>
              <a:rPr lang="en-US" altLang="zh-TW" baseline="-25000" dirty="0"/>
              <a:t>2</a:t>
            </a:r>
            <a:r>
              <a:rPr lang="en-US" altLang="zh-TW" dirty="0"/>
              <a:t> are reduced residue systems</a:t>
            </a:r>
            <a:endParaRPr lang="en-US" altLang="zh-TW" sz="3000" b="1" u="sng" dirty="0"/>
          </a:p>
          <a:p>
            <a:r>
              <a:rPr lang="en-US" altLang="zh-TW" b="1" dirty="0"/>
              <a:t>Proposition</a:t>
            </a:r>
            <a:r>
              <a:rPr lang="en-US" altLang="zh-TW" dirty="0"/>
              <a:t>  </a:t>
            </a:r>
            <a:r>
              <a:rPr lang="en-US" altLang="zh-TW" sz="2600" dirty="0"/>
              <a:t>If  </a:t>
            </a:r>
            <a:r>
              <a:rPr lang="en-US" altLang="zh-TW" sz="2600" i="1" dirty="0"/>
              <a:t>R</a:t>
            </a:r>
            <a:r>
              <a:rPr lang="en-US" altLang="zh-TW" sz="2600" dirty="0"/>
              <a:t>  is a reduced residue system modulo </a:t>
            </a:r>
            <a:r>
              <a:rPr lang="en-US" altLang="zh-TW" sz="2600" i="1" dirty="0"/>
              <a:t>n</a:t>
            </a:r>
            <a:r>
              <a:rPr lang="en-US" altLang="zh-TW" sz="2600" dirty="0"/>
              <a:t>, then so is</a:t>
            </a:r>
            <a:r>
              <a:rPr lang="en-US" altLang="zh-TW" sz="2600" baseline="-25000" dirty="0"/>
              <a:t>  </a:t>
            </a:r>
            <a:r>
              <a:rPr lang="en-US" altLang="zh-TW" sz="2600" dirty="0"/>
              <a:t>{</a:t>
            </a:r>
            <a:r>
              <a:rPr lang="en-US" altLang="zh-TW" sz="2600" baseline="-25000" dirty="0"/>
              <a:t> </a:t>
            </a:r>
            <a:r>
              <a:rPr lang="en-US" altLang="zh-TW" sz="2600" i="1" dirty="0" err="1"/>
              <a:t>ar</a:t>
            </a:r>
            <a:r>
              <a:rPr lang="en-US" altLang="zh-TW" sz="2600" dirty="0"/>
              <a:t> | </a:t>
            </a:r>
            <a:r>
              <a:rPr lang="en-US" altLang="zh-TW" sz="2600" i="1" dirty="0"/>
              <a:t>r</a:t>
            </a:r>
            <a:r>
              <a:rPr lang="en-US" altLang="zh-TW" sz="2600" dirty="0"/>
              <a:t> </a:t>
            </a:r>
            <a:r>
              <a:rPr lang="en-US" altLang="zh-TW" sz="2600" dirty="0">
                <a:sym typeface="Symbol" pitchFamily="18" charset="2"/>
              </a:rPr>
              <a:t></a:t>
            </a:r>
            <a:r>
              <a:rPr lang="en-US" altLang="zh-TW" sz="2600" dirty="0"/>
              <a:t> </a:t>
            </a:r>
            <a:r>
              <a:rPr lang="en-US" altLang="zh-TW" sz="2600" i="1" dirty="0"/>
              <a:t>R</a:t>
            </a:r>
            <a:r>
              <a:rPr lang="en-US" altLang="zh-TW" sz="2600" i="1" baseline="-25000" dirty="0"/>
              <a:t> </a:t>
            </a:r>
            <a:r>
              <a:rPr lang="en-US" altLang="zh-TW" sz="2600" dirty="0"/>
              <a:t>}</a:t>
            </a:r>
            <a:r>
              <a:rPr lang="en-US" altLang="zh-TW" sz="2600" baseline="-25000" dirty="0"/>
              <a:t>  </a:t>
            </a:r>
            <a:r>
              <a:rPr lang="en-US" altLang="zh-TW" sz="2600" dirty="0"/>
              <a:t>for each</a:t>
            </a:r>
            <a:r>
              <a:rPr lang="en-US" altLang="zh-TW" sz="2600" baseline="-25000" dirty="0"/>
              <a:t>  </a:t>
            </a:r>
            <a:r>
              <a:rPr lang="en-US" altLang="zh-TW" sz="2600" i="1" dirty="0"/>
              <a:t>a</a:t>
            </a:r>
            <a:r>
              <a:rPr lang="en-US" altLang="zh-TW" sz="2600" dirty="0"/>
              <a:t> </a:t>
            </a:r>
            <a:r>
              <a:rPr lang="en-US" altLang="zh-TW" sz="2600" dirty="0">
                <a:sym typeface="Symbol" pitchFamily="18" charset="2"/>
              </a:rPr>
              <a:t> </a:t>
            </a:r>
            <a:r>
              <a:rPr lang="en-US" altLang="zh-TW" sz="2600" i="1" dirty="0">
                <a:sym typeface="Symbol" pitchFamily="18" charset="2"/>
              </a:rPr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4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4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4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4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4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4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4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4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4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8BA7FD85-96CD-472C-85FF-10F35ED5CAED}" type="slidenum">
              <a:rPr kumimoji="0" lang="en-US" altLang="zh-TW" smtClean="0"/>
              <a:pPr eaLnBrk="1" hangingPunct="1"/>
              <a:t>54</a:t>
            </a:fld>
            <a:endParaRPr kumimoji="0" lang="en-US" altLang="zh-TW"/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/>
              <a:t>Euler's Theorem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543925" cy="463867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TW" b="1" dirty="0"/>
              <a:t>Euler’s Theorem</a:t>
            </a:r>
            <a:r>
              <a:rPr lang="en-US" altLang="zh-TW" dirty="0"/>
              <a:t>  </a:t>
            </a:r>
            <a:r>
              <a:rPr lang="en-US" altLang="zh-TW" sz="2600" dirty="0"/>
              <a:t>If </a:t>
            </a:r>
            <a:r>
              <a:rPr lang="en-US" altLang="zh-TW" sz="2600" baseline="-25000" dirty="0"/>
              <a:t> </a:t>
            </a:r>
            <a:r>
              <a:rPr lang="en-US" altLang="zh-TW" sz="2600" i="1" dirty="0"/>
              <a:t>a</a:t>
            </a:r>
            <a:r>
              <a:rPr lang="en-US" altLang="zh-TW" sz="2600" dirty="0"/>
              <a:t> </a:t>
            </a:r>
            <a:r>
              <a:rPr lang="en-US" altLang="zh-TW" sz="2600" dirty="0">
                <a:sym typeface="Symbol" pitchFamily="18" charset="2"/>
              </a:rPr>
              <a:t> </a:t>
            </a:r>
            <a:r>
              <a:rPr lang="en-US" altLang="zh-TW" sz="2600" i="1" dirty="0">
                <a:sym typeface="Symbol" pitchFamily="18" charset="2"/>
              </a:rPr>
              <a:t>n</a:t>
            </a:r>
            <a:r>
              <a:rPr lang="en-US" altLang="zh-TW" sz="2600" dirty="0">
                <a:sym typeface="Symbol" pitchFamily="18" charset="2"/>
              </a:rPr>
              <a:t>, then </a:t>
            </a:r>
            <a:r>
              <a:rPr lang="en-US" altLang="zh-TW" sz="2600" baseline="-25000" dirty="0">
                <a:sym typeface="Symbol" pitchFamily="18" charset="2"/>
              </a:rPr>
              <a:t> </a:t>
            </a:r>
            <a:r>
              <a:rPr lang="en-US" altLang="zh-TW" sz="2600" i="1" dirty="0">
                <a:sym typeface="Symbol" pitchFamily="18" charset="2"/>
              </a:rPr>
              <a:t>a</a:t>
            </a:r>
            <a:r>
              <a:rPr lang="en-US" altLang="zh-TW" sz="1200" i="1" baseline="-25000" dirty="0">
                <a:sym typeface="Symbol" pitchFamily="18" charset="2"/>
              </a:rPr>
              <a:t> </a:t>
            </a:r>
            <a:r>
              <a:rPr lang="en-US" altLang="zh-TW" sz="2600" i="1" baseline="50000" dirty="0">
                <a:sym typeface="Symbol" pitchFamily="18" charset="2"/>
              </a:rPr>
              <a:t></a:t>
            </a:r>
            <a:r>
              <a:rPr lang="en-US" altLang="zh-TW" sz="1200" baseline="50000" dirty="0">
                <a:sym typeface="Symbol" pitchFamily="18" charset="2"/>
              </a:rPr>
              <a:t> </a:t>
            </a:r>
            <a:r>
              <a:rPr lang="en-US" altLang="zh-TW" sz="2600" baseline="50000" dirty="0">
                <a:sym typeface="Symbol" pitchFamily="18" charset="2"/>
              </a:rPr>
              <a:t>(</a:t>
            </a:r>
            <a:r>
              <a:rPr lang="en-US" altLang="zh-TW" sz="2600" i="1" baseline="50000" dirty="0">
                <a:sym typeface="Symbol" pitchFamily="18" charset="2"/>
              </a:rPr>
              <a:t>n</a:t>
            </a:r>
            <a:r>
              <a:rPr lang="en-US" altLang="zh-TW" sz="2600" baseline="50000" dirty="0">
                <a:sym typeface="Symbol" pitchFamily="18" charset="2"/>
              </a:rPr>
              <a:t>) </a:t>
            </a:r>
            <a:r>
              <a:rPr lang="en-US" altLang="zh-TW" sz="2600" dirty="0">
                <a:sym typeface="Symbol" pitchFamily="18" charset="2"/>
              </a:rPr>
              <a:t> 1 (mod </a:t>
            </a:r>
            <a:r>
              <a:rPr lang="en-US" altLang="zh-TW" sz="2600" i="1" dirty="0">
                <a:sym typeface="Symbol" pitchFamily="18" charset="2"/>
              </a:rPr>
              <a:t>n</a:t>
            </a:r>
            <a:r>
              <a:rPr lang="en-US" altLang="zh-TW" sz="2600" dirty="0">
                <a:sym typeface="Symbol" pitchFamily="18" charset="2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altLang="zh-TW" sz="2600" b="1" dirty="0">
                <a:sym typeface="Symbol" pitchFamily="18" charset="2"/>
              </a:rPr>
              <a:t>Proof</a:t>
            </a:r>
            <a:r>
              <a:rPr lang="en-US" altLang="zh-TW" sz="2600" dirty="0">
                <a:sym typeface="Symbol" pitchFamily="18" charset="2"/>
              </a:rPr>
              <a:t>  </a:t>
            </a:r>
            <a:r>
              <a:rPr lang="en-US" altLang="zh-TW" sz="2200" dirty="0">
                <a:sym typeface="Symbol" pitchFamily="18" charset="2"/>
              </a:rPr>
              <a:t>Similar to the proof of Fermat’s Little Theorem, where 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altLang="zh-TW" sz="2200" i="1" dirty="0">
                <a:sym typeface="Symbol" pitchFamily="18" charset="2"/>
              </a:rPr>
              <a:t>	complete residue system</a:t>
            </a:r>
            <a:r>
              <a:rPr lang="en-US" altLang="zh-TW" sz="2200" dirty="0">
                <a:sym typeface="Symbol" pitchFamily="18" charset="2"/>
              </a:rPr>
              <a:t> is replaced by </a:t>
            </a:r>
            <a:r>
              <a:rPr lang="en-US" altLang="zh-TW" sz="2200" i="1" dirty="0">
                <a:sym typeface="Symbol" pitchFamily="18" charset="2"/>
              </a:rPr>
              <a:t>reduced residue system</a:t>
            </a:r>
            <a:endParaRPr lang="en-US" altLang="zh-TW" sz="2200" b="1" i="1" u="sng" dirty="0">
              <a:sym typeface="Symbol" pitchFamily="18" charset="2"/>
            </a:endParaRPr>
          </a:p>
          <a:p>
            <a:pPr>
              <a:spcBef>
                <a:spcPts val="600"/>
              </a:spcBef>
            </a:pPr>
            <a:r>
              <a:rPr lang="en-US" altLang="zh-TW" sz="2600" b="1" dirty="0">
                <a:sym typeface="Symbol" pitchFamily="18" charset="2"/>
              </a:rPr>
              <a:t>Remark</a:t>
            </a:r>
            <a:r>
              <a:rPr lang="en-US" altLang="zh-TW" sz="2600" dirty="0">
                <a:sym typeface="Symbol" pitchFamily="18" charset="2"/>
              </a:rPr>
              <a:t> </a:t>
            </a:r>
          </a:p>
          <a:p>
            <a:pPr lvl="1">
              <a:spcBef>
                <a:spcPts val="600"/>
              </a:spcBef>
            </a:pPr>
            <a:r>
              <a:rPr lang="en-US" altLang="zh-TW" sz="2200" dirty="0">
                <a:sym typeface="Symbol" pitchFamily="18" charset="2"/>
              </a:rPr>
              <a:t>Fermat’s Little Theorem is a special case of Euler’s Theorem</a:t>
            </a:r>
          </a:p>
          <a:p>
            <a:pPr lvl="1">
              <a:spcBef>
                <a:spcPts val="600"/>
              </a:spcBef>
            </a:pPr>
            <a:r>
              <a:rPr lang="en-US" altLang="zh-TW" sz="2200" dirty="0">
                <a:sym typeface="Symbol" pitchFamily="18" charset="2"/>
              </a:rPr>
              <a:t>For every</a:t>
            </a:r>
            <a:r>
              <a:rPr lang="en-US" altLang="zh-TW" sz="2200" baseline="-25000" dirty="0">
                <a:sym typeface="Symbol" pitchFamily="18" charset="2"/>
              </a:rPr>
              <a:t> 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dirty="0"/>
              <a:t>∈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b="1" i="1" dirty="0"/>
              <a:t>Z</a:t>
            </a:r>
            <a:r>
              <a:rPr lang="en-US" altLang="zh-TW" sz="2200" i="1" baseline="-25000" dirty="0"/>
              <a:t>n</a:t>
            </a:r>
            <a:r>
              <a:rPr lang="en-US" altLang="zh-TW" sz="2200" dirty="0"/>
              <a:t>*, |</a:t>
            </a:r>
            <a:r>
              <a:rPr lang="en-US" altLang="zh-TW" sz="2200" b="1" i="1" dirty="0"/>
              <a:t>Z</a:t>
            </a:r>
            <a:r>
              <a:rPr lang="en-US" altLang="zh-TW" sz="2200" i="1" baseline="-25000" dirty="0"/>
              <a:t>n</a:t>
            </a:r>
            <a:r>
              <a:rPr lang="en-US" altLang="zh-TW" sz="2200" dirty="0"/>
              <a:t>*| = </a:t>
            </a:r>
            <a:r>
              <a:rPr lang="en-US" altLang="zh-TW" sz="2200" i="1" dirty="0">
                <a:sym typeface="Symbol" pitchFamily="18" charset="2"/>
              </a:rPr>
              <a:t></a:t>
            </a:r>
            <a:r>
              <a:rPr lang="en-US" altLang="zh-TW" sz="1600" dirty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(</a:t>
            </a:r>
            <a:r>
              <a:rPr lang="en-US" altLang="zh-TW" sz="2200" i="1" dirty="0">
                <a:sym typeface="Symbol" pitchFamily="18" charset="2"/>
              </a:rPr>
              <a:t>n</a:t>
            </a:r>
            <a:r>
              <a:rPr lang="en-US" altLang="zh-TW" sz="2200" dirty="0">
                <a:sym typeface="Symbol" pitchFamily="18" charset="2"/>
              </a:rPr>
              <a:t>), hence </a:t>
            </a:r>
            <a:r>
              <a:rPr lang="en-US" altLang="zh-TW" sz="2200" i="1" dirty="0">
                <a:sym typeface="Symbol" pitchFamily="18" charset="2"/>
              </a:rPr>
              <a:t>a</a:t>
            </a:r>
            <a:r>
              <a:rPr lang="en-US" altLang="zh-TW" sz="800" i="1" baseline="-25000" dirty="0">
                <a:sym typeface="Symbol" pitchFamily="18" charset="2"/>
              </a:rPr>
              <a:t> </a:t>
            </a:r>
            <a:r>
              <a:rPr lang="en-US" altLang="zh-TW" sz="2200" i="1" baseline="50000" dirty="0">
                <a:sym typeface="Symbol" pitchFamily="18" charset="2"/>
              </a:rPr>
              <a:t></a:t>
            </a:r>
            <a:r>
              <a:rPr lang="en-US" altLang="zh-TW" sz="2200" baseline="50000" dirty="0">
                <a:sym typeface="Symbol" pitchFamily="18" charset="2"/>
              </a:rPr>
              <a:t> (</a:t>
            </a:r>
            <a:r>
              <a:rPr lang="en-US" altLang="zh-TW" sz="2200" i="1" baseline="50000" dirty="0">
                <a:sym typeface="Symbol" pitchFamily="18" charset="2"/>
              </a:rPr>
              <a:t>n</a:t>
            </a:r>
            <a:r>
              <a:rPr lang="en-US" altLang="zh-TW" sz="2200" baseline="50000" dirty="0">
                <a:sym typeface="Symbol" pitchFamily="18" charset="2"/>
              </a:rPr>
              <a:t>) </a:t>
            </a:r>
            <a:r>
              <a:rPr lang="en-US" altLang="zh-TW" sz="2200" dirty="0">
                <a:sym typeface="Symbol" pitchFamily="18" charset="2"/>
              </a:rPr>
              <a:t>= 1 </a:t>
            </a:r>
          </a:p>
          <a:p>
            <a:pPr>
              <a:spcBef>
                <a:spcPts val="600"/>
              </a:spcBef>
            </a:pPr>
            <a:r>
              <a:rPr lang="en-US" altLang="zh-TW" sz="2600" b="1" dirty="0">
                <a:sym typeface="Symbol" pitchFamily="18" charset="2"/>
              </a:rPr>
              <a:t>Example</a:t>
            </a:r>
            <a:r>
              <a:rPr lang="en-US" altLang="zh-TW" sz="2600" dirty="0">
                <a:sym typeface="Symbol" pitchFamily="18" charset="2"/>
              </a:rPr>
              <a:t>  Compute 11</a:t>
            </a:r>
            <a:r>
              <a:rPr lang="en-US" altLang="zh-TW" sz="2600" baseline="30000" dirty="0">
                <a:sym typeface="Symbol" pitchFamily="18" charset="2"/>
              </a:rPr>
              <a:t>2006</a:t>
            </a:r>
            <a:r>
              <a:rPr lang="en-US" altLang="zh-TW" sz="2600" dirty="0">
                <a:sym typeface="Symbol" pitchFamily="18" charset="2"/>
              </a:rPr>
              <a:t> mod 21</a:t>
            </a:r>
          </a:p>
          <a:p>
            <a:pPr>
              <a:spcBef>
                <a:spcPts val="600"/>
              </a:spcBef>
            </a:pPr>
            <a:r>
              <a:rPr lang="en-US" altLang="zh-TW" sz="2400" b="1" dirty="0">
                <a:sym typeface="Symbol" pitchFamily="18" charset="2"/>
              </a:rPr>
              <a:t>Solution</a:t>
            </a:r>
            <a:r>
              <a:rPr lang="en-US" altLang="zh-TW" sz="2600" dirty="0">
                <a:sym typeface="Symbol" pitchFamily="18" charset="2"/>
              </a:rPr>
              <a:t>  </a:t>
            </a:r>
            <a:r>
              <a:rPr lang="en-US" altLang="zh-TW" sz="2600" i="1" dirty="0">
                <a:sym typeface="Symbol" pitchFamily="18" charset="2"/>
              </a:rPr>
              <a:t> </a:t>
            </a:r>
            <a:r>
              <a:rPr lang="en-US" altLang="zh-TW" sz="2600" dirty="0">
                <a:sym typeface="Symbol" pitchFamily="18" charset="2"/>
              </a:rPr>
              <a:t>(21) = 12, so 11</a:t>
            </a:r>
            <a:r>
              <a:rPr lang="en-US" altLang="zh-TW" sz="2600" baseline="30000" dirty="0">
                <a:sym typeface="Symbol" pitchFamily="18" charset="2"/>
              </a:rPr>
              <a:t>2006</a:t>
            </a:r>
            <a:r>
              <a:rPr lang="en-US" altLang="zh-TW" sz="2600" dirty="0">
                <a:sym typeface="Symbol" pitchFamily="18" charset="2"/>
              </a:rPr>
              <a:t> =11</a:t>
            </a:r>
            <a:r>
              <a:rPr lang="en-US" altLang="zh-TW" sz="2600" baseline="30000" dirty="0">
                <a:sym typeface="Symbol" pitchFamily="18" charset="2"/>
              </a:rPr>
              <a:t>12</a:t>
            </a:r>
            <a:r>
              <a:rPr lang="en-US" altLang="zh-TW" sz="2600" i="1" baseline="30000" dirty="0">
                <a:sym typeface="Symbol" pitchFamily="18" charset="2"/>
              </a:rPr>
              <a:t></a:t>
            </a:r>
            <a:r>
              <a:rPr lang="en-US" altLang="zh-TW" sz="2600" baseline="30000" dirty="0">
                <a:sym typeface="Symbol" pitchFamily="18" charset="2"/>
              </a:rPr>
              <a:t>167+2</a:t>
            </a:r>
            <a:r>
              <a:rPr lang="en-US" altLang="zh-TW" sz="2600" dirty="0">
                <a:sym typeface="Symbol" pitchFamily="18" charset="2"/>
              </a:rPr>
              <a:t> =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TW" sz="2600" dirty="0">
                <a:sym typeface="Symbol" pitchFamily="18" charset="2"/>
              </a:rPr>
              <a:t>		(11</a:t>
            </a:r>
            <a:r>
              <a:rPr lang="en-US" altLang="zh-TW" sz="2600" i="1" baseline="50000" dirty="0">
                <a:sym typeface="Symbol" pitchFamily="18" charset="2"/>
              </a:rPr>
              <a:t></a:t>
            </a:r>
            <a:r>
              <a:rPr lang="en-US" altLang="zh-TW" sz="1600" baseline="50000" dirty="0">
                <a:sym typeface="Symbol" pitchFamily="18" charset="2"/>
              </a:rPr>
              <a:t> </a:t>
            </a:r>
            <a:r>
              <a:rPr lang="en-US" altLang="zh-TW" sz="2600" baseline="50000" dirty="0">
                <a:sym typeface="Symbol" pitchFamily="18" charset="2"/>
              </a:rPr>
              <a:t>(21)</a:t>
            </a:r>
            <a:r>
              <a:rPr lang="en-US" altLang="zh-TW" sz="2600" dirty="0">
                <a:sym typeface="Symbol" pitchFamily="18" charset="2"/>
              </a:rPr>
              <a:t>)</a:t>
            </a:r>
            <a:r>
              <a:rPr lang="en-US" altLang="zh-TW" sz="2600" baseline="30000" dirty="0">
                <a:sym typeface="Symbol" pitchFamily="18" charset="2"/>
              </a:rPr>
              <a:t>167 </a:t>
            </a:r>
            <a:r>
              <a:rPr lang="en-US" altLang="zh-TW" sz="2600" i="1" dirty="0">
                <a:sym typeface="Symbol" pitchFamily="18" charset="2"/>
              </a:rPr>
              <a:t></a:t>
            </a:r>
            <a:r>
              <a:rPr lang="en-US" altLang="zh-TW" sz="2600" dirty="0">
                <a:sym typeface="Symbol" pitchFamily="18" charset="2"/>
              </a:rPr>
              <a:t> 11</a:t>
            </a:r>
            <a:r>
              <a:rPr lang="en-US" altLang="zh-TW" sz="2600" baseline="30000" dirty="0">
                <a:sym typeface="Symbol" pitchFamily="18" charset="2"/>
              </a:rPr>
              <a:t>2</a:t>
            </a:r>
            <a:r>
              <a:rPr lang="en-US" altLang="zh-TW" sz="2600" dirty="0">
                <a:sym typeface="Symbol" pitchFamily="18" charset="2"/>
              </a:rPr>
              <a:t> 1</a:t>
            </a:r>
            <a:r>
              <a:rPr lang="en-US" altLang="zh-TW" sz="2600" baseline="30000" dirty="0">
                <a:sym typeface="Symbol" pitchFamily="18" charset="2"/>
              </a:rPr>
              <a:t>167 </a:t>
            </a:r>
            <a:r>
              <a:rPr lang="en-US" altLang="zh-TW" sz="2600" i="1" dirty="0">
                <a:sym typeface="Symbol" pitchFamily="18" charset="2"/>
              </a:rPr>
              <a:t></a:t>
            </a:r>
            <a:r>
              <a:rPr lang="en-US" altLang="zh-TW" sz="2600" dirty="0">
                <a:sym typeface="Symbol" pitchFamily="18" charset="2"/>
              </a:rPr>
              <a:t> 121  16  (mod 21)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7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5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5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5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5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5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5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5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5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5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75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5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75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5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5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5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Fermat's Last Theorem</a:t>
            </a:r>
            <a:endParaRPr lang="zh-TW" altLang="en-US" dirty="0"/>
          </a:p>
        </p:txBody>
      </p:sp>
      <p:sp>
        <p:nvSpPr>
          <p:cNvPr id="64515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kumimoji="1" sz="23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DA73533-5EC3-416D-A268-F587F914F19A}" type="slidenum">
              <a:rPr kumimoji="0"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kumimoji="0" lang="en-US" altLang="zh-TW" sz="1000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8313" y="1804988"/>
            <a:ext cx="8567737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kumimoji="1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Clr>
                <a:srgbClr val="330066"/>
              </a:buClr>
              <a:defRPr/>
            </a:pPr>
            <a:r>
              <a:rPr lang="en-US" altLang="zh-TW" sz="2600" b="1" kern="0" dirty="0">
                <a:solidFill>
                  <a:srgbClr val="000000"/>
                </a:solidFill>
              </a:rPr>
              <a:t>Pierre de Fermat</a:t>
            </a:r>
            <a:r>
              <a:rPr lang="en-US" altLang="zh-TW" sz="2600" kern="0" dirty="0">
                <a:solidFill>
                  <a:srgbClr val="000000"/>
                </a:solidFill>
              </a:rPr>
              <a:t> (1601 – 1665) was a French lawyer,</a:t>
            </a:r>
          </a:p>
          <a:p>
            <a:pPr>
              <a:lnSpc>
                <a:spcPct val="80000"/>
              </a:lnSpc>
              <a:buClr>
                <a:srgbClr val="330066"/>
              </a:buClr>
              <a:buFont typeface="Wingdings" pitchFamily="2" charset="2"/>
              <a:buNone/>
              <a:defRPr/>
            </a:pPr>
            <a:r>
              <a:rPr lang="en-US" altLang="zh-TW" sz="2600" kern="0" dirty="0">
                <a:solidFill>
                  <a:srgbClr val="000000"/>
                </a:solidFill>
              </a:rPr>
              <a:t>	and a part-time mathematician contributing</a:t>
            </a:r>
          </a:p>
          <a:p>
            <a:pPr>
              <a:lnSpc>
                <a:spcPct val="80000"/>
              </a:lnSpc>
              <a:buClr>
                <a:srgbClr val="330066"/>
              </a:buClr>
              <a:buFont typeface="Wingdings" pitchFamily="2" charset="2"/>
              <a:buNone/>
              <a:defRPr/>
            </a:pPr>
            <a:r>
              <a:rPr lang="en-US" altLang="zh-TW" sz="2600" kern="0" dirty="0">
                <a:solidFill>
                  <a:srgbClr val="000000"/>
                </a:solidFill>
              </a:rPr>
              <a:t>	to the development of modern calculus</a:t>
            </a:r>
          </a:p>
          <a:p>
            <a:pPr>
              <a:lnSpc>
                <a:spcPct val="80000"/>
              </a:lnSpc>
              <a:buClr>
                <a:srgbClr val="330066"/>
              </a:buClr>
              <a:defRPr/>
            </a:pPr>
            <a:r>
              <a:rPr lang="en-US" altLang="zh-TW" sz="2600" kern="0" dirty="0">
                <a:solidFill>
                  <a:srgbClr val="000000"/>
                </a:solidFill>
              </a:rPr>
              <a:t>Fermat wrote a comment in 1637 on his </a:t>
            </a:r>
          </a:p>
          <a:p>
            <a:pPr>
              <a:lnSpc>
                <a:spcPct val="80000"/>
              </a:lnSpc>
              <a:buClr>
                <a:srgbClr val="330066"/>
              </a:buClr>
              <a:buFont typeface="Wingdings" pitchFamily="2" charset="2"/>
              <a:buNone/>
              <a:defRPr/>
            </a:pPr>
            <a:r>
              <a:rPr lang="en-US" altLang="zh-TW" sz="2600" kern="0" dirty="0">
                <a:solidFill>
                  <a:srgbClr val="000000"/>
                </a:solidFill>
              </a:rPr>
              <a:t>	copy of </a:t>
            </a:r>
            <a:r>
              <a:rPr lang="en-US" altLang="zh-TW" sz="2600" i="1" kern="0" dirty="0" err="1">
                <a:solidFill>
                  <a:srgbClr val="000000"/>
                </a:solidFill>
              </a:rPr>
              <a:t>Arithmetica</a:t>
            </a:r>
            <a:r>
              <a:rPr lang="en-US" altLang="zh-TW" sz="2600" kern="0" dirty="0">
                <a:solidFill>
                  <a:srgbClr val="000000"/>
                </a:solidFill>
              </a:rPr>
              <a:t> of Diophantus: “I have </a:t>
            </a:r>
          </a:p>
          <a:p>
            <a:pPr>
              <a:lnSpc>
                <a:spcPct val="80000"/>
              </a:lnSpc>
              <a:buClr>
                <a:srgbClr val="330066"/>
              </a:buClr>
              <a:buFont typeface="Wingdings" pitchFamily="2" charset="2"/>
              <a:buNone/>
              <a:defRPr/>
            </a:pPr>
            <a:r>
              <a:rPr lang="en-US" altLang="zh-TW" sz="2600" kern="0" dirty="0">
                <a:solidFill>
                  <a:srgbClr val="000000"/>
                </a:solidFill>
              </a:rPr>
              <a:t>	a truly marvelous proof of this proposition </a:t>
            </a:r>
          </a:p>
          <a:p>
            <a:pPr>
              <a:lnSpc>
                <a:spcPct val="80000"/>
              </a:lnSpc>
              <a:buClr>
                <a:srgbClr val="330066"/>
              </a:buClr>
              <a:buFont typeface="Wingdings" pitchFamily="2" charset="2"/>
              <a:buNone/>
              <a:defRPr/>
            </a:pPr>
            <a:r>
              <a:rPr lang="en-US" altLang="zh-TW" sz="2600" kern="0" dirty="0">
                <a:solidFill>
                  <a:srgbClr val="000000"/>
                </a:solidFill>
              </a:rPr>
              <a:t>	which this margin is too narrow to contain.”</a:t>
            </a:r>
          </a:p>
          <a:p>
            <a:pPr lvl="1">
              <a:buClr>
                <a:srgbClr val="669999"/>
              </a:buClr>
              <a:defRPr/>
            </a:pPr>
            <a:r>
              <a:rPr lang="en-US" altLang="zh-TW" sz="1900" kern="0" dirty="0">
                <a:solidFill>
                  <a:srgbClr val="000000"/>
                </a:solidFill>
              </a:rPr>
              <a:t>Original Latin: "</a:t>
            </a:r>
            <a:r>
              <a:rPr lang="en-US" altLang="zh-TW" sz="1900" kern="0" dirty="0" err="1">
                <a:solidFill>
                  <a:srgbClr val="000000"/>
                </a:solidFill>
              </a:rPr>
              <a:t>Cuius</a:t>
            </a:r>
            <a:r>
              <a:rPr lang="en-US" altLang="zh-TW" sz="1900" kern="0" dirty="0">
                <a:solidFill>
                  <a:srgbClr val="000000"/>
                </a:solidFill>
              </a:rPr>
              <a:t> </a:t>
            </a:r>
            <a:r>
              <a:rPr lang="en-US" altLang="zh-TW" sz="1900" kern="0" dirty="0" err="1">
                <a:solidFill>
                  <a:srgbClr val="000000"/>
                </a:solidFill>
              </a:rPr>
              <a:t>rei</a:t>
            </a:r>
            <a:r>
              <a:rPr lang="en-US" altLang="zh-TW" sz="1900" kern="0" dirty="0">
                <a:solidFill>
                  <a:srgbClr val="000000"/>
                </a:solidFill>
              </a:rPr>
              <a:t> </a:t>
            </a:r>
            <a:r>
              <a:rPr lang="en-US" altLang="zh-TW" sz="1900" kern="0" dirty="0" err="1">
                <a:solidFill>
                  <a:srgbClr val="000000"/>
                </a:solidFill>
              </a:rPr>
              <a:t>demonstrationem</a:t>
            </a:r>
            <a:r>
              <a:rPr lang="en-US" altLang="zh-TW" sz="1900" kern="0" dirty="0">
                <a:solidFill>
                  <a:srgbClr val="000000"/>
                </a:solidFill>
              </a:rPr>
              <a:t> </a:t>
            </a:r>
            <a:r>
              <a:rPr lang="en-US" altLang="zh-TW" sz="1900" kern="0" dirty="0" err="1">
                <a:solidFill>
                  <a:srgbClr val="000000"/>
                </a:solidFill>
              </a:rPr>
              <a:t>mirabilem</a:t>
            </a:r>
            <a:r>
              <a:rPr lang="en-US" altLang="zh-TW" sz="1900" kern="0" dirty="0">
                <a:solidFill>
                  <a:srgbClr val="000000"/>
                </a:solidFill>
              </a:rPr>
              <a:t> sane </a:t>
            </a:r>
            <a:r>
              <a:rPr lang="en-US" altLang="zh-TW" sz="1900" kern="0" dirty="0" err="1">
                <a:solidFill>
                  <a:srgbClr val="000000"/>
                </a:solidFill>
              </a:rPr>
              <a:t>detexi</a:t>
            </a:r>
            <a:r>
              <a:rPr lang="en-US" altLang="zh-TW" sz="1900" kern="0" dirty="0">
                <a:solidFill>
                  <a:srgbClr val="000000"/>
                </a:solidFill>
              </a:rPr>
              <a:t>.      </a:t>
            </a:r>
            <a:r>
              <a:rPr lang="en-US" altLang="zh-TW" sz="1900" kern="0" dirty="0" err="1">
                <a:solidFill>
                  <a:srgbClr val="000000"/>
                </a:solidFill>
              </a:rPr>
              <a:t>Hanc</a:t>
            </a:r>
            <a:r>
              <a:rPr lang="en-US" altLang="zh-TW" sz="1900" kern="0" dirty="0">
                <a:solidFill>
                  <a:srgbClr val="000000"/>
                </a:solidFill>
              </a:rPr>
              <a:t> </a:t>
            </a:r>
            <a:r>
              <a:rPr lang="en-US" altLang="zh-TW" sz="1900" kern="0" dirty="0" err="1">
                <a:solidFill>
                  <a:srgbClr val="000000"/>
                </a:solidFill>
              </a:rPr>
              <a:t>marginis</a:t>
            </a:r>
            <a:r>
              <a:rPr lang="en-US" altLang="zh-TW" sz="1900" kern="0" dirty="0">
                <a:solidFill>
                  <a:srgbClr val="000000"/>
                </a:solidFill>
              </a:rPr>
              <a:t> </a:t>
            </a:r>
            <a:r>
              <a:rPr lang="en-US" altLang="zh-TW" sz="1900" kern="0" dirty="0" err="1">
                <a:solidFill>
                  <a:srgbClr val="000000"/>
                </a:solidFill>
              </a:rPr>
              <a:t>exiguitas</a:t>
            </a:r>
            <a:r>
              <a:rPr lang="en-US" altLang="zh-TW" sz="1900" kern="0" dirty="0">
                <a:solidFill>
                  <a:srgbClr val="000000"/>
                </a:solidFill>
              </a:rPr>
              <a:t> non </a:t>
            </a:r>
            <a:r>
              <a:rPr lang="en-US" altLang="zh-TW" sz="1900" kern="0" dirty="0" err="1">
                <a:solidFill>
                  <a:srgbClr val="000000"/>
                </a:solidFill>
              </a:rPr>
              <a:t>caperet</a:t>
            </a:r>
            <a:r>
              <a:rPr lang="en-US" altLang="zh-TW" sz="1900" kern="0" dirty="0">
                <a:solidFill>
                  <a:srgbClr val="000000"/>
                </a:solidFill>
              </a:rPr>
              <a:t>."</a:t>
            </a:r>
          </a:p>
          <a:p>
            <a:pPr>
              <a:lnSpc>
                <a:spcPct val="80000"/>
              </a:lnSpc>
              <a:buClr>
                <a:srgbClr val="330066"/>
              </a:buClr>
              <a:defRPr/>
            </a:pPr>
            <a:r>
              <a:rPr lang="en-US" altLang="zh-TW" sz="2600" kern="0" dirty="0">
                <a:solidFill>
                  <a:srgbClr val="000000"/>
                </a:solidFill>
              </a:rPr>
              <a:t>However, no correct proof was found for 357 years,</a:t>
            </a:r>
          </a:p>
          <a:p>
            <a:pPr>
              <a:lnSpc>
                <a:spcPct val="80000"/>
              </a:lnSpc>
              <a:buClr>
                <a:srgbClr val="330066"/>
              </a:buClr>
              <a:buFont typeface="Wingdings" pitchFamily="2" charset="2"/>
              <a:buNone/>
              <a:defRPr/>
            </a:pPr>
            <a:r>
              <a:rPr lang="en-US" altLang="zh-TW" sz="2600" kern="0" dirty="0">
                <a:solidFill>
                  <a:srgbClr val="000000"/>
                </a:solidFill>
              </a:rPr>
              <a:t>	until it was finally proven using very deep methods </a:t>
            </a:r>
          </a:p>
          <a:p>
            <a:pPr>
              <a:lnSpc>
                <a:spcPct val="80000"/>
              </a:lnSpc>
              <a:buClr>
                <a:srgbClr val="330066"/>
              </a:buClr>
              <a:buFont typeface="Wingdings" pitchFamily="2" charset="2"/>
              <a:buNone/>
              <a:defRPr/>
            </a:pPr>
            <a:r>
              <a:rPr lang="en-US" altLang="zh-TW" sz="2600" kern="0" dirty="0">
                <a:solidFill>
                  <a:srgbClr val="000000"/>
                </a:solidFill>
              </a:rPr>
              <a:t>	by </a:t>
            </a:r>
            <a:r>
              <a:rPr lang="en-US" altLang="zh-TW" sz="2600" i="1" kern="0" dirty="0">
                <a:solidFill>
                  <a:srgbClr val="000000"/>
                </a:solidFill>
              </a:rPr>
              <a:t>Andrew Wiles</a:t>
            </a:r>
            <a:r>
              <a:rPr lang="en-US" altLang="zh-TW" sz="2600" kern="0" dirty="0">
                <a:solidFill>
                  <a:srgbClr val="000000"/>
                </a:solidFill>
              </a:rPr>
              <a:t> of Princeton University in 1995</a:t>
            </a:r>
          </a:p>
        </p:txBody>
      </p:sp>
      <p:pic>
        <p:nvPicPr>
          <p:cNvPr id="7" name="Picture 4" descr="150px-Pierre_de_Fermat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56488" y="2349500"/>
            <a:ext cx="1292225" cy="1812925"/>
          </a:xfrm>
        </p:spPr>
      </p:pic>
    </p:spTree>
    <p:extLst>
      <p:ext uri="{BB962C8B-B14F-4D97-AF65-F5344CB8AC3E}">
        <p14:creationId xmlns:p14="http://schemas.microsoft.com/office/powerpoint/2010/main" val="185639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Fermat's Last Theorem</a:t>
            </a:r>
            <a:endParaRPr lang="zh-TW" altLang="en-US" sz="4000" dirty="0"/>
          </a:p>
        </p:txBody>
      </p:sp>
      <p:sp>
        <p:nvSpPr>
          <p:cNvPr id="65539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kumimoji="1" sz="23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A5E3CCC-FA92-4A00-BB4A-132FFACC8E7E}" type="slidenum">
              <a:rPr kumimoji="0"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kumimoji="0" lang="en-US" altLang="zh-TW" sz="1000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8313" y="1728788"/>
            <a:ext cx="84963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kumimoji="1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  <a:buClr>
                <a:srgbClr val="330066"/>
              </a:buClr>
              <a:defRPr/>
            </a:pPr>
            <a:r>
              <a:rPr lang="en-US" altLang="zh-TW" sz="2600" kern="0" dirty="0">
                <a:solidFill>
                  <a:srgbClr val="000000"/>
                </a:solidFill>
              </a:rPr>
              <a:t>Every counterexample </a:t>
            </a:r>
            <a:r>
              <a:rPr lang="en-US" altLang="zh-TW" sz="2600" kern="0" baseline="-25000" dirty="0">
                <a:solidFill>
                  <a:srgbClr val="000000"/>
                </a:solidFill>
              </a:rPr>
              <a:t> </a:t>
            </a:r>
            <a:r>
              <a:rPr lang="en-US" altLang="zh-TW" sz="2600" i="1" kern="0" dirty="0">
                <a:solidFill>
                  <a:srgbClr val="000000"/>
                </a:solidFill>
              </a:rPr>
              <a:t>a</a:t>
            </a:r>
            <a:r>
              <a:rPr lang="en-US" altLang="zh-TW" sz="2600" i="1" kern="0" baseline="30000" dirty="0">
                <a:solidFill>
                  <a:srgbClr val="000000"/>
                </a:solidFill>
              </a:rPr>
              <a:t>n</a:t>
            </a:r>
            <a:r>
              <a:rPr lang="en-US" altLang="zh-TW" sz="2600" kern="0" dirty="0">
                <a:solidFill>
                  <a:srgbClr val="000000"/>
                </a:solidFill>
              </a:rPr>
              <a:t> + </a:t>
            </a:r>
            <a:r>
              <a:rPr lang="en-US" altLang="zh-TW" sz="2600" i="1" kern="0" dirty="0" err="1">
                <a:solidFill>
                  <a:srgbClr val="000000"/>
                </a:solidFill>
              </a:rPr>
              <a:t>b</a:t>
            </a:r>
            <a:r>
              <a:rPr lang="en-US" altLang="zh-TW" sz="2600" i="1" kern="0" baseline="30000" dirty="0" err="1">
                <a:solidFill>
                  <a:srgbClr val="000000"/>
                </a:solidFill>
              </a:rPr>
              <a:t>n</a:t>
            </a:r>
            <a:r>
              <a:rPr lang="en-US" altLang="zh-TW" sz="2600" kern="0" dirty="0">
                <a:solidFill>
                  <a:srgbClr val="000000"/>
                </a:solidFill>
              </a:rPr>
              <a:t> = </a:t>
            </a:r>
            <a:r>
              <a:rPr lang="en-US" altLang="zh-TW" sz="2600" i="1" kern="0" dirty="0" err="1">
                <a:solidFill>
                  <a:srgbClr val="000000"/>
                </a:solidFill>
              </a:rPr>
              <a:t>c</a:t>
            </a:r>
            <a:r>
              <a:rPr lang="en-US" altLang="zh-TW" sz="2600" i="1" kern="0" baseline="30000" dirty="0" err="1">
                <a:solidFill>
                  <a:srgbClr val="000000"/>
                </a:solidFill>
              </a:rPr>
              <a:t>n</a:t>
            </a:r>
            <a:r>
              <a:rPr lang="en-US" altLang="zh-TW" sz="2600" kern="0" dirty="0">
                <a:solidFill>
                  <a:srgbClr val="000000"/>
                </a:solidFill>
              </a:rPr>
              <a:t>  to FLT yields an</a:t>
            </a:r>
          </a:p>
          <a:p>
            <a:pPr>
              <a:lnSpc>
                <a:spcPct val="90000"/>
              </a:lnSpc>
              <a:buClr>
                <a:srgbClr val="330066"/>
              </a:buClr>
              <a:buFont typeface="Wingdings" pitchFamily="2" charset="2"/>
              <a:buNone/>
              <a:defRPr/>
            </a:pPr>
            <a:r>
              <a:rPr lang="en-US" altLang="zh-TW" sz="2600" kern="0" dirty="0">
                <a:solidFill>
                  <a:srgbClr val="000000"/>
                </a:solidFill>
              </a:rPr>
              <a:t>	elliptic curve  </a:t>
            </a:r>
            <a:r>
              <a:rPr lang="en-US" altLang="zh-TW" sz="2600" i="1" kern="0" dirty="0">
                <a:solidFill>
                  <a:srgbClr val="000000"/>
                </a:solidFill>
              </a:rPr>
              <a:t>y</a:t>
            </a:r>
            <a:r>
              <a:rPr lang="en-US" altLang="zh-TW" sz="2600" kern="0" baseline="30000" dirty="0">
                <a:solidFill>
                  <a:srgbClr val="000000"/>
                </a:solidFill>
              </a:rPr>
              <a:t>2</a:t>
            </a:r>
            <a:r>
              <a:rPr lang="en-US" altLang="zh-TW" sz="2600" kern="0" dirty="0">
                <a:solidFill>
                  <a:srgbClr val="000000"/>
                </a:solidFill>
              </a:rPr>
              <a:t> = </a:t>
            </a:r>
            <a:r>
              <a:rPr lang="en-US" altLang="zh-TW" sz="2600" i="1" kern="0" dirty="0">
                <a:solidFill>
                  <a:srgbClr val="000000"/>
                </a:solidFill>
              </a:rPr>
              <a:t>x</a:t>
            </a:r>
            <a:r>
              <a:rPr lang="en-US" altLang="zh-TW" sz="2600" i="1" kern="0" baseline="-25000" dirty="0">
                <a:solidFill>
                  <a:srgbClr val="000000"/>
                </a:solidFill>
              </a:rPr>
              <a:t> </a:t>
            </a:r>
            <a:r>
              <a:rPr lang="en-US" altLang="zh-TW" sz="2600" kern="0" dirty="0">
                <a:solidFill>
                  <a:srgbClr val="000000"/>
                </a:solidFill>
              </a:rPr>
              <a:t>(</a:t>
            </a:r>
            <a:r>
              <a:rPr lang="en-US" altLang="zh-TW" sz="2600" i="1" kern="0" dirty="0">
                <a:solidFill>
                  <a:srgbClr val="000000"/>
                </a:solidFill>
              </a:rPr>
              <a:t>x</a:t>
            </a:r>
            <a:r>
              <a:rPr lang="en-US" altLang="zh-TW" sz="2600" kern="0" dirty="0">
                <a:solidFill>
                  <a:srgbClr val="000000"/>
                </a:solidFill>
              </a:rPr>
              <a:t> − </a:t>
            </a:r>
            <a:r>
              <a:rPr lang="en-US" altLang="zh-TW" sz="2600" i="1" kern="0" dirty="0">
                <a:solidFill>
                  <a:srgbClr val="000000"/>
                </a:solidFill>
              </a:rPr>
              <a:t>a</a:t>
            </a:r>
            <a:r>
              <a:rPr lang="en-US" altLang="zh-TW" sz="2600" i="1" kern="0" baseline="30000" dirty="0">
                <a:solidFill>
                  <a:srgbClr val="000000"/>
                </a:solidFill>
              </a:rPr>
              <a:t>n</a:t>
            </a:r>
            <a:r>
              <a:rPr lang="en-US" altLang="zh-TW" sz="2600" kern="0" dirty="0">
                <a:solidFill>
                  <a:srgbClr val="000000"/>
                </a:solidFill>
              </a:rPr>
              <a:t>)</a:t>
            </a:r>
            <a:r>
              <a:rPr lang="en-US" altLang="zh-TW" sz="2600" kern="0" baseline="-25000" dirty="0">
                <a:solidFill>
                  <a:srgbClr val="000000"/>
                </a:solidFill>
              </a:rPr>
              <a:t> </a:t>
            </a:r>
            <a:r>
              <a:rPr lang="en-US" altLang="zh-TW" sz="2600" kern="0" dirty="0">
                <a:solidFill>
                  <a:srgbClr val="000000"/>
                </a:solidFill>
              </a:rPr>
              <a:t>(</a:t>
            </a:r>
            <a:r>
              <a:rPr lang="en-US" altLang="zh-TW" sz="2600" i="1" kern="0" dirty="0">
                <a:solidFill>
                  <a:srgbClr val="000000"/>
                </a:solidFill>
              </a:rPr>
              <a:t>x</a:t>
            </a:r>
            <a:r>
              <a:rPr lang="en-US" altLang="zh-TW" sz="2600" kern="0" dirty="0">
                <a:solidFill>
                  <a:srgbClr val="000000"/>
                </a:solidFill>
              </a:rPr>
              <a:t> + </a:t>
            </a:r>
            <a:r>
              <a:rPr lang="en-US" altLang="zh-TW" sz="2600" i="1" kern="0" dirty="0" err="1">
                <a:solidFill>
                  <a:srgbClr val="000000"/>
                </a:solidFill>
              </a:rPr>
              <a:t>b</a:t>
            </a:r>
            <a:r>
              <a:rPr lang="en-US" altLang="zh-TW" sz="2600" i="1" kern="0" baseline="30000" dirty="0" err="1">
                <a:solidFill>
                  <a:srgbClr val="000000"/>
                </a:solidFill>
              </a:rPr>
              <a:t>n</a:t>
            </a:r>
            <a:r>
              <a:rPr lang="en-US" altLang="zh-TW" sz="2600" kern="0" dirty="0">
                <a:solidFill>
                  <a:srgbClr val="000000"/>
                </a:solidFill>
              </a:rPr>
              <a:t>)  which provides a</a:t>
            </a:r>
          </a:p>
          <a:p>
            <a:pPr>
              <a:lnSpc>
                <a:spcPct val="90000"/>
              </a:lnSpc>
              <a:buClr>
                <a:srgbClr val="330066"/>
              </a:buClr>
              <a:buFont typeface="Wingdings" pitchFamily="2" charset="2"/>
              <a:buNone/>
              <a:defRPr/>
            </a:pPr>
            <a:r>
              <a:rPr lang="en-US" altLang="zh-TW" sz="2600" kern="0" dirty="0">
                <a:solidFill>
                  <a:srgbClr val="000000"/>
                </a:solidFill>
              </a:rPr>
              <a:t>	counterexample to the </a:t>
            </a:r>
            <a:r>
              <a:rPr lang="en-US" altLang="zh-TW" sz="2600" kern="0" dirty="0" err="1">
                <a:solidFill>
                  <a:srgbClr val="000000"/>
                </a:solidFill>
              </a:rPr>
              <a:t>Taniyama</a:t>
            </a:r>
            <a:r>
              <a:rPr lang="en-US" altLang="zh-TW" sz="2600" kern="0" dirty="0">
                <a:solidFill>
                  <a:srgbClr val="000000"/>
                </a:solidFill>
              </a:rPr>
              <a:t>–Shimura conjecture</a:t>
            </a:r>
          </a:p>
          <a:p>
            <a:pPr>
              <a:lnSpc>
                <a:spcPct val="90000"/>
              </a:lnSpc>
              <a:buClr>
                <a:srgbClr val="330066"/>
              </a:buClr>
              <a:defRPr/>
            </a:pPr>
            <a:r>
              <a:rPr lang="en-US" altLang="zh-TW" sz="2600" kern="0" dirty="0">
                <a:solidFill>
                  <a:srgbClr val="000000"/>
                </a:solidFill>
              </a:rPr>
              <a:t>Andrew Wiles (1953~) worked for seven </a:t>
            </a:r>
          </a:p>
          <a:p>
            <a:pPr>
              <a:lnSpc>
                <a:spcPct val="90000"/>
              </a:lnSpc>
              <a:buClr>
                <a:srgbClr val="330066"/>
              </a:buClr>
              <a:buFont typeface="Wingdings" pitchFamily="2" charset="2"/>
              <a:buNone/>
              <a:defRPr/>
            </a:pPr>
            <a:r>
              <a:rPr lang="en-US" altLang="zh-TW" sz="2600" kern="0" dirty="0">
                <a:solidFill>
                  <a:srgbClr val="000000"/>
                </a:solidFill>
              </a:rPr>
              <a:t>	years and announced his proof in 1993</a:t>
            </a:r>
          </a:p>
          <a:p>
            <a:pPr>
              <a:lnSpc>
                <a:spcPct val="90000"/>
              </a:lnSpc>
              <a:buClr>
                <a:srgbClr val="330066"/>
              </a:buClr>
              <a:defRPr/>
            </a:pPr>
            <a:r>
              <a:rPr lang="en-US" altLang="zh-TW" sz="2600" kern="0" dirty="0">
                <a:solidFill>
                  <a:srgbClr val="000000"/>
                </a:solidFill>
              </a:rPr>
              <a:t>But a flaw was found later. He and his </a:t>
            </a:r>
          </a:p>
          <a:p>
            <a:pPr>
              <a:lnSpc>
                <a:spcPct val="90000"/>
              </a:lnSpc>
              <a:buClr>
                <a:srgbClr val="330066"/>
              </a:buClr>
              <a:buFont typeface="Wingdings" pitchFamily="2" charset="2"/>
              <a:buNone/>
              <a:defRPr/>
            </a:pPr>
            <a:r>
              <a:rPr lang="en-US" altLang="zh-TW" sz="2600" kern="0" dirty="0">
                <a:solidFill>
                  <a:srgbClr val="000000"/>
                </a:solidFill>
              </a:rPr>
              <a:t>	former student, Richard Taylor of Harvard </a:t>
            </a:r>
          </a:p>
          <a:p>
            <a:pPr>
              <a:lnSpc>
                <a:spcPct val="90000"/>
              </a:lnSpc>
              <a:buClr>
                <a:srgbClr val="330066"/>
              </a:buClr>
              <a:buFont typeface="Wingdings" pitchFamily="2" charset="2"/>
              <a:buNone/>
              <a:defRPr/>
            </a:pPr>
            <a:r>
              <a:rPr lang="en-US" altLang="zh-TW" sz="2600" kern="0" dirty="0">
                <a:solidFill>
                  <a:srgbClr val="000000"/>
                </a:solidFill>
              </a:rPr>
              <a:t>	University, resurrected the proof in a year</a:t>
            </a:r>
          </a:p>
          <a:p>
            <a:pPr lvl="1">
              <a:spcBef>
                <a:spcPts val="600"/>
              </a:spcBef>
              <a:buClr>
                <a:srgbClr val="669999"/>
              </a:buClr>
              <a:defRPr/>
            </a:pPr>
            <a:r>
              <a:rPr lang="en-US" altLang="zh-TW" sz="1600" kern="0" dirty="0">
                <a:solidFill>
                  <a:srgbClr val="000000"/>
                </a:solidFill>
              </a:rPr>
              <a:t>Andrew Wiles, “Modular elliptic curves and Fermat's Last Theorem”, </a:t>
            </a:r>
            <a:r>
              <a:rPr lang="en-US" altLang="zh-TW" sz="1600" i="1" kern="0" dirty="0">
                <a:solidFill>
                  <a:srgbClr val="000000"/>
                </a:solidFill>
              </a:rPr>
              <a:t>Annals of Mathematics</a:t>
            </a:r>
            <a:r>
              <a:rPr lang="en-US" altLang="zh-TW" sz="1600" kern="0" dirty="0">
                <a:solidFill>
                  <a:srgbClr val="000000"/>
                </a:solidFill>
              </a:rPr>
              <a:t> 141 (3), 443-551 (1995)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Clr>
                <a:srgbClr val="669999"/>
              </a:buClr>
              <a:defRPr/>
            </a:pPr>
            <a:r>
              <a:rPr lang="en-US" altLang="zh-TW" sz="1600" kern="0" dirty="0">
                <a:solidFill>
                  <a:srgbClr val="000000"/>
                </a:solidFill>
              </a:rPr>
              <a:t>Richard Taylor and Andrew Wiles, “Ring theoretic properties of certain </a:t>
            </a:r>
            <a:r>
              <a:rPr lang="en-US" altLang="zh-TW" sz="1600" kern="0" dirty="0" err="1">
                <a:solidFill>
                  <a:srgbClr val="000000"/>
                </a:solidFill>
              </a:rPr>
              <a:t>Hecke</a:t>
            </a:r>
            <a:r>
              <a:rPr lang="en-US" altLang="zh-TW" sz="1600" kern="0" dirty="0">
                <a:solidFill>
                  <a:srgbClr val="000000"/>
                </a:solidFill>
              </a:rPr>
              <a:t> algebras”, </a:t>
            </a:r>
            <a:r>
              <a:rPr lang="en-US" altLang="zh-TW" sz="1600" i="1" kern="0" dirty="0">
                <a:solidFill>
                  <a:srgbClr val="000000"/>
                </a:solidFill>
              </a:rPr>
              <a:t>Annals of Mathematics</a:t>
            </a:r>
            <a:r>
              <a:rPr lang="en-US" altLang="zh-TW" sz="1600" kern="0" dirty="0">
                <a:solidFill>
                  <a:srgbClr val="000000"/>
                </a:solidFill>
              </a:rPr>
              <a:t> 141 (3), 553-572 (1995)</a:t>
            </a:r>
          </a:p>
        </p:txBody>
      </p:sp>
      <p:pic>
        <p:nvPicPr>
          <p:cNvPr id="7" name="Picture 4" descr="180px-Andrew_wiles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35825" y="3324225"/>
            <a:ext cx="1428750" cy="1544638"/>
          </a:xfrm>
        </p:spPr>
      </p:pic>
    </p:spTree>
    <p:extLst>
      <p:ext uri="{BB962C8B-B14F-4D97-AF65-F5344CB8AC3E}">
        <p14:creationId xmlns:p14="http://schemas.microsoft.com/office/powerpoint/2010/main" val="181005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CDRAGON</Template>
  <TotalTime>4458</TotalTime>
  <Words>6576</Words>
  <Application>Microsoft Office PowerPoint</Application>
  <PresentationFormat>如螢幕大小 (4:3)</PresentationFormat>
  <Paragraphs>768</Paragraphs>
  <Slides>56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56</vt:i4>
      </vt:variant>
    </vt:vector>
  </HeadingPairs>
  <TitlesOfParts>
    <vt:vector size="66" baseType="lpstr">
      <vt:lpstr>Arial Unicode MS</vt:lpstr>
      <vt:lpstr>MS PGothic</vt:lpstr>
      <vt:lpstr>標楷體</vt:lpstr>
      <vt:lpstr>Arial</vt:lpstr>
      <vt:lpstr>Symbol</vt:lpstr>
      <vt:lpstr>Wingdings</vt:lpstr>
      <vt:lpstr>Network</vt:lpstr>
      <vt:lpstr>2_Network</vt:lpstr>
      <vt:lpstr>方程式</vt:lpstr>
      <vt:lpstr>Equation</vt:lpstr>
      <vt:lpstr>Arithmetic</vt:lpstr>
      <vt:lpstr>Arithmetic</vt:lpstr>
      <vt:lpstr>Floor and Ceiling</vt:lpstr>
      <vt:lpstr>Modular Function</vt:lpstr>
      <vt:lpstr>Cayley Tables</vt:lpstr>
      <vt:lpstr>Arithmetic</vt:lpstr>
      <vt:lpstr>Greatest Common Divisor</vt:lpstr>
      <vt:lpstr>Greatest Common Divisor</vt:lpstr>
      <vt:lpstr>Greatest Common Divisor</vt:lpstr>
      <vt:lpstr>Euclidean Algorithm</vt:lpstr>
      <vt:lpstr>Euclidean Algorithm</vt:lpstr>
      <vt:lpstr>Euclidean Algorithm</vt:lpstr>
      <vt:lpstr>Arithmetic</vt:lpstr>
      <vt:lpstr>Extended GCD Algorithm</vt:lpstr>
      <vt:lpstr>Extended GCD Algorithm</vt:lpstr>
      <vt:lpstr>Extended GCD Algorithm</vt:lpstr>
      <vt:lpstr>Extended GCD Algorithm</vt:lpstr>
      <vt:lpstr>Extended GCD Algorithm</vt:lpstr>
      <vt:lpstr>Stein’s GCD Algorithm</vt:lpstr>
      <vt:lpstr>Stein’s GCD Algorithm</vt:lpstr>
      <vt:lpstr>Arithmetic</vt:lpstr>
      <vt:lpstr>Relatively Prime</vt:lpstr>
      <vt:lpstr>Relatively Prime</vt:lpstr>
      <vt:lpstr>Fundamental Theorem  of Arithmetic</vt:lpstr>
      <vt:lpstr>Least Common Multiple </vt:lpstr>
      <vt:lpstr>Arithmetic</vt:lpstr>
      <vt:lpstr>Congruence Relation</vt:lpstr>
      <vt:lpstr>Modular Arithmetic</vt:lpstr>
      <vt:lpstr>Modular Arithmetic</vt:lpstr>
      <vt:lpstr>Inverse</vt:lpstr>
      <vt:lpstr>Inverse</vt:lpstr>
      <vt:lpstr>Inverse</vt:lpstr>
      <vt:lpstr>Arithmetic</vt:lpstr>
      <vt:lpstr>Chinese Remainder Theorem</vt:lpstr>
      <vt:lpstr>Chinese Remainder Theorem</vt:lpstr>
      <vt:lpstr>Chinese Remainder Theorem</vt:lpstr>
      <vt:lpstr>Chinese Remainder Theorem</vt:lpstr>
      <vt:lpstr>Chinese Remainder Theorem</vt:lpstr>
      <vt:lpstr>Chinese Remainder Theorem</vt:lpstr>
      <vt:lpstr>Chinese Remainder Theorem</vt:lpstr>
      <vt:lpstr>Chinese Remainder Theorem</vt:lpstr>
      <vt:lpstr>Chinese Remainder Theorem</vt:lpstr>
      <vt:lpstr>Arithmetic</vt:lpstr>
      <vt:lpstr>Fermat's Little Theorem</vt:lpstr>
      <vt:lpstr>Fermat's Little Theorem</vt:lpstr>
      <vt:lpstr>Carmichael Numbers</vt:lpstr>
      <vt:lpstr>Leonhard Euler</vt:lpstr>
      <vt:lpstr>Complete Residue System</vt:lpstr>
      <vt:lpstr>Euler's Phi Function</vt:lpstr>
      <vt:lpstr>Euler's Phi Function</vt:lpstr>
      <vt:lpstr>Euler's Phi Function</vt:lpstr>
      <vt:lpstr>Euler's Phi Function</vt:lpstr>
      <vt:lpstr>Reduced Residue System</vt:lpstr>
      <vt:lpstr>Euler's Theorem</vt:lpstr>
      <vt:lpstr>Fermat's Last Theorem</vt:lpstr>
      <vt:lpstr>Fermat's Last Theorem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</dc:title>
  <dc:creator>JMChen</dc:creator>
  <cp:lastModifiedBy>Jimmy Chen</cp:lastModifiedBy>
  <cp:revision>354</cp:revision>
  <cp:lastPrinted>2013-04-24T07:04:24Z</cp:lastPrinted>
  <dcterms:created xsi:type="dcterms:W3CDTF">2006-02-27T05:39:33Z</dcterms:created>
  <dcterms:modified xsi:type="dcterms:W3CDTF">2024-02-26T12:34:04Z</dcterms:modified>
</cp:coreProperties>
</file>