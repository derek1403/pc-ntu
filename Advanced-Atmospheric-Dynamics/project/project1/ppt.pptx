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3" d="100"/>
          <a:sy n="53" d="100"/>
        </p:scale>
        <p:origin x="2796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CDE98B-788A-E723-6F7A-125278078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4A33CA-E9FE-CC6A-2E37-2A4BEAE07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AD4575-D5BA-46DA-E701-63081046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2B0A-12A7-489C-9067-BF4DE35AA95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BEB2B7-3C9A-4AFD-69E2-202DD4EC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BF526-FF55-2C20-16A6-24B3118B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DE42-2BF9-4BD9-8549-2FF230F1B0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407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0B7E28-E533-E17B-1AD4-AB057C02B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106A36-0072-32E1-C15C-CC611B150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73F392-FDF8-537D-BD16-C179CD8D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2B0A-12A7-489C-9067-BF4DE35AA95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A89BDE-E472-CC14-7C32-999DE059D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1BBE07-3ACA-C3B1-BCD0-902DB492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DE42-2BF9-4BD9-8549-2FF230F1B0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55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18E4BF-3DA3-915E-4238-A897E39D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8205B4-77D2-07C0-BDD8-2F5E4E67C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A8694A-C407-DCFD-B849-0FE268C77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2B0A-12A7-489C-9067-BF4DE35AA95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04A4D1-75E5-EC01-B127-2530C13C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65ABFE-50CE-D106-2599-F49C3139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DE42-2BF9-4BD9-8549-2FF230F1B0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491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F9986D-16A0-9D03-4E91-FB54A20C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A5B72D-8D12-D5BF-5387-B393DF0C1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8425040-231E-55EA-9577-AB3E38B91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7C55F52-7DD0-B90B-5F66-D9AD133B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2B0A-12A7-489C-9067-BF4DE35AA95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3D11A7-9F13-8EF5-E210-05A44A0C4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82B9CF-9093-4564-6B4B-9D9D88DA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DE42-2BF9-4BD9-8549-2FF230F1B0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920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D8BD3-02C3-0876-ABF5-B5239EEE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5A54A8-04C6-49F1-A831-747C01F65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DD3F88-D66B-A88C-4437-8FF7A9648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3B425E6-08C2-53F9-AD39-C737327C2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B9A6FEE-E1B3-781C-8738-4F9B0AE25D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464F3D9-B8BB-745D-A573-2360E206D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2B0A-12A7-489C-9067-BF4DE35AA95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CBACA75-5A32-250A-6EF8-13D208B1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3578D7A-EE05-8E99-4C30-7DE5097C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DE42-2BF9-4BD9-8549-2FF230F1B0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0918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0ECEA-D43F-0BD0-E858-F72075E09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BD3E348-4935-0F56-8916-F5150B25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2B0A-12A7-489C-9067-BF4DE35AA95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AC419C9-9E92-1D95-3D09-DED0132A3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0FC1C8-A627-A417-240A-4954EE05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DE42-2BF9-4BD9-8549-2FF230F1B0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37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EC4B5E9-45FC-8BA5-208C-37C85A05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2B0A-12A7-489C-9067-BF4DE35AA95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2A827CB-5AF5-E027-4423-AC0773E17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D82984-F117-9DB1-6567-3BE356C4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DE42-2BF9-4BD9-8549-2FF230F1B0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0225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9374F7-A5BC-90C7-45D6-02AD0371D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1C39FE-2361-1379-2FA7-40775F0D6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8D5422A-A31E-A3AF-8D8E-1A6F1A386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A02948-21A9-E00E-188A-F066A6E37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2B0A-12A7-489C-9067-BF4DE35AA95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AF5D6D-CDE5-6D02-80C4-CE3FEEC01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B378A0A-4393-9C9F-76F2-A22E8C6F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DE42-2BF9-4BD9-8549-2FF230F1B0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420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F16B50-562F-0ECE-80FE-F06562263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B3A35E5-22BC-72D8-01E4-0122119FDD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48DAD01-01C6-6343-BAE1-0B3369824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FB196F-6AAC-A1D0-3A48-BCBE6382C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2B0A-12A7-489C-9067-BF4DE35AA95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FEA484-A760-A79D-3441-DFDA6C42E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D62D918-0153-C9BD-CE6F-2E7BCA367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DE42-2BF9-4BD9-8549-2FF230F1B0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052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375C4E-5696-AFB7-7517-3B4DC99A8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7D4C276-8394-EAF9-81D9-39D896886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726E59-2838-9CC9-05D0-7A200CDC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2B0A-12A7-489C-9067-BF4DE35AA95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A3674B-DAD4-C658-57AB-DD66C8957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92D9EC-25C8-FFD0-8124-905FFB2B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DE42-2BF9-4BD9-8549-2FF230F1B0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87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5006A52-9E00-A5B6-A142-25E36F852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165449-5915-FE02-6413-E3C3893B2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DE6F7C-159E-A9F8-898A-35F86E4E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2B0A-12A7-489C-9067-BF4DE35AA95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590C45-E643-BE50-57F6-4DB9D8EA2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6519D4-CEBC-9FB4-97B2-C2849B8D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DE42-2BF9-4BD9-8549-2FF230F1B0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241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13D78D8-4A59-88D1-AF0F-F6A44BB4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24E926-2EF4-950C-45BD-FF70DA01D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7470CE-2C56-1DB9-718A-FD34BF4327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C2B0A-12A7-489C-9067-BF4DE35AA95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CE037F-5FF8-D4BD-1CFE-268CAAD63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B7D5C9-446B-196D-1DBE-338D17553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5DE42-2BF9-4BD9-8549-2FF230F1B0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250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15A6D-FA36-E500-F058-5C27C4C4F0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A5948C5-EFBC-14DF-9FC1-41E4A854CD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697BA37-7CED-B35E-F96D-0CF72CFC4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0"/>
            <a:ext cx="11756571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8F5E22F-C17B-E44E-12CF-E877C7E5B854}"/>
                  </a:ext>
                </a:extLst>
              </p:cNvPr>
              <p:cNvSpPr txBox="1"/>
              <p:nvPr/>
            </p:nvSpPr>
            <p:spPr>
              <a:xfrm>
                <a:off x="7057915" y="1901971"/>
                <a:ext cx="4888662" cy="49587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buNone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💡 讀圖指南：大氣色散關係圖</a:t>
                </a:r>
              </a:p>
              <a:p>
                <a:pPr rtl="0">
                  <a:buNone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1. 座標軸的物理意義</a:t>
                </a:r>
                <a:endParaRPr lang="zh-TW" altLang="zh-TW" sz="12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X 軸 (</a:t>
                </a:r>
                <a14:m>
                  <m:oMath xmlns:m="http://schemas.openxmlformats.org/officeDocument/2006/math">
                    <m:r>
                      <a:rPr lang="zh-TW" altLang="en-US" sz="1200" b="1" i="1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  <m:acc>
                      <m:accPr>
                        <m:chr m:val="̅"/>
                        <m:ctrlPr>
                          <a:rPr lang="zh-TW" altLang="en-US" sz="1200" b="1" i="1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accPr>
                      <m:e>
                        <m:r>
                          <a:rPr lang="en-US" altLang="zh-TW" sz="1200" b="1" i="1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𝒌</m:t>
                        </m:r>
                      </m:e>
                    </m:acc>
                    <m:sSub>
                      <m:sSubPr>
                        <m:ctrlPr>
                          <a:rPr lang="zh-TW" altLang="zh-TW" sz="12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zh-TW" sz="12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𝑯</m:t>
                        </m:r>
                      </m:e>
                      <m:sub>
                        <m:r>
                          <a:rPr lang="zh-TW" altLang="zh-TW" sz="12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：水平波數。越往右側，代表天氣系統的「水平空間尺度越小」（波長越短）。</a:t>
                </a:r>
                <a:endParaRPr lang="en-US" altLang="zh-TW" sz="12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Y 軸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12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fPr>
                      <m:num>
                        <m:r>
                          <a:rPr lang="en-US" altLang="zh-TW" sz="12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𝝎</m:t>
                        </m:r>
                      </m:num>
                      <m:den>
                        <m:r>
                          <a:rPr lang="en-US" altLang="zh-TW" sz="12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𝑵</m:t>
                        </m:r>
                      </m:den>
                    </m:f>
                  </m:oMath>
                </a14:m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：震盪頻率。以大氣浮力頻率 </a:t>
                </a:r>
                <a14:m>
                  <m:oMath xmlns:m="http://schemas.openxmlformats.org/officeDocument/2006/math">
                    <m:r>
                      <a:rPr lang="en-US" altLang="zh-TW" sz="1200" b="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𝑁</m:t>
                    </m:r>
                  </m:oMath>
                </a14:m>
                <a:r>
                  <a:rPr lang="en-US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作為基準進行標準化。</a:t>
                </a:r>
              </a:p>
              <a:p>
                <a:pPr rtl="0">
                  <a:buNone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2. </a:t>
                </a:r>
                <a:r>
                  <a:rPr lang="zh-TW" altLang="en-US" sz="1200" b="1">
                    <a:solidFill>
                      <a:srgbClr val="1F1F1F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區域</a:t>
                </a:r>
                <a:endParaRPr lang="en-US" altLang="zh-TW" sz="1200" b="1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灰色網點區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：大氣允許波動自由向外傳遞能量的區域。</a:t>
                </a: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白色空白區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：物理上的</a:t>
                </a: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禁帶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。若強行以此頻率區間震盪大氣，波動無法向外輻射，能量會被困在震源附近並呈指數衰減。</a:t>
                </a:r>
              </a:p>
              <a:p>
                <a:pPr rtl="0">
                  <a:buNone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3. 四大波態圖解</a:t>
                </a:r>
                <a:endParaRPr lang="zh-TW" altLang="zh-TW" sz="12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聲波 (Acoustic Waves)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：位於上方灰色區。由流體彈性驅動的高頻波，其頻率存在下限，即</a:t>
                </a: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聲學截斷頻率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2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zh-TW" sz="12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𝑵</m:t>
                        </m:r>
                      </m:e>
                      <m:sub>
                        <m:r>
                          <a:rPr lang="zh-TW" altLang="zh-TW" sz="12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𝑨</m:t>
                        </m:r>
                      </m:sub>
                    </m:sSub>
                    <m:r>
                      <a:rPr lang="en-US" altLang="zh-TW" sz="1200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≈</m:t>
                    </m:r>
                    <m:r>
                      <a:rPr lang="zh-TW" altLang="zh-TW" sz="1200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  <m:r>
                      <a:rPr lang="zh-TW" altLang="zh-TW" sz="1200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𝟏</m:t>
                    </m:r>
                    <m:r>
                      <a:rPr lang="zh-TW" altLang="zh-TW" sz="1200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.</m:t>
                    </m:r>
                    <m:r>
                      <a:rPr lang="zh-TW" altLang="zh-TW" sz="1200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𝟏𝟏</m:t>
                    </m:r>
                    <m:r>
                      <a:rPr lang="zh-TW" altLang="zh-TW" sz="1200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𝑵</m:t>
                    </m:r>
                  </m:oMath>
                </a14:m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</a:t>
                </a: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內重力波 (Internal Gravity Waves)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：位於下方灰色區。由重力與浮力驅動的低頻波，受環境穩定度壓制，其震盪頻率永遠無法超越</a:t>
                </a: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浮力極限 (</a:t>
                </a:r>
                <a14:m>
                  <m:oMath xmlns:m="http://schemas.openxmlformats.org/officeDocument/2006/math">
                    <m:r>
                      <a:rPr lang="zh-TW" altLang="zh-TW" sz="1200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𝑵</m:t>
                    </m:r>
                  </m:oMath>
                </a14:m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</a:t>
                </a: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藍姆波 (Lamb Wave)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：圖中貫穿禁帶的黑色實線。這是一種垂直速度為零 (</a:t>
                </a:r>
                <a14:m>
                  <m:oMath xmlns:m="http://schemas.openxmlformats.org/officeDocument/2006/math">
                    <m:r>
                      <a:rPr lang="zh-TW" altLang="zh-TW" sz="120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𝑤</m:t>
                    </m:r>
                    <m:r>
                      <a:rPr lang="zh-TW" altLang="zh-TW" sz="1200" i="1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=0</m:t>
                    </m:r>
                  </m:oMath>
                </a14:m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 的二維特解，能量被鎖在地表，以音速傳播且不受頻率極限約束。</a:t>
                </a: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非輻散流 (Non-divergent Flow)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：圖表</a:t>
                </a:r>
                <a:r>
                  <a:rPr lang="zh-TW" altLang="en-US" sz="1200">
                    <a:solidFill>
                      <a:srgbClr val="1F1F1F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底部的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底線 (</a:t>
                </a:r>
                <a14:m>
                  <m:oMath xmlns:m="http://schemas.openxmlformats.org/officeDocument/2006/math">
                    <m:r>
                      <a:rPr lang="zh-TW" altLang="zh-TW" sz="120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𝜔</m:t>
                    </m:r>
                    <m:r>
                      <a:rPr lang="zh-TW" altLang="zh-TW" sz="1200" i="1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=0</m:t>
                    </m:r>
                  </m:oMath>
                </a14:m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)。代表不隨時間震盪、滿足地轉平衡的大尺度天氣系統。</a:t>
                </a:r>
              </a:p>
              <a:p>
                <a:pPr rtl="0">
                  <a:buNone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4. 隱藏在曲線中的秘密</a:t>
                </a:r>
                <a:endParaRPr lang="zh-TW" altLang="zh-TW" sz="12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量子化的垂直結構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：圖中的每一條彩色實線或虛線，代表一種特定的垂直波數</a:t>
                </a:r>
                <a:r>
                  <a:rPr lang="en-US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zh-TW" sz="120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𝑚</m:t>
                    </m:r>
                    <m:sSub>
                      <m:sSubPr>
                        <m:ctrlPr>
                          <a:rPr lang="en-US" altLang="zh-TW" sz="120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zh-TW" sz="120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𝐻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𝑠</m:t>
                        </m:r>
                      </m:sub>
                    </m:sSub>
                    <m:r>
                      <a:rPr lang="zh-TW" altLang="en-US" sz="1200" i="1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</m:oMath>
                </a14:m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</a:t>
                </a: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能量傳遞速度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：曲線上任意一點的</a:t>
                </a: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切線斜率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，在物理上精確等於該波的</a:t>
                </a:r>
                <a:r>
                  <a:rPr lang="zh-TW" altLang="zh-TW" sz="12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水平群速度 (Group Velocity)</a:t>
                </a:r>
                <a:r>
                  <a:rPr lang="zh-TW" altLang="zh-TW" sz="12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，即天氣系統能量轉移的速度。</a:t>
                </a: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8F5E22F-C17B-E44E-12CF-E877C7E5B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915" y="1901971"/>
                <a:ext cx="4888662" cy="4958730"/>
              </a:xfrm>
              <a:prstGeom prst="rect">
                <a:avLst/>
              </a:prstGeom>
              <a:blipFill>
                <a:blip r:embed="rId3"/>
                <a:stretch>
                  <a:fillRect l="-125" t="-1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219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E0AA2-E1E2-6A4F-A8C0-F72FCBCC7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E474AA-5553-2957-26C8-0073CC44C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5D9600F-9FBB-883F-0281-07C12A946B16}"/>
                  </a:ext>
                </a:extLst>
              </p:cNvPr>
              <p:cNvSpPr txBox="1"/>
              <p:nvPr/>
            </p:nvSpPr>
            <p:spPr>
              <a:xfrm>
                <a:off x="5010912" y="1901970"/>
                <a:ext cx="13898880" cy="133571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buNone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💡 讀圖指南：大氣色散關係圖</a:t>
                </a:r>
              </a:p>
              <a:p>
                <a:pPr rtl="0">
                  <a:buNone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1. 座標軸的物理意義</a:t>
                </a:r>
                <a:endParaRPr lang="zh-TW" altLang="zh-TW" sz="34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X 軸 (</a:t>
                </a:r>
                <a14:m>
                  <m:oMath xmlns:m="http://schemas.openxmlformats.org/officeDocument/2006/math">
                    <m:r>
                      <a:rPr lang="zh-TW" altLang="en-US" sz="3400" b="1" i="1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  <m:acc>
                      <m:accPr>
                        <m:chr m:val="̅"/>
                        <m:ctrlPr>
                          <a:rPr lang="zh-TW" altLang="en-US" sz="3400" b="1" i="1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accPr>
                      <m:e>
                        <m:r>
                          <a:rPr lang="en-US" altLang="zh-TW" sz="3400" b="1" i="1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𝒌</m:t>
                        </m:r>
                      </m:e>
                    </m:acc>
                    <m:sSub>
                      <m:sSubPr>
                        <m:ctrlPr>
                          <a:rPr lang="zh-TW" altLang="zh-TW" sz="34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zh-TW" sz="34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𝑯</m:t>
                        </m:r>
                      </m:e>
                      <m:sub>
                        <m:r>
                          <a:rPr lang="zh-TW" altLang="zh-TW" sz="34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：水平波數。越往右側，代表天氣系統的「水平空間尺度越小」（波長越短）。</a:t>
                </a:r>
                <a:endParaRPr lang="en-US" altLang="zh-TW" sz="34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Y 軸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34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fPr>
                      <m:num>
                        <m:r>
                          <a:rPr lang="en-US" altLang="zh-TW" sz="34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𝝎</m:t>
                        </m:r>
                      </m:num>
                      <m:den>
                        <m:r>
                          <a:rPr lang="en-US" altLang="zh-TW" sz="34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𝑵</m:t>
                        </m:r>
                      </m:den>
                    </m:f>
                  </m:oMath>
                </a14:m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：震盪頻率。以大氣浮力頻率 </a:t>
                </a:r>
                <a14:m>
                  <m:oMath xmlns:m="http://schemas.openxmlformats.org/officeDocument/2006/math">
                    <m:r>
                      <a:rPr lang="en-US" altLang="zh-TW" sz="3400" b="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𝑁</m:t>
                    </m:r>
                  </m:oMath>
                </a14:m>
                <a:r>
                  <a:rPr lang="en-US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作為基準進行標準化。</a:t>
                </a:r>
              </a:p>
              <a:p>
                <a:pPr rtl="0">
                  <a:buNone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2. </a:t>
                </a:r>
                <a:r>
                  <a:rPr lang="zh-TW" altLang="en-US" sz="3400" b="1">
                    <a:solidFill>
                      <a:srgbClr val="1F1F1F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區域</a:t>
                </a:r>
                <a:endParaRPr lang="en-US" altLang="zh-TW" sz="3400" b="1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灰色網點區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：大氣允許波動自由向外傳遞能量的區域。</a:t>
                </a: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白色空白區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：物理上的</a:t>
                </a: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禁帶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。若強行以此頻率區間震盪大氣，波動無法向外輻射，能量會被困在震源附近並呈指數衰減。</a:t>
                </a:r>
              </a:p>
              <a:p>
                <a:pPr rtl="0">
                  <a:buNone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3. 四大波態圖解</a:t>
                </a:r>
                <a:endParaRPr lang="zh-TW" altLang="zh-TW" sz="34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聲波 (Acoustic Waves)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：位於上方灰色區。由流體彈性驅動的高頻波，其頻率存在下限，即</a:t>
                </a: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聲學截斷頻率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34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zh-TW" sz="34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𝑵</m:t>
                        </m:r>
                      </m:e>
                      <m:sub>
                        <m:r>
                          <a:rPr lang="zh-TW" altLang="zh-TW" sz="3400" b="1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𝑨</m:t>
                        </m:r>
                      </m:sub>
                    </m:sSub>
                    <m:r>
                      <a:rPr lang="en-US" altLang="zh-TW" sz="3400" b="1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≈</m:t>
                    </m:r>
                    <m:r>
                      <a:rPr lang="zh-TW" altLang="zh-TW" sz="3400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  <m:r>
                      <a:rPr lang="zh-TW" altLang="zh-TW" sz="3400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𝟏</m:t>
                    </m:r>
                    <m:r>
                      <a:rPr lang="zh-TW" altLang="zh-TW" sz="3400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.</m:t>
                    </m:r>
                    <m:r>
                      <a:rPr lang="zh-TW" altLang="zh-TW" sz="3400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𝟏𝟏</m:t>
                    </m:r>
                    <m:r>
                      <a:rPr lang="zh-TW" altLang="zh-TW" sz="3400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𝑵</m:t>
                    </m:r>
                  </m:oMath>
                </a14:m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</a:t>
                </a: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內重力波 (Internal Gravity Waves)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：位於下方灰色區。由重力與浮力驅動的低頻波，受環境穩定度壓制，其震盪頻率永遠無法超越</a:t>
                </a: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浮力極限 (</a:t>
                </a:r>
                <a14:m>
                  <m:oMath xmlns:m="http://schemas.openxmlformats.org/officeDocument/2006/math">
                    <m:r>
                      <a:rPr lang="zh-TW" altLang="zh-TW" sz="3400" b="1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𝑵</m:t>
                    </m:r>
                  </m:oMath>
                </a14:m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</a:t>
                </a: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藍姆波 (Lamb Wave)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：圖中貫穿禁帶的黑色實線。這是一種垂直速度為零 (</a:t>
                </a:r>
                <a14:m>
                  <m:oMath xmlns:m="http://schemas.openxmlformats.org/officeDocument/2006/math">
                    <m:r>
                      <a:rPr lang="zh-TW" altLang="zh-TW" sz="340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𝑤</m:t>
                    </m:r>
                    <m:r>
                      <a:rPr lang="zh-TW" altLang="zh-TW" sz="3400" i="1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=0</m:t>
                    </m:r>
                  </m:oMath>
                </a14:m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 的二維特解，能量被鎖在地表，以音速傳播且不受頻率極限約束。</a:t>
                </a: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非輻散流 (Non-divergent Flow)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：圖表</a:t>
                </a:r>
                <a:r>
                  <a:rPr lang="zh-TW" altLang="en-US" sz="3400">
                    <a:solidFill>
                      <a:srgbClr val="1F1F1F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底部的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底線 (</a:t>
                </a:r>
                <a14:m>
                  <m:oMath xmlns:m="http://schemas.openxmlformats.org/officeDocument/2006/math">
                    <m:r>
                      <a:rPr lang="zh-TW" altLang="zh-TW" sz="340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𝜔</m:t>
                    </m:r>
                    <m:r>
                      <a:rPr lang="zh-TW" altLang="zh-TW" sz="3400" i="1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=0</m:t>
                    </m:r>
                  </m:oMath>
                </a14:m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)。代表不隨時間震盪、滿足地轉平衡的大尺度天氣系統。</a:t>
                </a:r>
              </a:p>
              <a:p>
                <a:pPr rtl="0">
                  <a:buNone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4. 隱藏在曲線中的秘密</a:t>
                </a:r>
                <a:endParaRPr lang="zh-TW" altLang="zh-TW" sz="3400">
                  <a:solidFill>
                    <a:srgbClr val="1F1F1F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量子化的垂直結構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：圖中的每一條彩色實線或虛線，代表一種特定的垂直波數</a:t>
                </a:r>
                <a:r>
                  <a:rPr lang="en-US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zh-TW" sz="3400" i="1" smtClean="0">
                        <a:solidFill>
                          <a:srgbClr val="1F1F1F"/>
                        </a:solidFill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𝑚</m:t>
                    </m:r>
                    <m:sSub>
                      <m:sSubPr>
                        <m:ctrlPr>
                          <a:rPr lang="en-US" altLang="zh-TW" sz="340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zh-TW" sz="3400" i="1" smtClean="0">
                            <a:solidFill>
                              <a:srgbClr val="1F1F1F"/>
                            </a:solidFill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𝐻</m:t>
                        </m:r>
                      </m:e>
                      <m:sub>
                        <m:r>
                          <a:rPr lang="en-US" altLang="zh-TW" sz="3400" b="0" i="1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𝑠</m:t>
                        </m:r>
                      </m:sub>
                    </m:sSub>
                    <m:r>
                      <a:rPr lang="zh-TW" altLang="en-US" sz="3400" i="1">
                        <a:solidFill>
                          <a:srgbClr val="1F1F1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</m:oMath>
                </a14:m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</a:t>
                </a:r>
              </a:p>
              <a:p>
                <a:pPr marL="171450" indent="-171450" rtl="0">
                  <a:buFont typeface="Arial" panose="020B0604020202020204" pitchFamily="34" charset="0"/>
                  <a:buChar char="•"/>
                </a:pP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能量傳遞速度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：曲線上任意一點的</a:t>
                </a: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切線斜率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，在物理上精確等於該波的</a:t>
                </a:r>
                <a:r>
                  <a:rPr lang="zh-TW" altLang="zh-TW" sz="3400" b="1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水平群速度 (Group Velocity)</a:t>
                </a:r>
                <a:r>
                  <a:rPr lang="zh-TW" altLang="zh-TW" sz="3400">
                    <a:solidFill>
                      <a:srgbClr val="1F1F1F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，即天氣系統能量轉移的速度。</a:t>
                </a: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5D9600F-9FBB-883F-0281-07C12A946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912" y="1901970"/>
                <a:ext cx="13898880" cy="13357183"/>
              </a:xfrm>
              <a:prstGeom prst="rect">
                <a:avLst/>
              </a:prstGeom>
              <a:blipFill>
                <a:blip r:embed="rId2"/>
                <a:stretch>
                  <a:fillRect l="-1228" t="-685" r="-1623" b="-6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601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726</Words>
  <Application>Microsoft Office PowerPoint</Application>
  <PresentationFormat>寬螢幕</PresentationFormat>
  <Paragraphs>30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標楷體</vt:lpstr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Da-Kai Peng</dc:creator>
  <cp:lastModifiedBy>Da-Kai Peng</cp:lastModifiedBy>
  <cp:revision>1</cp:revision>
  <dcterms:created xsi:type="dcterms:W3CDTF">2026-06-13T12:00:07Z</dcterms:created>
  <dcterms:modified xsi:type="dcterms:W3CDTF">2026-06-13T12:15:05Z</dcterms:modified>
</cp:coreProperties>
</file>