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51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21A71F-C5E1-9AAE-88C2-0B46E715A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33FE86-4C2C-0F5E-DA01-CBEAA3BEA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C0D1C4-524D-781F-E6D1-AE194F8D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00B12D-4C7D-6FC0-6352-D1518B03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F4CC34-F534-A89D-06AE-7146F7D1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801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8BBF0D-1F55-A85D-AF45-4E2314E3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13EC97-0F69-CA30-99A0-E47D00558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F80704-41F8-0366-B943-B322AB50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091746-C1D7-36AE-556E-A9F3D5B5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6F4B9E-6DD8-940B-81CB-E34D3601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96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EA1DC8-AA72-46B7-9BC6-4560973C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6A428D-49FB-DB8E-B795-81A80EB6C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89EEB1-7FF8-89EF-F12D-B7BF92B6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B17889-36EE-7146-59F3-DFCCBADA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4A6D5D-6675-0B92-7EA1-B7DC7D63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86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E38966-8D1A-C7C3-6255-9BFF82A6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D382DB-6938-3F19-9F6F-5845A2C5C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DA16149-2BD3-A3F3-D158-32C3C6888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E815D2-E7E1-28EC-2321-CC20C2E6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9182A-F530-2A10-46A5-E6491B66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ADEAF8-980F-B9BA-37AF-DF9992C5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34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C7B17-F049-FFE0-4A32-765DF54B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4DB1E5-97F1-C7AE-9C0D-2A031A6A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7A36A9F-524C-DC0A-5403-8FF6E5F91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D889F2C-A28A-F9E3-A157-E1BD13964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EC1192D-2610-4763-B0F7-CBAAC79F4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7A415D0-D635-976C-B337-13A1ED6FE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6AD3D55-9CA8-7E2E-C1D8-19E14130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F7D689-2F10-B50F-2E80-D30F7E63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6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6EEA1F-2644-9E29-399D-81E29235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A6A6894-8479-509B-FDF5-7EF28A73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2C46D7-0E58-15C1-8061-A52081DF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7ECC50-DF54-B37D-04EA-7D45E532F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40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8157E4-DE34-0612-8B8E-F1BFB3F8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819DA6-6D2A-0074-BCBD-5DB74BF9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DEF474-5BCF-31C6-C11D-7B33DCF3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91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60572C-66D7-6A4D-B13F-F2934470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1A71E-99E9-97D0-3790-20226F207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70C94E-3F32-3C71-7CA3-860230A8D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4D656E-B0C2-DAD9-21F3-B90B80C4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E997D1-3D7A-2C18-6563-05C715F27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8D07F3-DAFE-4EFC-C6A1-43381CB4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43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DEC252-4A64-A0F9-3D05-2626A137C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BA4E62-462A-2CD5-A958-3F3BA3EFF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BD8F125-20E3-B4D2-E5EF-FB3B6F625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9F7BEF-0D82-9346-6010-71A065F7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699E93-C11D-C8E1-326A-49199301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9BC26B-D4CD-CB39-A248-74E3BB07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34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51F4B5-311C-E47F-598B-0C1D4219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E291C2-F6E4-9A0F-B5AE-ACAAD567F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B02C44-5E66-A79E-E6AB-D28A58F8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77DBBD-3C36-52B1-082C-ABD41B00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DEFDB1-744F-8C84-93CE-68B56E22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71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1370CE-6342-C579-4846-5775205FC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D22DBB-D354-5FA4-E6AA-6F978F231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BBDC46-40F8-1BA6-FC75-4266EAEE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C65ABC-27E3-6CD6-3E57-7D33BB01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09D081-7FC1-B0CF-2147-D31ACE8A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982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87BD083-91CE-805A-26FA-97EF7B34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8A2633-B8EA-D0CB-6291-9A538E95A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DEBC75-0527-057B-3A94-605405C01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D2D76-13FB-4090-87BC-4621D4D80474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2ABFCB-EC8A-EA92-B9DA-E40010622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CBA15F-8726-842A-5772-49B0B7098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078A1-34BA-43AA-B23E-1C3274AF5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561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0391FE-263A-DE6F-5BBC-7DE8A613D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2E64DD9-18DD-D866-1933-3DEBEBDE2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E0EFE1-071D-70CC-9CD4-5CA39BAD7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CA4949-4B43-02F1-68BA-0AFD04F33A1E}"/>
                  </a:ext>
                </a:extLst>
              </p:cNvPr>
              <p:cNvSpPr txBox="1"/>
              <p:nvPr/>
            </p:nvSpPr>
            <p:spPr>
              <a:xfrm>
                <a:off x="5994399" y="1398625"/>
                <a:ext cx="6096000" cy="5781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💡讀圖指南：赤道波的物理圖像</a:t>
                </a:r>
                <a:endParaRPr lang="zh-TW" altLang="zh-TW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rtl="0">
                  <a:buNone/>
                </a:pP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1. 座標軸的物理意義</a:t>
                </a:r>
                <a:endParaRPr lang="zh-TW" altLang="zh-TW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en-US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X</a:t>
                </a: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軸 (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)：</a:t>
                </a:r>
                <a:r>
                  <a:rPr lang="zh-TW" altLang="en-US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水平波數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。越向右</a:t>
                </a:r>
                <a:r>
                  <a:rPr lang="zh-TW" altLang="en-US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側</a:t>
                </a:r>
                <a:r>
                  <a:rPr lang="zh-TW" altLang="en-US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，代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表水平波長越短</a:t>
                </a:r>
                <a:r>
                  <a:rPr lang="zh-TW" altLang="en-US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  <a:endParaRPr lang="zh-TW" altLang="zh-TW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Y</a:t>
                </a: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軸 (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𝝎</m:t>
                    </m:r>
                  </m:oMath>
                </a14:m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)：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波動的震盪頻率。在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𝑒</m:t>
                        </m:r>
                      </m:e>
                      <m:sup>
                        <m:r>
                          <a:rPr lang="zh-TW" altLang="zh-TW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  <m:d>
                          <m:dPr>
                            <m:ctrlPr>
                              <a:rPr lang="zh-TW" altLang="zh-TW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</m:ctrlPr>
                          </m:dPr>
                          <m:e>
                            <m:r>
                              <a:rPr lang="zh-TW" altLang="zh-TW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𝑘𝑥</m:t>
                            </m:r>
                            <m:r>
                              <a:rPr lang="zh-TW" altLang="zh-TW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−</m:t>
                            </m:r>
                            <m:r>
                              <a:rPr lang="zh-TW" altLang="zh-TW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𝜔</m:t>
                            </m:r>
                            <m:r>
                              <a:rPr lang="zh-TW" altLang="zh-TW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慣例下，</a:t>
                </a:r>
                <a:r>
                  <a:rPr lang="en-US" altLang="zh-TW" b="1">
                    <a:solidFill>
                      <a:srgbClr val="1F1F1F"/>
                    </a:solidFill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𝝎</m:t>
                    </m:r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&gt;</m:t>
                    </m:r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𝟎</m:t>
                    </m:r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代表波動向東傳播，</a:t>
                </a:r>
                <a:r>
                  <a:rPr lang="en-US" altLang="zh-TW" b="1">
                    <a:solidFill>
                      <a:srgbClr val="1F1F1F"/>
                    </a:solidFill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𝝎</m:t>
                    </m:r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&lt;</m:t>
                    </m:r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𝟎</m:t>
                    </m:r>
                    <m:r>
                      <a:rPr lang="en-US" altLang="zh-TW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代表向西傳播。</a:t>
                </a:r>
              </a:p>
              <a:p>
                <a:pPr rtl="0">
                  <a:buNone/>
                </a:pP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2. 離散的曲線（量子化條件）</a:t>
                </a:r>
                <a:endParaRPr lang="zh-TW" altLang="zh-TW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赤道的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zh-TW" altLang="zh-TW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𝛽</m:t>
                    </m:r>
                    <m:r>
                      <a:rPr lang="en-US" altLang="zh-TW" b="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效應像是一個天然的</a:t>
                </a: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波導管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，將波動能量限制在低緯度。</a:t>
                </a: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為了讓擾動在遠離赤道時能自然消散（物理邊界條件），系統的南北向空間結構被迫</a:t>
                </a: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量子化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，形成離散的模態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(</m:t>
                    </m:r>
                    <m:r>
                      <a:rPr lang="zh-TW" altLang="zh-TW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𝑛</m:t>
                    </m:r>
                    <m:r>
                      <a:rPr lang="zh-TW" altLang="zh-TW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= −1, 0, 1, 2…)</m:t>
                    </m:r>
                  </m:oMath>
                </a14:m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。圖中的每一條線就代表一種固定南北向結構的自由行進波。</a:t>
                </a:r>
              </a:p>
              <a:p>
                <a:pPr rtl="0">
                  <a:buNone/>
                </a:pP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3. 群速度與能量傳遞</a:t>
                </a:r>
                <a:endParaRPr lang="zh-TW" altLang="zh-TW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曲線上任意一點的</a:t>
                </a: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切線斜率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Pr>
                      <m:num>
                        <m:r>
                          <a:rPr lang="zh-TW" altLang="en-US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𝜕</m:t>
                        </m:r>
                        <m:r>
                          <a:rPr lang="en-US" altLang="zh-TW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𝜔</m:t>
                        </m:r>
                      </m:num>
                      <m:den>
                        <m:r>
                          <a:rPr lang="zh-TW" altLang="en-US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𝜕</m:t>
                        </m:r>
                        <m:r>
                          <a:rPr lang="en-US" altLang="zh-TW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𝑘</m:t>
                        </m:r>
                      </m:den>
                    </m:f>
                    <m:r>
                      <a:rPr lang="en-US" altLang="zh-TW" b="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)，精確等於該波動的</a:t>
                </a: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緯向群速度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。斜率越陡</a:t>
                </a:r>
                <a:r>
                  <a:rPr lang="zh-TW" altLang="en-US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表示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該波傳遞能量的速度越快。</a:t>
                </a:r>
              </a:p>
              <a:p>
                <a:pPr rtl="0">
                  <a:buNone/>
                </a:pP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4. 中間的空白處是什麼？（禁帶 Evanescent Zone）</a:t>
                </a:r>
                <a:endParaRPr lang="zh-TW" altLang="zh-TW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高頻的慣性重力波與低頻的羅斯貝波之間，存在無法產生自由行進波的</a:t>
                </a:r>
                <a:r>
                  <a:rPr lang="zh-TW" altLang="zh-TW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禁帶</a:t>
                </a:r>
                <a:r>
                  <a:rPr lang="zh-TW" altLang="zh-TW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。若在此區間強制給予擾動，能量將呈指數型衰減，死死困在震源附近，無法輻射傳遞。</a:t>
                </a: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endParaRPr lang="zh-TW" altLang="zh-TW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CA4949-4B43-02F1-68BA-0AFD04F33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399" y="1398625"/>
                <a:ext cx="6096000" cy="5781134"/>
              </a:xfrm>
              <a:prstGeom prst="rect">
                <a:avLst/>
              </a:prstGeom>
              <a:blipFill>
                <a:blip r:embed="rId3"/>
                <a:stretch>
                  <a:fillRect l="-800" t="-527" r="-23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70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D1D80-09F7-780A-8B58-A831CC47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03D76-B954-02C3-1C72-EEB766F0E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100B495-8B1B-170C-BA24-A67BEBE2B3A1}"/>
                  </a:ext>
                </a:extLst>
              </p:cNvPr>
              <p:cNvSpPr txBox="1"/>
              <p:nvPr/>
            </p:nvSpPr>
            <p:spPr>
              <a:xfrm>
                <a:off x="5994397" y="1398626"/>
                <a:ext cx="16487916" cy="18821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💡讀圖指南：赤道波的物理圖像</a:t>
                </a:r>
                <a:endParaRPr lang="zh-TW" altLang="zh-TW" sz="5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rtl="0">
                  <a:buNone/>
                </a:pP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1. 座標軸的物理意義</a:t>
                </a:r>
                <a:endParaRPr lang="zh-TW" altLang="zh-TW" sz="5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en-US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X</a:t>
                </a: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軸 (</a:t>
                </a:r>
                <a14:m>
                  <m:oMath xmlns:m="http://schemas.openxmlformats.org/officeDocument/2006/math">
                    <m:r>
                      <a:rPr lang="en-US" altLang="zh-TW" sz="54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)：</a:t>
                </a:r>
                <a:r>
                  <a:rPr lang="zh-TW" altLang="en-US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水平波數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。越向右</a:t>
                </a:r>
                <a:r>
                  <a:rPr lang="zh-TW" altLang="en-US" sz="5400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側</a:t>
                </a:r>
                <a:r>
                  <a:rPr lang="zh-TW" altLang="en-US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，代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表水平波長越短</a:t>
                </a:r>
                <a:r>
                  <a:rPr lang="zh-TW" altLang="en-US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  <a:endParaRPr lang="zh-TW" altLang="zh-TW" sz="5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5400" b="1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Y</a:t>
                </a: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軸 (</a:t>
                </a:r>
                <a14:m>
                  <m:oMath xmlns:m="http://schemas.openxmlformats.org/officeDocument/2006/math"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𝝎</m:t>
                    </m:r>
                  </m:oMath>
                </a14:m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)：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波動的震盪頻率。在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5400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pPr>
                      <m:e>
                        <m:r>
                          <a:rPr lang="en-US" altLang="zh-TW" sz="5400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𝑒</m:t>
                        </m:r>
                      </m:e>
                      <m:sup>
                        <m:r>
                          <a:rPr lang="zh-TW" altLang="zh-TW" sz="54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  <m:d>
                          <m:dPr>
                            <m:ctrlPr>
                              <a:rPr lang="zh-TW" altLang="zh-TW" sz="5400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</m:ctrlPr>
                          </m:dPr>
                          <m:e>
                            <m:r>
                              <a:rPr lang="zh-TW" altLang="zh-TW" sz="5400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𝑘𝑥</m:t>
                            </m:r>
                            <m:r>
                              <a:rPr lang="zh-TW" altLang="zh-TW" sz="5400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−</m:t>
                            </m:r>
                            <m:r>
                              <a:rPr lang="zh-TW" altLang="zh-TW" sz="5400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𝜔</m:t>
                            </m:r>
                            <m:r>
                              <a:rPr lang="zh-TW" altLang="zh-TW" sz="5400" i="1" smtClean="0">
                                <a:solidFill>
                                  <a:srgbClr val="1F1F1F"/>
                                </a:solidFill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慣例下，</a:t>
                </a:r>
                <a:r>
                  <a:rPr lang="en-US" altLang="zh-TW" sz="5400" b="1">
                    <a:solidFill>
                      <a:srgbClr val="1F1F1F"/>
                    </a:solidFill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𝝎</m:t>
                    </m:r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&gt;</m:t>
                    </m:r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𝟎</m:t>
                    </m:r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代表波動向東傳播，</a:t>
                </a:r>
                <a:r>
                  <a:rPr lang="en-US" altLang="zh-TW" sz="5400" b="1">
                    <a:solidFill>
                      <a:srgbClr val="1F1F1F"/>
                    </a:solidFill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𝝎</m:t>
                    </m:r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&lt;</m:t>
                    </m:r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𝟎</m:t>
                    </m:r>
                    <m:r>
                      <a:rPr lang="en-US" altLang="zh-TW" sz="5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代表向西傳播。</a:t>
                </a:r>
              </a:p>
              <a:p>
                <a:pPr rtl="0">
                  <a:buNone/>
                </a:pP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2. 離散的曲線（量子化條件）</a:t>
                </a:r>
                <a:endParaRPr lang="zh-TW" altLang="zh-TW" sz="5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赤道的</a:t>
                </a:r>
                <a14:m>
                  <m:oMath xmlns:m="http://schemas.openxmlformats.org/officeDocument/2006/math">
                    <m:r>
                      <a:rPr lang="en-US" altLang="zh-TW" sz="5400" b="0" i="0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zh-TW" altLang="zh-TW" sz="54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𝛽</m:t>
                    </m:r>
                    <m:r>
                      <a:rPr lang="en-US" altLang="zh-TW" sz="5400" b="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效應像是一個天然的</a:t>
                </a: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波導管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，將波動能量限制在低緯度。</a:t>
                </a: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為了讓擾動在遠離赤道時能自然消散（物理邊界條件），系統的南北向空間結構被迫</a:t>
                </a: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量子化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，形成離散的模態 </a:t>
                </a:r>
                <a14:m>
                  <m:oMath xmlns:m="http://schemas.openxmlformats.org/officeDocument/2006/math">
                    <m:r>
                      <a:rPr lang="en-US" altLang="zh-TW" sz="5400" i="1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(</m:t>
                    </m:r>
                    <m:r>
                      <a:rPr lang="zh-TW" altLang="zh-TW" sz="54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𝑛</m:t>
                    </m:r>
                    <m:r>
                      <a:rPr lang="zh-TW" altLang="zh-TW" sz="54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= −1, 0, 1, 2…)</m:t>
                    </m:r>
                  </m:oMath>
                </a14:m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。圖中的每一條線就代表一種固定南北向結構的自由行進波。</a:t>
                </a:r>
              </a:p>
              <a:p>
                <a:pPr rtl="0">
                  <a:buNone/>
                </a:pP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3. 群速度與能量傳遞</a:t>
                </a:r>
                <a:endParaRPr lang="zh-TW" altLang="zh-TW" sz="5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曲線上任意一點的</a:t>
                </a: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切線斜率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5400" b="0" i="0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f>
                      <m:fPr>
                        <m:ctrlPr>
                          <a:rPr lang="zh-TW" altLang="en-US" sz="54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Pr>
                      <m:num>
                        <m:r>
                          <a:rPr lang="zh-TW" altLang="en-US" sz="54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𝜕</m:t>
                        </m:r>
                        <m:r>
                          <a:rPr lang="en-US" altLang="zh-TW" sz="5400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𝜔</m:t>
                        </m:r>
                      </m:num>
                      <m:den>
                        <m:r>
                          <a:rPr lang="zh-TW" altLang="en-US" sz="54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𝜕</m:t>
                        </m:r>
                        <m:r>
                          <a:rPr lang="en-US" altLang="zh-TW" sz="5400" b="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𝑘</m:t>
                        </m:r>
                      </m:den>
                    </m:f>
                    <m:r>
                      <a:rPr lang="en-US" altLang="zh-TW" sz="5400" b="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)，精確等於該波動的</a:t>
                </a: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緯向群速度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。斜率越陡</a:t>
                </a:r>
                <a:r>
                  <a:rPr lang="zh-TW" altLang="en-US" sz="5400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表示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該波傳遞能量的速度越快。</a:t>
                </a:r>
              </a:p>
              <a:p>
                <a:pPr rtl="0">
                  <a:buNone/>
                </a:pP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4. 中間的空白處是什麼？（禁帶 Evanescent Zone）</a:t>
                </a:r>
                <a:endParaRPr lang="zh-TW" altLang="zh-TW" sz="5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高頻的慣性重力波與低頻的羅斯貝波之間，存在無法產生自由行進波的</a:t>
                </a:r>
                <a:r>
                  <a:rPr lang="zh-TW" altLang="zh-TW" sz="5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禁帶</a:t>
                </a:r>
                <a:r>
                  <a:rPr lang="zh-TW" altLang="zh-TW" sz="5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。若在此區間強制給予擾動，能量將呈指數型衰減，死死困在震源附近，無法輻射傳遞。</a:t>
                </a: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endParaRPr lang="zh-TW" altLang="zh-TW" sz="5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100B495-8B1B-170C-BA24-A67BEBE2B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397" y="1398626"/>
                <a:ext cx="16487916" cy="18821371"/>
              </a:xfrm>
              <a:prstGeom prst="rect">
                <a:avLst/>
              </a:prstGeom>
              <a:blipFill>
                <a:blip r:embed="rId2"/>
                <a:stretch>
                  <a:fillRect l="-1959" t="-972" r="-61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4815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528</Words>
  <Application>Microsoft Office PowerPoint</Application>
  <PresentationFormat>寬螢幕</PresentationFormat>
  <Paragraphs>22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標楷體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1</cp:revision>
  <dcterms:created xsi:type="dcterms:W3CDTF">2026-06-14T08:48:26Z</dcterms:created>
  <dcterms:modified xsi:type="dcterms:W3CDTF">2026-06-14T14:01:30Z</dcterms:modified>
</cp:coreProperties>
</file>